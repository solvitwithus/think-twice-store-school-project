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5" Type="http://schemas.openxmlformats.org/officeDocument/2006/relationships/tableStyles" Target="tableStyles.xml"/><Relationship Id="rId14" Type="http://schemas.openxmlformats.org/officeDocument/2006/relationships/viewProps" Target="viewProps.xml"/><Relationship Id="rId13" Type="http://schemas.openxmlformats.org/officeDocument/2006/relationships/presProps" Target="presProps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914400"/>
            <a:ext cx="9994392" cy="4754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914400"/>
            <a:ext cx="109728" cy="4754880"/>
          </a:xfrm>
          <a:prstGeom prst="rect">
            <a:avLst/>
          </a:prstGeom>
          <a:solidFill>
            <a:srgbClr val="00C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1188720"/>
            <a:ext cx="9418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00995E"/>
                </a:solidFill>
              </a:rPr>
              <a:t>THRIFT STORE MANAGEMENT SYSTEM</a:t>
            </a:r>
            <a:endParaRPr sz="3000" b="1" i="0">
              <a:solidFill>
                <a:srgbClr val="00995E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1965960"/>
            <a:ext cx="9418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1A2330"/>
                </a:solidFill>
              </a:rPr>
              <a:t>A Case of Think Twice Stores</a:t>
            </a:r>
            <a:endParaRPr sz="2000" b="0" i="1">
              <a:solidFill>
                <a:srgbClr val="1A233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3200400" y="2560320"/>
            <a:ext cx="5788152" cy="36576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697480"/>
            <a:ext cx="9418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A2330"/>
                </a:solidFill>
              </a:rPr>
              <a:t>Kamiru John Mwangi  |  CIT-221-108/2022</a:t>
            </a:r>
            <a:endParaRPr sz="1500" b="1" i="0">
              <a:solidFill>
                <a:srgbClr val="1A2330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463040" y="31546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685"/>
                </a:solidFill>
              </a:rPr>
              <a:t>Supervisor:  Dr. Nicodemus Aketch Ishmael</a:t>
            </a:r>
            <a:endParaRPr sz="1300" b="0" i="0">
              <a:solidFill>
                <a:srgbClr val="6B7685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3566160"/>
            <a:ext cx="9418320" cy="2914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6B7685"/>
                </a:solidFill>
              </a:rPr>
              <a:t>Multimedia University of Kenya  |  </a:t>
            </a:r>
            <a:r>
              <a:rPr lang="en-US" sz="1300" b="0" i="0">
                <a:solidFill>
                  <a:srgbClr val="6B7685"/>
                </a:solidFill>
              </a:rPr>
              <a:t>JULY </a:t>
            </a:r>
            <a:r>
              <a:rPr sz="1300" b="0" i="0">
                <a:solidFill>
                  <a:srgbClr val="6B7685"/>
                </a:solidFill>
              </a:rPr>
              <a:t>2026</a:t>
            </a:r>
            <a:endParaRPr sz="1300" b="0" i="0">
              <a:solidFill>
                <a:srgbClr val="6B7685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63040" y="40233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685"/>
                </a:solidFill>
              </a:rPr>
              <a:t>Bachelor of Science in Information Technology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0" y="6446520"/>
            <a:ext cx="121889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Defence Presentation  •  10 Minutes</a:t>
            </a:r>
            <a:endParaRPr sz="1200" b="0" i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99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Presentation Overview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 sz="1400" b="0" i="0">
              <a:solidFill>
                <a:srgbClr val="CCFFE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2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173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463040" y="14447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Background &amp; Problem Statement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400800" y="14447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Why this system was needed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" y="201168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463040" y="203911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Research Objectives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00800" y="20391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What the study set out to achieve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57200" y="260604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60604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463040" y="263347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System Architecture &amp; Tech Stack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800" y="26334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How the system was built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457200" y="320040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20040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463040" y="322783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Key Modules &amp; Features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00800" y="3227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What the system does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57200" y="379476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79476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463040" y="382219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Database Design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400800" y="38221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How data is structured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438912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38912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463040" y="441655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Testing &amp; Validation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00800" y="44165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How quality was assured</a:t>
            </a:r>
            <a:endParaRPr sz="1200" b="0" i="0">
              <a:solidFill>
                <a:srgbClr val="6B7685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57200" y="4983480"/>
            <a:ext cx="822960" cy="4572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983480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  <a:endParaRPr sz="1600" b="1" i="0">
              <a:solidFill>
                <a:srgbClr val="FFFFFF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463040" y="5010912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330"/>
                </a:solidFill>
              </a:rPr>
              <a:t>Conclusion &amp; Recommendations</a:t>
            </a:r>
            <a:endParaRPr sz="1400" b="1" i="0">
              <a:solidFill>
                <a:srgbClr val="1A2330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400800" y="50109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6B7685"/>
                </a:solidFill>
              </a:rPr>
              <a:t>Outcomes and the road ahead</a:t>
            </a:r>
            <a:endParaRPr sz="12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Background &amp; Problem Statement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3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03520" cy="493776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995E"/>
                </a:solidFill>
              </a:rPr>
              <a:t>Think Twice Stores</a:t>
            </a:r>
            <a:endParaRPr sz="1500" b="1" i="0">
              <a:solidFill>
                <a:srgbClr val="00995E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02920" y="1920240"/>
            <a:ext cx="5029200" cy="11220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</a:t>
            </a:r>
            <a:r>
              <a:rPr lang="en-US" sz="1300">
                <a:solidFill>
                  <a:srgbClr val="1A2330"/>
                </a:solidFill>
              </a:rPr>
              <a:t>2</a:t>
            </a:r>
            <a:r>
              <a:rPr sz="1300">
                <a:solidFill>
                  <a:srgbClr val="1A2330"/>
                </a:solidFill>
              </a:rPr>
              <a:t>0+ branches across Kenya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Hundreds of customers daily per branch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Kenya's growing mitumba (second-hand) sector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Resale market growing 8× faster than traditional retail</a:t>
            </a:r>
            <a:endParaRPr sz="1300">
              <a:solidFill>
                <a:srgbClr val="1A233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02920" y="3794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07B00"/>
                </a:solidFill>
              </a:rPr>
              <a:t>Operational Challenges</a:t>
            </a:r>
            <a:endParaRPr sz="1400" b="1" i="0">
              <a:solidFill>
                <a:srgbClr val="E07B00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02920" y="41605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884400"/>
                </a:solidFill>
              </a:rPr>
              <a:t>▸  Manual handwritten records &amp; spreadsheets</a:t>
            </a:r>
            <a:endParaRPr sz="1200">
              <a:solidFill>
                <a:srgbClr val="88440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884400"/>
                </a:solidFill>
              </a:rPr>
              <a:t>▸  Semi-automated operations at scale</a:t>
            </a:r>
            <a:endParaRPr sz="1200">
              <a:solidFill>
                <a:srgbClr val="88440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884400"/>
                </a:solidFill>
              </a:rPr>
              <a:t>▸  No real-time stock visibility</a:t>
            </a:r>
            <a:endParaRPr sz="1200">
              <a:solidFill>
                <a:srgbClr val="884400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26480" y="1371600"/>
            <a:ext cx="5760720" cy="4937760"/>
          </a:xfrm>
          <a:prstGeom prst="rect">
            <a:avLst/>
          </a:prstGeom>
          <a:solidFill>
            <a:srgbClr val="FFF3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463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7B00"/>
                </a:solidFill>
              </a:rPr>
              <a:t>Key Pain Points</a:t>
            </a:r>
            <a:endParaRPr sz="1500" b="1" i="0">
              <a:solidFill>
                <a:srgbClr val="E07B00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263640" y="1920240"/>
            <a:ext cx="457200" cy="41148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📦</a:t>
            </a:r>
            <a:endParaRPr sz="1400" b="0" i="0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812280" y="19202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0"/>
                </a:solidFill>
              </a:rPr>
              <a:t>Inventory Inaccuracy</a:t>
            </a:r>
            <a:endParaRPr sz="1200" b="1" i="0">
              <a:solidFill>
                <a:srgbClr val="1A2330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812280" y="2121408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Stock records outdated within hours of sale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263640" y="2761488"/>
            <a:ext cx="457200" cy="41148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7614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💰</a:t>
            </a:r>
            <a:endParaRPr sz="1400" b="0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812280" y="276148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0"/>
                </a:solidFill>
              </a:rPr>
              <a:t>Pricing Cycle Chaos</a:t>
            </a:r>
            <a:endParaRPr sz="1200" b="1" i="0">
              <a:solidFill>
                <a:srgbClr val="1A2330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812280" y="2962656"/>
            <a:ext cx="4846320" cy="245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2-week cycle (Ksh </a:t>
            </a:r>
            <a:r>
              <a:rPr lang="en-US" sz="1000" b="0" i="0">
                <a:solidFill>
                  <a:srgbClr val="6B7685"/>
                </a:solidFill>
              </a:rPr>
              <a:t>5</a:t>
            </a:r>
            <a:r>
              <a:rPr sz="1000" b="0" i="0">
                <a:solidFill>
                  <a:srgbClr val="6B7685"/>
                </a:solidFill>
              </a:rPr>
              <a:t>00→</a:t>
            </a:r>
            <a:r>
              <a:rPr lang="en-US" sz="1000" b="0" i="0">
                <a:solidFill>
                  <a:srgbClr val="6B7685"/>
                </a:solidFill>
              </a:rPr>
              <a:t>5</a:t>
            </a:r>
            <a:r>
              <a:rPr sz="1000" b="0" i="0">
                <a:solidFill>
                  <a:srgbClr val="6B7685"/>
                </a:solidFill>
              </a:rPr>
              <a:t>0) hard to track manually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6263640" y="3602736"/>
            <a:ext cx="457200" cy="41148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6027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📊</a:t>
            </a:r>
            <a:endParaRPr sz="1400" b="0" i="0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812280" y="3602736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0"/>
                </a:solidFill>
              </a:rPr>
              <a:t>Delayed Reporting</a:t>
            </a:r>
            <a:endParaRPr sz="1200" b="1" i="0">
              <a:solidFill>
                <a:srgbClr val="1A2330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812280" y="3803904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End-of-shift manual compilation; data unreliable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63640" y="4443984"/>
            <a:ext cx="457200" cy="41148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63640" y="44439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👤</a:t>
            </a:r>
            <a:endParaRPr sz="1400" b="0" i="0">
              <a:solidFill>
                <a:srgbClr val="FFFFF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812280" y="4443984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0"/>
                </a:solidFill>
              </a:rPr>
              <a:t>No Accountability</a:t>
            </a:r>
            <a:endParaRPr sz="1200" b="1" i="0">
              <a:solidFill>
                <a:srgbClr val="1A2330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812280" y="4645152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No audit trails; losses undetected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263640" y="5285232"/>
            <a:ext cx="457200" cy="41148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52852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</a:rPr>
              <a:t>⏱</a:t>
            </a:r>
            <a:endParaRPr sz="1400" b="0" i="0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6812280" y="5285232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330"/>
                </a:solidFill>
              </a:rPr>
              <a:t>Slow Transactions</a:t>
            </a:r>
            <a:endParaRPr sz="1200" b="1" i="0">
              <a:solidFill>
                <a:srgbClr val="1A2330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812280" y="54864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Peak-hour bottlenecks frustrate customers</a:t>
            </a:r>
            <a:endParaRPr sz="10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Objectives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FFE8"/>
                </a:solidFill>
              </a:rPr>
              <a:t>What this study set out to achieve</a:t>
            </a:r>
            <a:endParaRPr sz="1400" b="0" i="0">
              <a:solidFill>
                <a:srgbClr val="CCFFE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4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995E"/>
                </a:solidFill>
              </a:rPr>
              <a:t>General Objective</a:t>
            </a:r>
            <a:endParaRPr sz="1500" b="1" i="0">
              <a:solidFill>
                <a:srgbClr val="00995E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78308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330"/>
                </a:solidFill>
              </a:rPr>
              <a:t>To design and develop a comprehensive computerised Thrift Store Management System for Think Twice Stores that transforms manual processes into a fully integrated digital solution.</a:t>
            </a:r>
            <a:endParaRPr sz="1300" b="0" i="0">
              <a:solidFill>
                <a:srgbClr val="1A233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995E"/>
                </a:solidFill>
              </a:rPr>
              <a:t>Specific Objectives</a:t>
            </a:r>
            <a:endParaRPr sz="1500" b="1" i="0">
              <a:solidFill>
                <a:srgbClr val="00995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91440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926080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SO1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08760" y="29260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0"/>
                </a:solidFill>
              </a:rPr>
              <a:t>Inventory Module</a:t>
            </a:r>
            <a:endParaRPr sz="1300" b="1" i="0">
              <a:solidFill>
                <a:srgbClr val="1A2330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08760" y="3172968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685"/>
                </a:solidFill>
              </a:rPr>
              <a:t>Develop a robust inventory management module to track stock levels, item categories, dynamic pricing cycles, and restocking requirements in real time.</a:t>
            </a:r>
            <a:endParaRPr sz="1100" b="0" i="0">
              <a:solidFill>
                <a:srgbClr val="6B7685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457200" y="3730752"/>
            <a:ext cx="91440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730752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SO2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508760" y="37307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0"/>
                </a:solidFill>
              </a:rPr>
              <a:t>Point of Sale System</a:t>
            </a:r>
            <a:endParaRPr sz="1300" b="1" i="0">
              <a:solidFill>
                <a:srgbClr val="1A2330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08760" y="3977639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685"/>
                </a:solidFill>
              </a:rPr>
              <a:t>Design and implement a POS system that supports seamless sales transactions with real-time inventory synchronisation and receipt generation.</a:t>
            </a:r>
            <a:endParaRPr sz="1100" b="0" i="0">
              <a:solidFill>
                <a:srgbClr val="6B7685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457200" y="4535424"/>
            <a:ext cx="91440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35424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SO3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508760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0"/>
                </a:solidFill>
              </a:rPr>
              <a:t>M-Pesa Integration</a:t>
            </a:r>
            <a:endParaRPr sz="1300" b="1" i="0">
              <a:solidFill>
                <a:srgbClr val="1A2330"/>
              </a:solidFill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508760" y="4782312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685"/>
                </a:solidFill>
              </a:rPr>
              <a:t>Integrate M-Pesa Customer-to-Business payment functionality via the Safaricom Daraja API to enable cashless, automated payment reconciliation.</a:t>
            </a:r>
            <a:endParaRPr sz="1100" b="0" i="0">
              <a:solidFill>
                <a:srgbClr val="6B7685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57200" y="5340096"/>
            <a:ext cx="91440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340096"/>
            <a:ext cx="914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SO4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508760" y="534009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330"/>
                </a:solidFill>
              </a:rPr>
              <a:t>User &amp; Audit Management</a:t>
            </a:r>
            <a:endParaRPr sz="1300" b="1" i="0">
              <a:solidFill>
                <a:srgbClr val="1A2330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508760" y="5586983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7685"/>
                </a:solidFill>
              </a:rPr>
              <a:t>Implement secure role-based access control with comprehensive audit trails to ensure accountability and controlled system access.</a:t>
            </a:r>
            <a:endParaRPr sz="11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Architecture &amp; Technology Stack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5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3474720" cy="5486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PRESENTATION LAYER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1920240"/>
            <a:ext cx="347472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920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HTML5  •  Vanilla JavaScript  •  CSS3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57200" y="2423160"/>
            <a:ext cx="34747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87168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0"/>
                </a:solidFill>
              </a:rPr>
              <a:t>Responsive web interface
Role-aware navigation
Real-time UI updates</a:t>
            </a:r>
            <a:endParaRPr sz="1100" b="0" i="0">
              <a:solidFill>
                <a:srgbClr val="1A2330"/>
              </a:solidFill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23360" y="1737360"/>
            <a:ext cx="320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995E"/>
                </a:solidFill>
              </a:rPr>
              <a:t>⬇</a:t>
            </a:r>
            <a:endParaRPr sz="2200" b="0" i="0">
              <a:solidFill>
                <a:srgbClr val="00995E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4389120" y="1371600"/>
            <a:ext cx="3474720" cy="5486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3716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APPLICATION LAYER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4389120" y="1920240"/>
            <a:ext cx="347472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1920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PHP 8.2  •  Apache  •  XAMPP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389120" y="2423160"/>
            <a:ext cx="34747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26280" y="2487168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0"/>
                </a:solidFill>
              </a:rPr>
              <a:t>Business logic &amp; routing
M-Pesa Daraja API calls
Session-based RBAC</a:t>
            </a:r>
            <a:endParaRPr sz="1100" b="0" i="0">
              <a:solidFill>
                <a:srgbClr val="1A2330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955279" y="1737360"/>
            <a:ext cx="320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00995E"/>
                </a:solidFill>
              </a:rPr>
              <a:t>⬇</a:t>
            </a:r>
            <a:endParaRPr sz="2200" b="0" i="0">
              <a:solidFill>
                <a:srgbClr val="00995E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8321040" y="1371600"/>
            <a:ext cx="3474720" cy="548640"/>
          </a:xfrm>
          <a:prstGeom prst="rect">
            <a:avLst/>
          </a:prstGeom>
          <a:solidFill>
            <a:srgbClr val="00C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21040" y="137160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DATA LAYER</a:t>
            </a:r>
            <a:endParaRPr sz="1300" b="1" i="0">
              <a:solidFill>
                <a:srgbClr val="FFFFFF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8321040" y="1920240"/>
            <a:ext cx="3474720" cy="50292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19202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MySQL 8.0  •  PDO  •  Prepared Statements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8321040" y="2423160"/>
            <a:ext cx="3474720" cy="1371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487168"/>
            <a:ext cx="3200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330"/>
                </a:solidFill>
              </a:rPr>
              <a:t>15+ normalized tables
ACID-compliant transactions
Audit log persistence</a:t>
            </a:r>
            <a:endParaRPr sz="1100" b="0" i="0">
              <a:solidFill>
                <a:srgbClr val="1A2330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External Integration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4343400"/>
            <a:ext cx="3566160" cy="457200"/>
          </a:xfrm>
          <a:prstGeom prst="rect">
            <a:avLst/>
          </a:prstGeom>
          <a:solidFill>
            <a:srgbClr val="F0F4F8"/>
          </a:solidFill>
          <a:ln w="19050">
            <a:solidFill>
              <a:srgbClr val="0099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361688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995E"/>
                </a:solidFill>
              </a:rPr>
              <a:t>Safaricom Daraja API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48640" y="4572000"/>
            <a:ext cx="3383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7685"/>
                </a:solidFill>
              </a:rPr>
              <a:t>M-Pesa C2B STK Push &amp; callback processing</a:t>
            </a:r>
            <a:endParaRPr sz="10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System Modules &amp; Features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6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274320" y="1371600"/>
            <a:ext cx="356616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📊  Dashboard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274320" y="187451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79" y="193852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Live KPI cards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Low-stock alerts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Revenue at a glance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3566160" cy="50292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371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📦  Inventory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06240" y="187451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193852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Item catalogue &amp; SKUs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Barcode management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Stock movement log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8138160" y="1371600"/>
            <a:ext cx="3566160" cy="502920"/>
          </a:xfrm>
          <a:prstGeom prst="rect">
            <a:avLst/>
          </a:prstGeom>
          <a:solidFill>
            <a:srgbClr val="00C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0" y="1371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🛒  Point of Sale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8138160" y="187451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93852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Barcode / search checkout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M-Pesa STK Push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Real-time stock deduction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274320" y="3749039"/>
            <a:ext cx="3566160" cy="50292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37490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🔄  Price Cycles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274320" y="425195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79" y="4315968"/>
            <a:ext cx="3291840" cy="798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Daily reduction engine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Ksh </a:t>
            </a:r>
            <a:r>
              <a:rPr lang="en-US" sz="1200">
                <a:solidFill>
                  <a:srgbClr val="1A2330"/>
                </a:solidFill>
              </a:rPr>
              <a:t>5</a:t>
            </a:r>
            <a:r>
              <a:rPr sz="1200">
                <a:solidFill>
                  <a:srgbClr val="1A2330"/>
                </a:solidFill>
              </a:rPr>
              <a:t>00 → Ksh </a:t>
            </a:r>
            <a:r>
              <a:rPr lang="en-US" sz="1200">
                <a:solidFill>
                  <a:srgbClr val="1A2330"/>
                </a:solidFill>
              </a:rPr>
              <a:t>5</a:t>
            </a:r>
            <a:r>
              <a:rPr sz="1200">
                <a:solidFill>
                  <a:srgbClr val="1A2330"/>
                </a:solidFill>
              </a:rPr>
              <a:t>0 over 14 days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Per-item or per-category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206240" y="3749039"/>
            <a:ext cx="3566160" cy="50292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97679" y="37490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📋  Reports (10 types)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4206240" y="425195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43400" y="43159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Sales, Stock Movements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Suppliers, Users, Items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Printable + filterable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8138160" y="3749039"/>
            <a:ext cx="3566160" cy="50292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3749039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🔐  Admin &amp; Audit</a:t>
            </a:r>
            <a:endParaRPr sz="1400" b="1" i="0">
              <a:solidFill>
                <a:srgbClr val="FFFFFF"/>
              </a:solidFill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138160" y="4251959"/>
            <a:ext cx="3566160" cy="1645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75320" y="4315968"/>
            <a:ext cx="32918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Role-Based Access Control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Full audit trail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• User &amp; permission mgmt</a:t>
            </a:r>
            <a:endParaRPr sz="1200">
              <a:solidFill>
                <a:srgbClr val="1A2330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Dynamic Two-Week Pricing Cycle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FFE8"/>
                </a:solidFill>
              </a:rPr>
              <a:t>One of Think Twice's unique operational requirements</a:t>
            </a:r>
            <a:endParaRPr sz="1400" b="0" i="0">
              <a:solidFill>
                <a:srgbClr val="CCFFE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7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How it works: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5577840" cy="1799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New stock arrives and is tagged at maximum price (e.g. Ksh 400)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Each day the item price reduces by a fixed daily amount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After 14 days the item hits the clearance floor (~Ksh </a:t>
            </a:r>
            <a:r>
              <a:rPr lang="en-US" sz="1300">
                <a:solidFill>
                  <a:srgbClr val="1A2330"/>
                </a:solidFill>
              </a:rPr>
              <a:t>5</a:t>
            </a:r>
            <a:r>
              <a:rPr sz="1300">
                <a:solidFill>
                  <a:srgbClr val="1A2330"/>
                </a:solidFill>
              </a:rPr>
              <a:t>0)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Unsold clearance items are bundled or donated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System computes current price automatically — no manual updates</a:t>
            </a:r>
            <a:endParaRPr sz="1300">
              <a:solidFill>
                <a:srgbClr val="1A233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4348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System implementation: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4818888"/>
            <a:ext cx="5577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price_cycles table: base_price, daily_reduction, cycle_days, cycle_start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PHP computes: current_price = base_price − (days_elapsed × daily_reduction)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Price Cycles report shows progress bar &amp; days remaining per item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POS reads computed price — never a stale manual figure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00800" y="13716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995E"/>
                </a:solidFill>
              </a:rPr>
              <a:t>Price Decay Illustration (14-day cycle)</a:t>
            </a:r>
            <a:endParaRPr sz="1300" b="1" i="0">
              <a:solidFill>
                <a:srgbClr val="00995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583680" y="2011680"/>
            <a:ext cx="457200" cy="41148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1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583680" y="17556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2330"/>
                </a:solidFill>
              </a:rPr>
              <a:t>400</a:t>
            </a:r>
            <a:endParaRPr sz="800" b="1" i="0">
              <a:solidFill>
                <a:srgbClr val="1A233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205472" y="2310003"/>
            <a:ext cx="457200" cy="3816477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05472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2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205472" y="2053970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400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827264" y="2896362"/>
            <a:ext cx="457200" cy="323011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27264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4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827264" y="2640330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350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449056" y="3482721"/>
            <a:ext cx="457200" cy="2643759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49056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6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9056" y="3226689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300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9070848" y="4069080"/>
            <a:ext cx="457200" cy="2057400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70848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8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070848" y="3813048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1A2330"/>
                </a:solidFill>
              </a:rPr>
              <a:t>200</a:t>
            </a:r>
            <a:endParaRPr sz="800" b="1" i="0">
              <a:solidFill>
                <a:srgbClr val="1A2330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692640" y="4655439"/>
            <a:ext cx="457200" cy="1471041"/>
          </a:xfrm>
          <a:prstGeom prst="rect">
            <a:avLst/>
          </a:prstGeom>
          <a:solidFill>
            <a:srgbClr val="E07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92640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10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692640" y="4399407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150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10314432" y="5241798"/>
            <a:ext cx="457200" cy="884682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314432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12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0314432" y="4985766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100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10936224" y="5817870"/>
            <a:ext cx="457200" cy="308609"/>
          </a:xfrm>
          <a:prstGeom prst="rect">
            <a:avLst/>
          </a:prstGeom>
          <a:solidFill>
            <a:srgbClr val="D930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936224" y="617220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6B7685"/>
                </a:solidFill>
              </a:rPr>
              <a:t>Day
14</a:t>
            </a:r>
            <a:endParaRPr sz="800" b="0" i="0">
              <a:solidFill>
                <a:srgbClr val="6B7685"/>
              </a:solidFill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0936224" y="5561838"/>
            <a:ext cx="457200" cy="213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b="1" i="0">
                <a:solidFill>
                  <a:srgbClr val="1A2330"/>
                </a:solidFill>
              </a:rPr>
              <a:t>50</a:t>
            </a:r>
            <a:endParaRPr lang="en-US" sz="800" b="1" i="0">
              <a:solidFill>
                <a:srgbClr val="1A2330"/>
              </a:solidFill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217920" y="192024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KES</a:t>
            </a:r>
            <a:endParaRPr sz="9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Database Design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6858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FFE8"/>
                </a:solidFill>
              </a:rPr>
              <a:t>MySQL 8.0  •  15+ Normalized Tables  •  ACID Compliant</a:t>
            </a:r>
            <a:endParaRPr sz="1400" b="0" i="0">
              <a:solidFill>
                <a:srgbClr val="CCFFE8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8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5760" y="138988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Core Entities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365760" y="1783080"/>
            <a:ext cx="1737360" cy="3200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4048" y="1783080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users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48840" y="1810512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name, username, email, role_id, created_at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365760" y="2167128"/>
            <a:ext cx="1737360" cy="3200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2167128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roles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148840" y="21945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name, permissions (JSON)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365760" y="2551176"/>
            <a:ext cx="1737360" cy="3200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4048" y="2551176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items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148840" y="2578608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sku_code, item_name, barcode, buying_price, selling_price, min_stock, status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65760" y="2935224"/>
            <a:ext cx="1737360" cy="3200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8" y="2935224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price_cycles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148840" y="2962656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item_id, base_price, daily_reduction, cycle_days, cycle_start, is_active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65760" y="3319272"/>
            <a:ext cx="1737360" cy="3200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4048" y="3319272"/>
            <a:ext cx="1700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transactions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148840" y="3346703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total_amount, payment_method, cashier_id, created_at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6400800" y="1783080"/>
            <a:ext cx="1920240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1783080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transaction_items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366760" y="1810512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transaction_id, item_id, quantity, price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400800" y="2167128"/>
            <a:ext cx="1920240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2167128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mpesa_transactions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8366760" y="2194560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mpesa_receipt, phone, amount, result_code, matched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00800" y="2551176"/>
            <a:ext cx="1920240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19088" y="2551176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suppliers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366760" y="2578608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company_name, contact_name, phone, email, city, country, status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6400800" y="2935224"/>
            <a:ext cx="1920240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2935224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stock_movements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366760" y="2962656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item_id, type (IN/OUT/ADJUSTMENT), quantity, reference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6400800" y="3319272"/>
            <a:ext cx="1920240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19088" y="3319272"/>
            <a:ext cx="188366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audit_log</a:t>
            </a:r>
            <a:endParaRPr sz="1000" b="1" i="0">
              <a:solidFill>
                <a:srgbClr val="FFFFFF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8366760" y="3346703"/>
            <a:ext cx="3611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685"/>
                </a:solidFill>
              </a:rPr>
              <a:t>id, user_id, action, table_name, record_id, changed_at</a:t>
            </a:r>
            <a:endParaRPr sz="900" b="0" i="0">
              <a:solidFill>
                <a:srgbClr val="6B7685"/>
              </a:solidFill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65760" y="3749039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Design Principles Applied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" y="4133087"/>
            <a:ext cx="2697480" cy="347472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" y="4133087"/>
            <a:ext cx="2551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3NF Normalisation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8912" y="4498848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0"/>
                </a:solidFill>
              </a:rPr>
              <a:t>All tables normalised to Third Normal Form; no redundant data</a:t>
            </a:r>
            <a:endParaRPr sz="1000" b="0" i="0">
              <a:solidFill>
                <a:srgbClr val="1A2330"/>
              </a:solidFill>
            </a:endParaRPr>
          </a:p>
        </p:txBody>
      </p:sp>
      <p:sp>
        <p:nvSpPr>
          <p:cNvPr id="44" name="Rectangle 43"/>
          <p:cNvSpPr/>
          <p:nvPr/>
        </p:nvSpPr>
        <p:spPr>
          <a:xfrm>
            <a:off x="3310128" y="4133087"/>
            <a:ext cx="2697480" cy="347472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4133087"/>
            <a:ext cx="2551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Referential Integrity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3383280" y="4498848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0"/>
                </a:solidFill>
              </a:rPr>
              <a:t>Foreign key constraints enforced across all relationships</a:t>
            </a:r>
            <a:endParaRPr sz="1000" b="0" i="0">
              <a:solidFill>
                <a:srgbClr val="1A2330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6254496" y="4133087"/>
            <a:ext cx="2697480" cy="347472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27648" y="4133087"/>
            <a:ext cx="2551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ACID Transactions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6327648" y="4498848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0"/>
                </a:solidFill>
              </a:rPr>
              <a:t>MySQL InnoDB engine ensures atomicity on every sale/stock update</a:t>
            </a:r>
            <a:endParaRPr sz="1000" b="0" i="0">
              <a:solidFill>
                <a:srgbClr val="1A2330"/>
              </a:solidFill>
            </a:endParaRPr>
          </a:p>
        </p:txBody>
      </p:sp>
      <p:sp>
        <p:nvSpPr>
          <p:cNvPr id="50" name="Rectangle 49"/>
          <p:cNvSpPr/>
          <p:nvPr/>
        </p:nvSpPr>
        <p:spPr>
          <a:xfrm>
            <a:off x="9198864" y="4133087"/>
            <a:ext cx="2697480" cy="347472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272016" y="4133087"/>
            <a:ext cx="255117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Prepared Statements</a:t>
            </a:r>
            <a:endParaRPr sz="1100" b="1" i="0">
              <a:solidFill>
                <a:srgbClr val="FFFFFF"/>
              </a:solidFill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272016" y="4498848"/>
            <a:ext cx="25511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330"/>
                </a:solidFill>
              </a:rPr>
              <a:t>All queries use PDO prepared statements — SQL injection prevented</a:t>
            </a:r>
            <a:endParaRPr sz="1000" b="0" i="0">
              <a:solidFill>
                <a:srgbClr val="1A233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System Testing &amp; Validation Results</a:t>
            </a:r>
            <a:endParaRPr sz="2800" b="1" i="0">
              <a:solidFill>
                <a:srgbClr val="FFFFFF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0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547104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Think Twice Stores — Thrift Store Management System</a:t>
            </a:r>
            <a:endParaRPr sz="1000" b="0" i="0">
              <a:solidFill>
                <a:srgbClr val="FFFFFF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B7685"/>
                </a:solidFill>
              </a:rPr>
              <a:t>9 / 10</a:t>
            </a:r>
            <a:endParaRPr sz="1000" b="0" i="0">
              <a:solidFill>
                <a:srgbClr val="6B7685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57200" y="1389888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Testing Approach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457200" y="1783080"/>
            <a:ext cx="2286000" cy="38404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8308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Unit Testing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2834640" y="183794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0"/>
                </a:solidFill>
              </a:rPr>
              <a:t>Individual functions tested in isolation</a:t>
            </a:r>
            <a:endParaRPr sz="1200" b="0" i="0">
              <a:solidFill>
                <a:srgbClr val="1A233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875520" y="1783080"/>
            <a:ext cx="16459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0" y="178308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✓ Passed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2286000" cy="38404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28600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Integration Testing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834640" y="234086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0"/>
                </a:solidFill>
              </a:rPr>
              <a:t>Module interactions verified end-to-end</a:t>
            </a:r>
            <a:endParaRPr sz="1200" b="0" i="0">
              <a:solidFill>
                <a:srgbClr val="1A2330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9875520" y="2286000"/>
            <a:ext cx="16459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0" y="228600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✓ Passed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57200" y="2788920"/>
            <a:ext cx="2286000" cy="38404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788920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User Acceptance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834640" y="2843784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0"/>
                </a:solidFill>
              </a:rPr>
              <a:t>Staff &amp; management tested real-world scenarios</a:t>
            </a:r>
            <a:endParaRPr sz="1200" b="0" i="0">
              <a:solidFill>
                <a:srgbClr val="1A2330"/>
              </a:solidFill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9875520" y="2788920"/>
            <a:ext cx="16459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0" y="27889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✓ Passed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457200" y="3291839"/>
            <a:ext cx="2286000" cy="38404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29183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Security Testing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834640" y="334670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0"/>
                </a:solidFill>
              </a:rPr>
              <a:t>RBAC, SQL injection, session hijacking checks</a:t>
            </a:r>
            <a:endParaRPr sz="1200" b="0" i="0">
              <a:solidFill>
                <a:srgbClr val="1A2330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9875520" y="3291839"/>
            <a:ext cx="16459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75520" y="329183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✓ Passed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457200" y="3794759"/>
            <a:ext cx="2286000" cy="384048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794759"/>
            <a:ext cx="2194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Performance Testing</a:t>
            </a:r>
            <a:endParaRPr sz="1200" b="1" i="0">
              <a:solidFill>
                <a:srgbClr val="FFFFFF"/>
              </a:solidFill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834640" y="3849623"/>
            <a:ext cx="6858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330"/>
                </a:solidFill>
              </a:rPr>
              <a:t>Concurrent users, large inventory load tested</a:t>
            </a:r>
            <a:endParaRPr sz="1200" b="0" i="0">
              <a:solidFill>
                <a:srgbClr val="1A2330"/>
              </a:solidFill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9875520" y="3794759"/>
            <a:ext cx="1645920" cy="384048"/>
          </a:xfrm>
          <a:prstGeom prst="rect">
            <a:avLst/>
          </a:prstGeom>
          <a:solidFill>
            <a:srgbClr val="E8F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75520" y="3794759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995E"/>
                </a:solidFill>
              </a:rPr>
              <a:t>✓ Passed</a:t>
            </a:r>
            <a:endParaRPr sz="1200" b="1" i="0">
              <a:solidFill>
                <a:srgbClr val="00995E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57200" y="4434840"/>
            <a:ext cx="11247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Key Validated Outcomes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57200" y="4818888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Inventory stock deducted instantly on every POS transaction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M-Pesa STK Push sent correctly; callback matched to transaction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Dynamic price computed correctly for all cycle configurations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Role permissions enforced — cashier cannot access admin panel</a:t>
            </a:r>
            <a:endParaRPr sz="13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300">
                <a:solidFill>
                  <a:srgbClr val="1A2330"/>
                </a:solidFill>
              </a:rPr>
              <a:t>▸  All 10 report pages render accurate data with filter/print support</a:t>
            </a:r>
            <a:endParaRPr sz="1300">
              <a:solidFill>
                <a:srgbClr val="1A2330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1274552" cy="5074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09728" cy="5074920"/>
          </a:xfrm>
          <a:prstGeom prst="rect">
            <a:avLst/>
          </a:prstGeom>
          <a:solidFill>
            <a:srgbClr val="00C2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995E"/>
                </a:solidFill>
              </a:rPr>
              <a:t>Conclusion &amp; Recommendations</a:t>
            </a:r>
            <a:endParaRPr sz="2400" b="1" i="0">
              <a:solidFill>
                <a:srgbClr val="00995E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Achievements</a:t>
            </a:r>
            <a:endParaRPr sz="1400" b="1" i="0">
              <a:solidFill>
                <a:srgbClr val="00995E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31520" y="2212848"/>
            <a:ext cx="5212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Fully functional TSMS deployed on LAMP stack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Real-time POS with M-Pesa Daraja integration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Dynamic two-week pricing cycle automated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RBAC with audit trails for full accountability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10 operational reports covering all business areas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21208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995E"/>
                </a:solidFill>
              </a:rPr>
              <a:t>Recommendations</a:t>
            </a:r>
            <a:r>
              <a:rPr lang="en-US" sz="1400" b="1" i="0">
                <a:solidFill>
                  <a:srgbClr val="00995E"/>
                </a:solidFill>
              </a:rPr>
              <a:t> for the future</a:t>
            </a:r>
            <a:endParaRPr lang="en-US" sz="1400" b="1" i="0">
              <a:solidFill>
                <a:srgbClr val="00995E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2212848"/>
            <a:ext cx="5212080" cy="132207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Roll out to all branches with centralised DB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Develop a native mobile app for </a:t>
            </a:r>
            <a:r>
              <a:rPr lang="en-US" sz="1200">
                <a:solidFill>
                  <a:srgbClr val="1A2330"/>
                </a:solidFill>
              </a:rPr>
              <a:t>stock take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Add predictive restocking using sales analytics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Integrate KRA eTIMS for compliant e-receipts</a:t>
            </a:r>
            <a:endParaRPr sz="1200">
              <a:solidFill>
                <a:srgbClr val="1A2330"/>
              </a:solidFill>
            </a:endParaRPr>
          </a:p>
          <a:p>
            <a:pPr>
              <a:spcBef>
                <a:spcPts val="600"/>
              </a:spcBef>
            </a:pPr>
            <a:r>
              <a:rPr sz="1200">
                <a:solidFill>
                  <a:srgbClr val="1A2330"/>
                </a:solidFill>
              </a:rPr>
              <a:t>▸  Implement customer loyalty / membership module</a:t>
            </a:r>
            <a:endParaRPr sz="1200">
              <a:solidFill>
                <a:srgbClr val="1A2330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457200" y="4617720"/>
            <a:ext cx="11274552" cy="54864"/>
          </a:xfrm>
          <a:prstGeom prst="rect">
            <a:avLst/>
          </a:prstGeom>
          <a:solidFill>
            <a:srgbClr val="0099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754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B7685"/>
                </a:solidFill>
              </a:rPr>
              <a:t>This system transforms Think Twice Stores' manual operations into a fully digital, data-driven business — enabling sustainable growth across Kenya's mitumba retail sector.</a:t>
            </a:r>
            <a:endParaRPr sz="1300" b="0" i="1">
              <a:solidFill>
                <a:srgbClr val="6B7685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5394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00995E"/>
                </a:solidFill>
              </a:rPr>
              <a:t>Thank You  —  Questions Welcome</a:t>
            </a:r>
            <a:endParaRPr sz="2000" b="1" i="0">
              <a:solidFill>
                <a:srgbClr val="00995E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1520" y="5852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B7685"/>
                </a:solidFill>
              </a:rPr>
              <a:t>Kamiru John Mwangi  |  CIT-221-108/2022  |  Multimedia University of Kenya</a:t>
            </a:r>
            <a:endParaRPr sz="1100" b="0" i="0">
              <a:solidFill>
                <a:srgbClr val="6B7685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7168</Words>
  <Application>WPS Presentation</Application>
  <PresentationFormat>On-screen Show (4:3)</PresentationFormat>
  <Paragraphs>424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Arial</vt:lpstr>
      <vt:lpstr>DejaVu Sans</vt:lpstr>
      <vt:lpstr>Calibri</vt:lpstr>
      <vt:lpstr>Microsoft YaHei</vt:lpstr>
      <vt:lpstr>Droid Sans Fallback</vt:lpstr>
      <vt:lpstr>Arial Unicode MS</vt:lpstr>
      <vt:lpstr>Noto Sans Symbols2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mentor</cp:lastModifiedBy>
  <cp:revision>2</cp:revision>
  <dcterms:created xsi:type="dcterms:W3CDTF">2026-07-18T08:14:48Z</dcterms:created>
  <dcterms:modified xsi:type="dcterms:W3CDTF">2026-07-18T08:14:48Z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</Properties>
</file>