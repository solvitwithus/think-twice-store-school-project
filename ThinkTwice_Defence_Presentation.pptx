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777240"/>
            <a:ext cx="10634472"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146304" cy="5120640"/>
          </a:xfrm>
          <a:prstGeom prst="rect">
            <a:avLst/>
          </a:prstGeom>
          <a:solidFill>
            <a:srgbClr val="00C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960120"/>
            <a:ext cx="10149840" cy="804672"/>
          </a:xfrm>
          <a:prstGeom prst="rect">
            <a:avLst/>
          </a:prstGeom>
          <a:noFill/>
        </p:spPr>
        <p:txBody>
          <a:bodyPr wrap="square">
            <a:spAutoFit/>
          </a:bodyPr>
          <a:lstStyle/>
          <a:p>
            <a:pPr algn="ctr"/>
            <a:r>
              <a:rPr sz="2800" b="1" i="0">
                <a:solidFill>
                  <a:srgbClr val="00995E"/>
                </a:solidFill>
              </a:rPr>
              <a:t>THRIFT STORE MANAGEMENT SYSTEM</a:t>
            </a:r>
            <a:endParaRPr sz="2800" b="1" i="0">
              <a:solidFill>
                <a:srgbClr val="00995E"/>
              </a:solidFill>
            </a:endParaRPr>
          </a:p>
        </p:txBody>
      </p:sp>
      <p:sp>
        <p:nvSpPr>
          <p:cNvPr id="6" name="TextBox 5"/>
          <p:cNvSpPr txBox="1"/>
          <p:nvPr/>
        </p:nvSpPr>
        <p:spPr>
          <a:xfrm>
            <a:off x="1097280" y="1737360"/>
            <a:ext cx="10149840" cy="457200"/>
          </a:xfrm>
          <a:prstGeom prst="rect">
            <a:avLst/>
          </a:prstGeom>
          <a:noFill/>
        </p:spPr>
        <p:txBody>
          <a:bodyPr wrap="square">
            <a:spAutoFit/>
          </a:bodyPr>
          <a:lstStyle/>
          <a:p>
            <a:pPr algn="ctr"/>
            <a:r>
              <a:rPr sz="1800" b="0" i="1">
                <a:solidFill>
                  <a:srgbClr val="1A2330"/>
                </a:solidFill>
              </a:rPr>
              <a:t>A Case of Think Twice Stores</a:t>
            </a:r>
            <a:endParaRPr sz="1800" b="0" i="1">
              <a:solidFill>
                <a:srgbClr val="1A2330"/>
              </a:solidFill>
            </a:endParaRPr>
          </a:p>
        </p:txBody>
      </p:sp>
      <p:sp>
        <p:nvSpPr>
          <p:cNvPr id="7" name="Rectangle 6"/>
          <p:cNvSpPr/>
          <p:nvPr/>
        </p:nvSpPr>
        <p:spPr>
          <a:xfrm>
            <a:off x="3200400" y="2331720"/>
            <a:ext cx="5788152" cy="4572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87168"/>
            <a:ext cx="10149840" cy="384048"/>
          </a:xfrm>
          <a:prstGeom prst="rect">
            <a:avLst/>
          </a:prstGeom>
          <a:noFill/>
        </p:spPr>
        <p:txBody>
          <a:bodyPr wrap="square">
            <a:spAutoFit/>
          </a:bodyPr>
          <a:lstStyle/>
          <a:p>
            <a:pPr algn="ctr"/>
            <a:r>
              <a:rPr sz="1400" b="1" i="0">
                <a:solidFill>
                  <a:srgbClr val="1A2330"/>
                </a:solidFill>
              </a:rPr>
              <a:t>Kamiru John Mwangi  |  CIT-221-108/2022</a:t>
            </a:r>
            <a:endParaRPr sz="1400" b="1" i="0">
              <a:solidFill>
                <a:srgbClr val="1A2330"/>
              </a:solidFill>
            </a:endParaRPr>
          </a:p>
        </p:txBody>
      </p:sp>
      <p:sp>
        <p:nvSpPr>
          <p:cNvPr id="9" name="TextBox 8"/>
          <p:cNvSpPr txBox="1"/>
          <p:nvPr/>
        </p:nvSpPr>
        <p:spPr>
          <a:xfrm>
            <a:off x="1097280" y="2907792"/>
            <a:ext cx="10149840" cy="347472"/>
          </a:xfrm>
          <a:prstGeom prst="rect">
            <a:avLst/>
          </a:prstGeom>
          <a:noFill/>
        </p:spPr>
        <p:txBody>
          <a:bodyPr wrap="square">
            <a:spAutoFit/>
          </a:bodyPr>
          <a:lstStyle/>
          <a:p>
            <a:pPr algn="ctr"/>
            <a:r>
              <a:rPr sz="1200" b="0" i="0">
                <a:solidFill>
                  <a:srgbClr val="6B7685"/>
                </a:solidFill>
              </a:rPr>
              <a:t>Supervisor:  Dr. Nicodemus Aketch Ishmael</a:t>
            </a:r>
            <a:endParaRPr sz="1200" b="0" i="0">
              <a:solidFill>
                <a:srgbClr val="6B7685"/>
              </a:solidFill>
            </a:endParaRPr>
          </a:p>
        </p:txBody>
      </p:sp>
      <p:sp>
        <p:nvSpPr>
          <p:cNvPr id="10" name="TextBox 9"/>
          <p:cNvSpPr txBox="1"/>
          <p:nvPr/>
        </p:nvSpPr>
        <p:spPr>
          <a:xfrm>
            <a:off x="1097280" y="3255264"/>
            <a:ext cx="10149840" cy="347472"/>
          </a:xfrm>
          <a:prstGeom prst="rect">
            <a:avLst/>
          </a:prstGeom>
          <a:noFill/>
        </p:spPr>
        <p:txBody>
          <a:bodyPr wrap="square">
            <a:spAutoFit/>
          </a:bodyPr>
          <a:lstStyle/>
          <a:p>
            <a:pPr algn="ctr"/>
            <a:r>
              <a:rPr sz="1200" b="0" i="0">
                <a:solidFill>
                  <a:srgbClr val="6B7685"/>
                </a:solidFill>
              </a:rPr>
              <a:t>Multimedia University of Kenya  |  Bachelor of Science in Information Technology</a:t>
            </a:r>
            <a:endParaRPr sz="1200" b="0" i="0">
              <a:solidFill>
                <a:srgbClr val="6B7685"/>
              </a:solidFill>
            </a:endParaRPr>
          </a:p>
        </p:txBody>
      </p:sp>
      <p:sp>
        <p:nvSpPr>
          <p:cNvPr id="11" name="TextBox 10"/>
          <p:cNvSpPr txBox="1"/>
          <p:nvPr/>
        </p:nvSpPr>
        <p:spPr>
          <a:xfrm>
            <a:off x="1097280" y="3621024"/>
            <a:ext cx="10149840" cy="347472"/>
          </a:xfrm>
          <a:prstGeom prst="rect">
            <a:avLst/>
          </a:prstGeom>
          <a:noFill/>
        </p:spPr>
        <p:txBody>
          <a:bodyPr wrap="square">
            <a:spAutoFit/>
          </a:bodyPr>
          <a:lstStyle/>
          <a:p>
            <a:pPr algn="ctr"/>
            <a:r>
              <a:rPr sz="1300" b="1" i="0">
                <a:solidFill>
                  <a:srgbClr val="00995E"/>
                </a:solidFill>
              </a:rPr>
              <a:t>April 2026</a:t>
            </a:r>
            <a:endParaRPr sz="1300" b="1" i="0">
              <a:solidFill>
                <a:srgbClr val="00995E"/>
              </a:solidFill>
            </a:endParaRPr>
          </a:p>
        </p:txBody>
      </p:sp>
      <p:sp>
        <p:nvSpPr>
          <p:cNvPr id="12" name="Rectangle 11"/>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528816"/>
            <a:ext cx="11887200" cy="274320"/>
          </a:xfrm>
          <a:prstGeom prst="rect">
            <a:avLst/>
          </a:prstGeom>
          <a:noFill/>
        </p:spPr>
        <p:txBody>
          <a:bodyPr wrap="square">
            <a:spAutoFit/>
          </a:bodyPr>
          <a:lstStyle/>
          <a:p>
            <a:pPr algn="ctr"/>
            <a:r>
              <a:rPr sz="850" b="0" i="0">
                <a:solidFill>
                  <a:srgbClr val="FFFFFF"/>
                </a:solidFill>
              </a:rPr>
              <a:t>April 2026  |  Multimedia University of Kenya  |  Department of Information Technology</a:t>
            </a:r>
            <a:endParaRPr sz="850" b="0" i="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Presentation Outline</a:t>
            </a:r>
            <a:endParaRPr sz="2400" b="1" i="0">
              <a:solidFill>
                <a:srgbClr val="FFFFFF"/>
              </a:solidFill>
            </a:endParaRPr>
          </a:p>
        </p:txBody>
      </p:sp>
      <p:sp>
        <p:nvSpPr>
          <p:cNvPr id="5" name="Rectangle 4"/>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7" name="TextBox 6"/>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2 / 16</a:t>
            </a:r>
            <a:endParaRPr sz="850" b="1" i="0">
              <a:solidFill>
                <a:srgbClr val="FFFFFF"/>
              </a:solidFill>
            </a:endParaRPr>
          </a:p>
        </p:txBody>
      </p:sp>
      <p:sp>
        <p:nvSpPr>
          <p:cNvPr id="8" name="Rectangle 7"/>
          <p:cNvSpPr/>
          <p:nvPr/>
        </p:nvSpPr>
        <p:spPr>
          <a:xfrm>
            <a:off x="365760" y="1353312"/>
            <a:ext cx="347472" cy="43891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53312"/>
            <a:ext cx="347472" cy="438912"/>
          </a:xfrm>
          <a:prstGeom prst="rect">
            <a:avLst/>
          </a:prstGeom>
          <a:noFill/>
        </p:spPr>
        <p:txBody>
          <a:bodyPr wrap="square">
            <a:spAutoFit/>
          </a:bodyPr>
          <a:lstStyle/>
          <a:p>
            <a:pPr algn="ctr"/>
            <a:r>
              <a:rPr sz="1400" b="1" i="0">
                <a:solidFill>
                  <a:srgbClr val="FFFFFF"/>
                </a:solidFill>
              </a:rPr>
              <a:t>1</a:t>
            </a:r>
            <a:endParaRPr sz="1400" b="1" i="0">
              <a:solidFill>
                <a:srgbClr val="FFFFFF"/>
              </a:solidFill>
            </a:endParaRPr>
          </a:p>
        </p:txBody>
      </p:sp>
      <p:sp>
        <p:nvSpPr>
          <p:cNvPr id="10" name="TextBox 9"/>
          <p:cNvSpPr txBox="1"/>
          <p:nvPr/>
        </p:nvSpPr>
        <p:spPr>
          <a:xfrm>
            <a:off x="822960" y="1380744"/>
            <a:ext cx="5029200" cy="256032"/>
          </a:xfrm>
          <a:prstGeom prst="rect">
            <a:avLst/>
          </a:prstGeom>
          <a:noFill/>
        </p:spPr>
        <p:txBody>
          <a:bodyPr wrap="square">
            <a:spAutoFit/>
          </a:bodyPr>
          <a:lstStyle/>
          <a:p>
            <a:pPr algn="l"/>
            <a:r>
              <a:rPr sz="1100" b="1" i="0">
                <a:solidFill>
                  <a:srgbClr val="1A2330"/>
                </a:solidFill>
              </a:rPr>
              <a:t>Chapter 1 — Introduction</a:t>
            </a:r>
            <a:endParaRPr sz="1100" b="1" i="0">
              <a:solidFill>
                <a:srgbClr val="1A2330"/>
              </a:solidFill>
            </a:endParaRPr>
          </a:p>
        </p:txBody>
      </p:sp>
      <p:sp>
        <p:nvSpPr>
          <p:cNvPr id="11" name="TextBox 10"/>
          <p:cNvSpPr txBox="1"/>
          <p:nvPr/>
        </p:nvSpPr>
        <p:spPr>
          <a:xfrm>
            <a:off x="822960" y="1600200"/>
            <a:ext cx="10972800" cy="182880"/>
          </a:xfrm>
          <a:prstGeom prst="rect">
            <a:avLst/>
          </a:prstGeom>
          <a:noFill/>
        </p:spPr>
        <p:txBody>
          <a:bodyPr wrap="square">
            <a:spAutoFit/>
          </a:bodyPr>
          <a:lstStyle/>
          <a:p>
            <a:pPr algn="l"/>
            <a:r>
              <a:rPr sz="900" b="0" i="1">
                <a:solidFill>
                  <a:srgbClr val="6B7685"/>
                </a:solidFill>
              </a:rPr>
              <a:t>Background, Problem Statement, Objectives, Research Questions</a:t>
            </a:r>
            <a:endParaRPr sz="900" b="0" i="1">
              <a:solidFill>
                <a:srgbClr val="6B7685"/>
              </a:solidFill>
            </a:endParaRPr>
          </a:p>
        </p:txBody>
      </p:sp>
      <p:sp>
        <p:nvSpPr>
          <p:cNvPr id="12" name="Rectangle 11"/>
          <p:cNvSpPr/>
          <p:nvPr/>
        </p:nvSpPr>
        <p:spPr>
          <a:xfrm>
            <a:off x="365760" y="1920240"/>
            <a:ext cx="347472" cy="43891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920240"/>
            <a:ext cx="347472" cy="438912"/>
          </a:xfrm>
          <a:prstGeom prst="rect">
            <a:avLst/>
          </a:prstGeom>
          <a:noFill/>
        </p:spPr>
        <p:txBody>
          <a:bodyPr wrap="square">
            <a:spAutoFit/>
          </a:bodyPr>
          <a:lstStyle/>
          <a:p>
            <a:pPr algn="ctr"/>
            <a:r>
              <a:rPr sz="1400" b="1" i="0">
                <a:solidFill>
                  <a:srgbClr val="FFFFFF"/>
                </a:solidFill>
              </a:rPr>
              <a:t>2</a:t>
            </a:r>
            <a:endParaRPr sz="1400" b="1" i="0">
              <a:solidFill>
                <a:srgbClr val="FFFFFF"/>
              </a:solidFill>
            </a:endParaRPr>
          </a:p>
        </p:txBody>
      </p:sp>
      <p:sp>
        <p:nvSpPr>
          <p:cNvPr id="14" name="TextBox 13"/>
          <p:cNvSpPr txBox="1"/>
          <p:nvPr/>
        </p:nvSpPr>
        <p:spPr>
          <a:xfrm>
            <a:off x="822960" y="1947672"/>
            <a:ext cx="5029200" cy="256032"/>
          </a:xfrm>
          <a:prstGeom prst="rect">
            <a:avLst/>
          </a:prstGeom>
          <a:noFill/>
        </p:spPr>
        <p:txBody>
          <a:bodyPr wrap="square">
            <a:spAutoFit/>
          </a:bodyPr>
          <a:lstStyle/>
          <a:p>
            <a:pPr algn="l"/>
            <a:r>
              <a:rPr sz="1100" b="1" i="0">
                <a:solidFill>
                  <a:srgbClr val="1A2330"/>
                </a:solidFill>
              </a:rPr>
              <a:t>Chapter 2 — Review of Related Work</a:t>
            </a:r>
            <a:endParaRPr sz="1100" b="1" i="0">
              <a:solidFill>
                <a:srgbClr val="1A2330"/>
              </a:solidFill>
            </a:endParaRPr>
          </a:p>
        </p:txBody>
      </p:sp>
      <p:sp>
        <p:nvSpPr>
          <p:cNvPr id="15" name="TextBox 14"/>
          <p:cNvSpPr txBox="1"/>
          <p:nvPr/>
        </p:nvSpPr>
        <p:spPr>
          <a:xfrm>
            <a:off x="822960" y="2167128"/>
            <a:ext cx="10972800" cy="182880"/>
          </a:xfrm>
          <a:prstGeom prst="rect">
            <a:avLst/>
          </a:prstGeom>
          <a:noFill/>
        </p:spPr>
        <p:txBody>
          <a:bodyPr wrap="square">
            <a:spAutoFit/>
          </a:bodyPr>
          <a:lstStyle/>
          <a:p>
            <a:pPr algn="l"/>
            <a:r>
              <a:rPr sz="900" b="0" i="1">
                <a:solidFill>
                  <a:srgbClr val="6B7685"/>
                </a:solidFill>
              </a:rPr>
              <a:t>Related Systems (5 cases), Emerging Trends, Research Gap</a:t>
            </a:r>
            <a:endParaRPr sz="900" b="0" i="1">
              <a:solidFill>
                <a:srgbClr val="6B7685"/>
              </a:solidFill>
            </a:endParaRPr>
          </a:p>
        </p:txBody>
      </p:sp>
      <p:sp>
        <p:nvSpPr>
          <p:cNvPr id="16" name="Rectangle 15"/>
          <p:cNvSpPr/>
          <p:nvPr/>
        </p:nvSpPr>
        <p:spPr>
          <a:xfrm>
            <a:off x="365760" y="2487168"/>
            <a:ext cx="347472" cy="438912"/>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487168"/>
            <a:ext cx="347472" cy="438912"/>
          </a:xfrm>
          <a:prstGeom prst="rect">
            <a:avLst/>
          </a:prstGeom>
          <a:noFill/>
        </p:spPr>
        <p:txBody>
          <a:bodyPr wrap="square">
            <a:spAutoFit/>
          </a:bodyPr>
          <a:lstStyle/>
          <a:p>
            <a:pPr algn="ctr"/>
            <a:r>
              <a:rPr sz="1400" b="1" i="0">
                <a:solidFill>
                  <a:srgbClr val="FFFFFF"/>
                </a:solidFill>
              </a:rPr>
              <a:t>3</a:t>
            </a:r>
            <a:endParaRPr sz="1400" b="1" i="0">
              <a:solidFill>
                <a:srgbClr val="FFFFFF"/>
              </a:solidFill>
            </a:endParaRPr>
          </a:p>
        </p:txBody>
      </p:sp>
      <p:sp>
        <p:nvSpPr>
          <p:cNvPr id="18" name="TextBox 17"/>
          <p:cNvSpPr txBox="1"/>
          <p:nvPr/>
        </p:nvSpPr>
        <p:spPr>
          <a:xfrm>
            <a:off x="822960" y="2514600"/>
            <a:ext cx="5029200" cy="256032"/>
          </a:xfrm>
          <a:prstGeom prst="rect">
            <a:avLst/>
          </a:prstGeom>
          <a:noFill/>
        </p:spPr>
        <p:txBody>
          <a:bodyPr wrap="square">
            <a:spAutoFit/>
          </a:bodyPr>
          <a:lstStyle/>
          <a:p>
            <a:pPr algn="l"/>
            <a:r>
              <a:rPr sz="1100" b="1" i="0">
                <a:solidFill>
                  <a:srgbClr val="1A2330"/>
                </a:solidFill>
              </a:rPr>
              <a:t>Chapter 3 — Research Methodology</a:t>
            </a:r>
            <a:endParaRPr sz="1100" b="1" i="0">
              <a:solidFill>
                <a:srgbClr val="1A2330"/>
              </a:solidFill>
            </a:endParaRPr>
          </a:p>
        </p:txBody>
      </p:sp>
      <p:sp>
        <p:nvSpPr>
          <p:cNvPr id="19" name="TextBox 18"/>
          <p:cNvSpPr txBox="1"/>
          <p:nvPr/>
        </p:nvSpPr>
        <p:spPr>
          <a:xfrm>
            <a:off x="822960" y="2734056"/>
            <a:ext cx="10972800" cy="182880"/>
          </a:xfrm>
          <a:prstGeom prst="rect">
            <a:avLst/>
          </a:prstGeom>
          <a:noFill/>
        </p:spPr>
        <p:txBody>
          <a:bodyPr wrap="square">
            <a:spAutoFit/>
          </a:bodyPr>
          <a:lstStyle/>
          <a:p>
            <a:pPr algn="l"/>
            <a:r>
              <a:rPr sz="900" b="0" i="1">
                <a:solidFill>
                  <a:srgbClr val="6B7685"/>
                </a:solidFill>
              </a:rPr>
              <a:t>Data Collection, Requirements, Analysis &amp; Design Tools, Tech Stack, Testing, Deployment</a:t>
            </a:r>
            <a:endParaRPr sz="900" b="0" i="1">
              <a:solidFill>
                <a:srgbClr val="6B7685"/>
              </a:solidFill>
            </a:endParaRPr>
          </a:p>
        </p:txBody>
      </p:sp>
      <p:sp>
        <p:nvSpPr>
          <p:cNvPr id="20" name="Rectangle 19"/>
          <p:cNvSpPr/>
          <p:nvPr/>
        </p:nvSpPr>
        <p:spPr>
          <a:xfrm>
            <a:off x="365760" y="3054096"/>
            <a:ext cx="347472" cy="438912"/>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054096"/>
            <a:ext cx="347472" cy="438912"/>
          </a:xfrm>
          <a:prstGeom prst="rect">
            <a:avLst/>
          </a:prstGeom>
          <a:noFill/>
        </p:spPr>
        <p:txBody>
          <a:bodyPr wrap="square">
            <a:spAutoFit/>
          </a:bodyPr>
          <a:lstStyle/>
          <a:p>
            <a:pPr algn="ctr"/>
            <a:r>
              <a:rPr sz="1400" b="1" i="0">
                <a:solidFill>
                  <a:srgbClr val="FFFFFF"/>
                </a:solidFill>
              </a:rPr>
              <a:t>4</a:t>
            </a:r>
            <a:endParaRPr sz="1400" b="1" i="0">
              <a:solidFill>
                <a:srgbClr val="FFFFFF"/>
              </a:solidFill>
            </a:endParaRPr>
          </a:p>
        </p:txBody>
      </p:sp>
      <p:sp>
        <p:nvSpPr>
          <p:cNvPr id="22" name="TextBox 21"/>
          <p:cNvSpPr txBox="1"/>
          <p:nvPr/>
        </p:nvSpPr>
        <p:spPr>
          <a:xfrm>
            <a:off x="822960" y="3081528"/>
            <a:ext cx="5029200" cy="256032"/>
          </a:xfrm>
          <a:prstGeom prst="rect">
            <a:avLst/>
          </a:prstGeom>
          <a:noFill/>
        </p:spPr>
        <p:txBody>
          <a:bodyPr wrap="square">
            <a:spAutoFit/>
          </a:bodyPr>
          <a:lstStyle/>
          <a:p>
            <a:pPr algn="l"/>
            <a:r>
              <a:rPr sz="1100" b="1" i="0">
                <a:solidFill>
                  <a:srgbClr val="1A2330"/>
                </a:solidFill>
              </a:rPr>
              <a:t>Chapter 4 — System Analysis</a:t>
            </a:r>
            <a:endParaRPr sz="1100" b="1" i="0">
              <a:solidFill>
                <a:srgbClr val="1A2330"/>
              </a:solidFill>
            </a:endParaRPr>
          </a:p>
        </p:txBody>
      </p:sp>
      <p:sp>
        <p:nvSpPr>
          <p:cNvPr id="23" name="TextBox 22"/>
          <p:cNvSpPr txBox="1"/>
          <p:nvPr/>
        </p:nvSpPr>
        <p:spPr>
          <a:xfrm>
            <a:off x="822960" y="3300984"/>
            <a:ext cx="10972800" cy="182880"/>
          </a:xfrm>
          <a:prstGeom prst="rect">
            <a:avLst/>
          </a:prstGeom>
          <a:noFill/>
        </p:spPr>
        <p:txBody>
          <a:bodyPr wrap="square">
            <a:spAutoFit/>
          </a:bodyPr>
          <a:lstStyle/>
          <a:p>
            <a:pPr algn="l"/>
            <a:r>
              <a:rPr sz="900" b="0" i="1">
                <a:solidFill>
                  <a:srgbClr val="6B7685"/>
                </a:solidFill>
              </a:rPr>
              <a:t>Current System, Feasibility Study, Data I/O, Process Logic Diagrams</a:t>
            </a:r>
            <a:endParaRPr sz="900" b="0" i="1">
              <a:solidFill>
                <a:srgbClr val="6B7685"/>
              </a:solidFill>
            </a:endParaRPr>
          </a:p>
        </p:txBody>
      </p:sp>
      <p:sp>
        <p:nvSpPr>
          <p:cNvPr id="24" name="Rectangle 23"/>
          <p:cNvSpPr/>
          <p:nvPr/>
        </p:nvSpPr>
        <p:spPr>
          <a:xfrm>
            <a:off x="365760" y="3621024"/>
            <a:ext cx="347472" cy="4389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621024"/>
            <a:ext cx="347472" cy="438912"/>
          </a:xfrm>
          <a:prstGeom prst="rect">
            <a:avLst/>
          </a:prstGeom>
          <a:noFill/>
        </p:spPr>
        <p:txBody>
          <a:bodyPr wrap="square">
            <a:spAutoFit/>
          </a:bodyPr>
          <a:lstStyle/>
          <a:p>
            <a:pPr algn="ctr"/>
            <a:r>
              <a:rPr sz="1400" b="1" i="0">
                <a:solidFill>
                  <a:srgbClr val="FFFFFF"/>
                </a:solidFill>
              </a:rPr>
              <a:t>5</a:t>
            </a:r>
            <a:endParaRPr sz="1400" b="1" i="0">
              <a:solidFill>
                <a:srgbClr val="FFFFFF"/>
              </a:solidFill>
            </a:endParaRPr>
          </a:p>
        </p:txBody>
      </p:sp>
      <p:sp>
        <p:nvSpPr>
          <p:cNvPr id="26" name="TextBox 25"/>
          <p:cNvSpPr txBox="1"/>
          <p:nvPr/>
        </p:nvSpPr>
        <p:spPr>
          <a:xfrm>
            <a:off x="822960" y="3648456"/>
            <a:ext cx="5029200" cy="256032"/>
          </a:xfrm>
          <a:prstGeom prst="rect">
            <a:avLst/>
          </a:prstGeom>
          <a:noFill/>
        </p:spPr>
        <p:txBody>
          <a:bodyPr wrap="square">
            <a:spAutoFit/>
          </a:bodyPr>
          <a:lstStyle/>
          <a:p>
            <a:pPr algn="l"/>
            <a:r>
              <a:rPr sz="1100" b="1" i="0">
                <a:solidFill>
                  <a:srgbClr val="1A2330"/>
                </a:solidFill>
              </a:rPr>
              <a:t>Chapter 5 — System Design</a:t>
            </a:r>
            <a:endParaRPr sz="1100" b="1" i="0">
              <a:solidFill>
                <a:srgbClr val="1A2330"/>
              </a:solidFill>
            </a:endParaRPr>
          </a:p>
        </p:txBody>
      </p:sp>
      <p:sp>
        <p:nvSpPr>
          <p:cNvPr id="27" name="TextBox 26"/>
          <p:cNvSpPr txBox="1"/>
          <p:nvPr/>
        </p:nvSpPr>
        <p:spPr>
          <a:xfrm>
            <a:off x="822960" y="3867912"/>
            <a:ext cx="10972800" cy="182880"/>
          </a:xfrm>
          <a:prstGeom prst="rect">
            <a:avLst/>
          </a:prstGeom>
          <a:noFill/>
        </p:spPr>
        <p:txBody>
          <a:bodyPr wrap="square">
            <a:spAutoFit/>
          </a:bodyPr>
          <a:lstStyle/>
          <a:p>
            <a:pPr algn="l"/>
            <a:r>
              <a:rPr sz="900" b="0" i="1">
                <a:solidFill>
                  <a:srgbClr val="6B7685"/>
                </a:solidFill>
              </a:rPr>
              <a:t>Proposed System, Requirements, Architecture Diagrams, Database Design, I/O Design</a:t>
            </a:r>
            <a:endParaRPr sz="900" b="0" i="1">
              <a:solidFill>
                <a:srgbClr val="6B7685"/>
              </a:solidFill>
            </a:endParaRPr>
          </a:p>
        </p:txBody>
      </p:sp>
      <p:sp>
        <p:nvSpPr>
          <p:cNvPr id="28" name="Rectangle 27"/>
          <p:cNvSpPr/>
          <p:nvPr/>
        </p:nvSpPr>
        <p:spPr>
          <a:xfrm>
            <a:off x="365760" y="4187952"/>
            <a:ext cx="347472" cy="43891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4187952"/>
            <a:ext cx="347472" cy="438912"/>
          </a:xfrm>
          <a:prstGeom prst="rect">
            <a:avLst/>
          </a:prstGeom>
          <a:noFill/>
        </p:spPr>
        <p:txBody>
          <a:bodyPr wrap="square">
            <a:spAutoFit/>
          </a:bodyPr>
          <a:lstStyle/>
          <a:p>
            <a:pPr algn="ctr"/>
            <a:r>
              <a:rPr sz="1400" b="1" i="0">
                <a:solidFill>
                  <a:srgbClr val="FFFFFF"/>
                </a:solidFill>
              </a:rPr>
              <a:t>6</a:t>
            </a:r>
            <a:endParaRPr sz="1400" b="1" i="0">
              <a:solidFill>
                <a:srgbClr val="FFFFFF"/>
              </a:solidFill>
            </a:endParaRPr>
          </a:p>
        </p:txBody>
      </p:sp>
      <p:sp>
        <p:nvSpPr>
          <p:cNvPr id="30" name="TextBox 29"/>
          <p:cNvSpPr txBox="1"/>
          <p:nvPr/>
        </p:nvSpPr>
        <p:spPr>
          <a:xfrm>
            <a:off x="822960" y="4215384"/>
            <a:ext cx="5029200" cy="256032"/>
          </a:xfrm>
          <a:prstGeom prst="rect">
            <a:avLst/>
          </a:prstGeom>
          <a:noFill/>
        </p:spPr>
        <p:txBody>
          <a:bodyPr wrap="square">
            <a:spAutoFit/>
          </a:bodyPr>
          <a:lstStyle/>
          <a:p>
            <a:pPr algn="l"/>
            <a:r>
              <a:rPr sz="1100" b="1" i="0">
                <a:solidFill>
                  <a:srgbClr val="1A2330"/>
                </a:solidFill>
              </a:rPr>
              <a:t>Chapter 6 — Implementation &amp; Testing</a:t>
            </a:r>
            <a:endParaRPr sz="1100" b="1" i="0">
              <a:solidFill>
                <a:srgbClr val="1A2330"/>
              </a:solidFill>
            </a:endParaRPr>
          </a:p>
        </p:txBody>
      </p:sp>
      <p:sp>
        <p:nvSpPr>
          <p:cNvPr id="31" name="TextBox 30"/>
          <p:cNvSpPr txBox="1"/>
          <p:nvPr/>
        </p:nvSpPr>
        <p:spPr>
          <a:xfrm>
            <a:off x="822960" y="4434840"/>
            <a:ext cx="10972800" cy="182880"/>
          </a:xfrm>
          <a:prstGeom prst="rect">
            <a:avLst/>
          </a:prstGeom>
          <a:noFill/>
        </p:spPr>
        <p:txBody>
          <a:bodyPr wrap="square">
            <a:spAutoFit/>
          </a:bodyPr>
          <a:lstStyle/>
          <a:p>
            <a:pPr algn="l"/>
            <a:r>
              <a:rPr sz="900" b="0" i="1">
                <a:solidFill>
                  <a:srgbClr val="6B7685"/>
                </a:solidFill>
              </a:rPr>
              <a:t>System Screenshots, Testing Plan, Evaluation Against Objectives</a:t>
            </a:r>
            <a:endParaRPr sz="900" b="0" i="1">
              <a:solidFill>
                <a:srgbClr val="6B7685"/>
              </a:solidFill>
            </a:endParaRPr>
          </a:p>
        </p:txBody>
      </p:sp>
      <p:sp>
        <p:nvSpPr>
          <p:cNvPr id="32" name="Rectangle 31"/>
          <p:cNvSpPr/>
          <p:nvPr/>
        </p:nvSpPr>
        <p:spPr>
          <a:xfrm>
            <a:off x="365760" y="4754880"/>
            <a:ext cx="347472" cy="438912"/>
          </a:xfrm>
          <a:prstGeom prst="rect">
            <a:avLst/>
          </a:prstGeom>
          <a:solidFill>
            <a:srgbClr val="6B76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4754880"/>
            <a:ext cx="347472" cy="438912"/>
          </a:xfrm>
          <a:prstGeom prst="rect">
            <a:avLst/>
          </a:prstGeom>
          <a:noFill/>
        </p:spPr>
        <p:txBody>
          <a:bodyPr wrap="square">
            <a:spAutoFit/>
          </a:bodyPr>
          <a:lstStyle/>
          <a:p>
            <a:pPr algn="ctr"/>
            <a:r>
              <a:rPr sz="1400" b="1" i="0">
                <a:solidFill>
                  <a:srgbClr val="FFFFFF"/>
                </a:solidFill>
              </a:rPr>
              <a:t>✓</a:t>
            </a:r>
            <a:endParaRPr sz="1400" b="1" i="0">
              <a:solidFill>
                <a:srgbClr val="FFFFFF"/>
              </a:solidFill>
            </a:endParaRPr>
          </a:p>
        </p:txBody>
      </p:sp>
      <p:sp>
        <p:nvSpPr>
          <p:cNvPr id="34" name="TextBox 33"/>
          <p:cNvSpPr txBox="1"/>
          <p:nvPr/>
        </p:nvSpPr>
        <p:spPr>
          <a:xfrm>
            <a:off x="822960" y="4782312"/>
            <a:ext cx="5029200" cy="256032"/>
          </a:xfrm>
          <a:prstGeom prst="rect">
            <a:avLst/>
          </a:prstGeom>
          <a:noFill/>
        </p:spPr>
        <p:txBody>
          <a:bodyPr wrap="square">
            <a:spAutoFit/>
          </a:bodyPr>
          <a:lstStyle/>
          <a:p>
            <a:pPr algn="l"/>
            <a:r>
              <a:rPr sz="1100" b="1" i="0">
                <a:solidFill>
                  <a:srgbClr val="1A2330"/>
                </a:solidFill>
              </a:rPr>
              <a:t>Conclusion &amp; Recommendations</a:t>
            </a:r>
            <a:endParaRPr sz="1100" b="1" i="0">
              <a:solidFill>
                <a:srgbClr val="1A2330"/>
              </a:solidFill>
            </a:endParaRPr>
          </a:p>
        </p:txBody>
      </p:sp>
      <p:sp>
        <p:nvSpPr>
          <p:cNvPr id="35" name="TextBox 34"/>
          <p:cNvSpPr txBox="1"/>
          <p:nvPr/>
        </p:nvSpPr>
        <p:spPr>
          <a:xfrm>
            <a:off x="822960" y="5001768"/>
            <a:ext cx="10972800" cy="182880"/>
          </a:xfrm>
          <a:prstGeom prst="rect">
            <a:avLst/>
          </a:prstGeom>
          <a:noFill/>
        </p:spPr>
        <p:txBody>
          <a:bodyPr wrap="square">
            <a:spAutoFit/>
          </a:bodyPr>
          <a:lstStyle/>
          <a:p>
            <a:pPr algn="l"/>
            <a:r>
              <a:rPr sz="900" b="0" i="1">
                <a:solidFill>
                  <a:srgbClr val="6B7685"/>
                </a:solidFill>
              </a:rPr>
              <a:t>Achievements, Limitations, Future Work</a:t>
            </a:r>
            <a:endParaRPr sz="900" b="0" i="1">
              <a:solidFill>
                <a:srgbClr val="6B768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Background of the Research</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§1.2 Motivation &amp; Background  |  §1.3 Background of the Research</a:t>
            </a:r>
            <a:endParaRPr sz="1100" b="0" i="1">
              <a:solidFill>
                <a:srgbClr val="00C278"/>
              </a:solidFill>
            </a:endParaRPr>
          </a:p>
        </p:txBody>
      </p:sp>
      <p:sp>
        <p:nvSpPr>
          <p:cNvPr id="6" name="Rectangle 5"/>
          <p:cNvSpPr/>
          <p:nvPr/>
        </p:nvSpPr>
        <p:spPr>
          <a:xfrm>
            <a:off x="9445752" y="0"/>
            <a:ext cx="2743200" cy="34747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1: Introduction</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3 / 16</a:t>
            </a:r>
            <a:endParaRPr sz="850" b="1" i="0">
              <a:solidFill>
                <a:srgbClr val="FFFFFF"/>
              </a:solidFill>
            </a:endParaRPr>
          </a:p>
        </p:txBody>
      </p:sp>
      <p:sp>
        <p:nvSpPr>
          <p:cNvPr id="11" name="Rectangle 10"/>
          <p:cNvSpPr/>
          <p:nvPr/>
        </p:nvSpPr>
        <p:spPr>
          <a:xfrm>
            <a:off x="320040" y="1280160"/>
            <a:ext cx="5577840" cy="48920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 y="1344168"/>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53312"/>
            <a:ext cx="10972800" cy="301752"/>
          </a:xfrm>
          <a:prstGeom prst="rect">
            <a:avLst/>
          </a:prstGeom>
          <a:noFill/>
        </p:spPr>
        <p:txBody>
          <a:bodyPr wrap="square">
            <a:spAutoFit/>
          </a:bodyPr>
          <a:lstStyle/>
          <a:p>
            <a:pPr algn="l"/>
            <a:r>
              <a:rPr sz="1200" b="1" i="0">
                <a:solidFill>
                  <a:srgbClr val="00995E"/>
                </a:solidFill>
              </a:rPr>
              <a:t>Industry &amp; Market Context</a:t>
            </a:r>
            <a:endParaRPr sz="1200" b="1" i="0">
              <a:solidFill>
                <a:srgbClr val="00995E"/>
              </a:solidFill>
            </a:endParaRPr>
          </a:p>
        </p:txBody>
      </p:sp>
      <p:sp>
        <p:nvSpPr>
          <p:cNvPr id="14" name="TextBox 13"/>
          <p:cNvSpPr txBox="1"/>
          <p:nvPr/>
        </p:nvSpPr>
        <p:spPr>
          <a:xfrm>
            <a:off x="438912" y="1700784"/>
            <a:ext cx="5376672" cy="2240280"/>
          </a:xfrm>
          <a:prstGeom prst="rect">
            <a:avLst/>
          </a:prstGeom>
          <a:noFill/>
        </p:spPr>
        <p:txBody>
          <a:bodyPr wrap="square">
            <a:spAutoFit/>
          </a:bodyPr>
          <a:lstStyle/>
          <a:p>
            <a:pPr>
              <a:spcBef>
                <a:spcPts val="500"/>
              </a:spcBef>
            </a:pPr>
            <a:r>
              <a:rPr sz="1100">
                <a:solidFill>
                  <a:srgbClr val="1A2330"/>
                </a:solidFill>
              </a:rPr>
              <a:t>▸  Global resale market grew 8× faster than traditional retail in 2024 (FashionUnited, 2025)</a:t>
            </a:r>
            <a:endParaRPr sz="1100">
              <a:solidFill>
                <a:srgbClr val="1A2330"/>
              </a:solidFill>
            </a:endParaRPr>
          </a:p>
          <a:p>
            <a:pPr>
              <a:spcBef>
                <a:spcPts val="500"/>
              </a:spcBef>
            </a:pPr>
            <a:r>
              <a:rPr sz="1100">
                <a:solidFill>
                  <a:srgbClr val="1A2330"/>
                </a:solidFill>
              </a:rPr>
              <a:t>▸  Kenya's mitumba (second-hand clothing) sector serves millions across all socioeconomic groups</a:t>
            </a:r>
            <a:endParaRPr sz="1100">
              <a:solidFill>
                <a:srgbClr val="1A2330"/>
              </a:solidFill>
            </a:endParaRPr>
          </a:p>
          <a:p>
            <a:pPr>
              <a:spcBef>
                <a:spcPts val="500"/>
              </a:spcBef>
            </a:pPr>
            <a:r>
              <a:rPr sz="1100">
                <a:solidFill>
                  <a:srgbClr val="1A2330"/>
                </a:solidFill>
              </a:rPr>
              <a:t>▸  Thrift stores provide affordable clothing and create employment — critical to Kenya's retail economy</a:t>
            </a:r>
            <a:endParaRPr sz="1100">
              <a:solidFill>
                <a:srgbClr val="1A2330"/>
              </a:solidFill>
            </a:endParaRPr>
          </a:p>
          <a:p>
            <a:pPr>
              <a:spcBef>
                <a:spcPts val="500"/>
              </a:spcBef>
            </a:pPr>
            <a:r>
              <a:rPr sz="1100">
                <a:solidFill>
                  <a:srgbClr val="1A2330"/>
                </a:solidFill>
              </a:rPr>
              <a:t>▸  Think Twice Stores: 30+ branches across Kenya — hundreds of customers daily per branch</a:t>
            </a:r>
            <a:endParaRPr sz="1100">
              <a:solidFill>
                <a:srgbClr val="1A2330"/>
              </a:solidFill>
            </a:endParaRPr>
          </a:p>
          <a:p>
            <a:pPr>
              <a:spcBef>
                <a:spcPts val="500"/>
              </a:spcBef>
            </a:pPr>
            <a:r>
              <a:rPr sz="1100">
                <a:solidFill>
                  <a:srgbClr val="1A2330"/>
                </a:solidFill>
              </a:rPr>
              <a:t>▸  Rapid branch expansion intensifying operational demands: stock ordering, tracking, pricing, reporting</a:t>
            </a:r>
            <a:endParaRPr sz="1100">
              <a:solidFill>
                <a:srgbClr val="1A2330"/>
              </a:solidFill>
            </a:endParaRPr>
          </a:p>
        </p:txBody>
      </p:sp>
      <p:sp>
        <p:nvSpPr>
          <p:cNvPr id="15" name="Rectangle 14"/>
          <p:cNvSpPr/>
          <p:nvPr/>
        </p:nvSpPr>
        <p:spPr>
          <a:xfrm>
            <a:off x="347472" y="3611880"/>
            <a:ext cx="82296" cy="32004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621024"/>
            <a:ext cx="10972800" cy="301752"/>
          </a:xfrm>
          <a:prstGeom prst="rect">
            <a:avLst/>
          </a:prstGeom>
          <a:noFill/>
        </p:spPr>
        <p:txBody>
          <a:bodyPr wrap="square">
            <a:spAutoFit/>
          </a:bodyPr>
          <a:lstStyle/>
          <a:p>
            <a:pPr algn="l"/>
            <a:r>
              <a:rPr sz="1200" b="1" i="0">
                <a:solidFill>
                  <a:srgbClr val="E07B00"/>
                </a:solidFill>
              </a:rPr>
              <a:t>Current Operational Context</a:t>
            </a:r>
            <a:endParaRPr sz="1200" b="1" i="0">
              <a:solidFill>
                <a:srgbClr val="E07B00"/>
              </a:solidFill>
            </a:endParaRPr>
          </a:p>
        </p:txBody>
      </p:sp>
      <p:sp>
        <p:nvSpPr>
          <p:cNvPr id="17" name="TextBox 16"/>
          <p:cNvSpPr txBox="1"/>
          <p:nvPr/>
        </p:nvSpPr>
        <p:spPr>
          <a:xfrm>
            <a:off x="438912" y="3950208"/>
            <a:ext cx="5376672" cy="1005840"/>
          </a:xfrm>
          <a:prstGeom prst="rect">
            <a:avLst/>
          </a:prstGeom>
          <a:noFill/>
        </p:spPr>
        <p:txBody>
          <a:bodyPr wrap="square">
            <a:spAutoFit/>
          </a:bodyPr>
          <a:lstStyle/>
          <a:p>
            <a:pPr>
              <a:spcBef>
                <a:spcPts val="500"/>
              </a:spcBef>
            </a:pPr>
            <a:r>
              <a:rPr sz="1100">
                <a:solidFill>
                  <a:srgbClr val="884400"/>
                </a:solidFill>
              </a:rPr>
              <a:t>▸  Semi-automated system: ETR machine (KRA compliance only) + handwritten records</a:t>
            </a:r>
            <a:endParaRPr sz="1100">
              <a:solidFill>
                <a:srgbClr val="884400"/>
              </a:solidFill>
            </a:endParaRPr>
          </a:p>
          <a:p>
            <a:pPr>
              <a:spcBef>
                <a:spcPts val="500"/>
              </a:spcBef>
            </a:pPr>
            <a:r>
              <a:rPr sz="1100">
                <a:solidFill>
                  <a:srgbClr val="884400"/>
                </a:solidFill>
              </a:rPr>
              <a:t>▸  No integrated digital system despite operating at 30+ branch scale</a:t>
            </a:r>
            <a:endParaRPr sz="1100">
              <a:solidFill>
                <a:srgbClr val="884400"/>
              </a:solidFill>
            </a:endParaRPr>
          </a:p>
          <a:p>
            <a:pPr>
              <a:spcBef>
                <a:spcPts val="500"/>
              </a:spcBef>
            </a:pPr>
            <a:r>
              <a:rPr sz="1100">
                <a:solidFill>
                  <a:srgbClr val="884400"/>
                </a:solidFill>
              </a:rPr>
              <a:t>▸  Manual processes sufficient for 1–5 branches — critical failure points at scale</a:t>
            </a:r>
            <a:endParaRPr sz="1100">
              <a:solidFill>
                <a:srgbClr val="884400"/>
              </a:solidFill>
            </a:endParaRPr>
          </a:p>
        </p:txBody>
      </p:sp>
      <p:sp>
        <p:nvSpPr>
          <p:cNvPr id="18" name="Rectangle 17"/>
          <p:cNvSpPr/>
          <p:nvPr/>
        </p:nvSpPr>
        <p:spPr>
          <a:xfrm>
            <a:off x="347472" y="4617720"/>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626864"/>
            <a:ext cx="10972800" cy="301752"/>
          </a:xfrm>
          <a:prstGeom prst="rect">
            <a:avLst/>
          </a:prstGeom>
          <a:noFill/>
        </p:spPr>
        <p:txBody>
          <a:bodyPr wrap="square">
            <a:spAutoFit/>
          </a:bodyPr>
          <a:lstStyle/>
          <a:p>
            <a:pPr algn="l"/>
            <a:r>
              <a:rPr sz="1200" b="1" i="0">
                <a:solidFill>
                  <a:srgbClr val="00995E"/>
                </a:solidFill>
              </a:rPr>
              <a:t>Deployment Context</a:t>
            </a:r>
            <a:endParaRPr sz="1200" b="1" i="0">
              <a:solidFill>
                <a:srgbClr val="00995E"/>
              </a:solidFill>
            </a:endParaRPr>
          </a:p>
        </p:txBody>
      </p:sp>
      <p:sp>
        <p:nvSpPr>
          <p:cNvPr id="20" name="TextBox 19"/>
          <p:cNvSpPr txBox="1"/>
          <p:nvPr/>
        </p:nvSpPr>
        <p:spPr>
          <a:xfrm>
            <a:off x="438912" y="4956048"/>
            <a:ext cx="5376672" cy="640080"/>
          </a:xfrm>
          <a:prstGeom prst="rect">
            <a:avLst/>
          </a:prstGeom>
          <a:noFill/>
        </p:spPr>
        <p:txBody>
          <a:bodyPr wrap="square">
            <a:spAutoFit/>
          </a:bodyPr>
          <a:lstStyle/>
          <a:p>
            <a:pPr>
              <a:spcBef>
                <a:spcPts val="500"/>
              </a:spcBef>
            </a:pPr>
            <a:r>
              <a:rPr sz="1100">
                <a:solidFill>
                  <a:srgbClr val="1A2330"/>
                </a:solidFill>
              </a:rPr>
              <a:t>▸  Prototype deployed and validated at one pilot branch</a:t>
            </a:r>
            <a:endParaRPr sz="1100">
              <a:solidFill>
                <a:srgbClr val="1A2330"/>
              </a:solidFill>
            </a:endParaRPr>
          </a:p>
          <a:p>
            <a:pPr>
              <a:spcBef>
                <a:spcPts val="500"/>
              </a:spcBef>
            </a:pPr>
            <a:r>
              <a:rPr sz="1100">
                <a:solidFill>
                  <a:srgbClr val="1A2330"/>
                </a:solidFill>
              </a:rPr>
              <a:t>▸  Modular architecture supports future scale-out to all branches</a:t>
            </a:r>
            <a:endParaRPr sz="1100">
              <a:solidFill>
                <a:srgbClr val="1A2330"/>
              </a:solidFill>
            </a:endParaRPr>
          </a:p>
        </p:txBody>
      </p:sp>
      <p:sp>
        <p:nvSpPr>
          <p:cNvPr id="21" name="Rectangle 20"/>
          <p:cNvSpPr/>
          <p:nvPr/>
        </p:nvSpPr>
        <p:spPr>
          <a:xfrm>
            <a:off x="6291072" y="1280160"/>
            <a:ext cx="5577840" cy="4892040"/>
          </a:xfrm>
          <a:prstGeom prst="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7472" y="1344168"/>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1170432"/>
            <a:ext cx="10972800" cy="301752"/>
          </a:xfrm>
          <a:prstGeom prst="rect">
            <a:avLst/>
          </a:prstGeom>
          <a:noFill/>
        </p:spPr>
        <p:txBody>
          <a:bodyPr wrap="square">
            <a:spAutoFit/>
          </a:bodyPr>
          <a:lstStyle/>
          <a:p>
            <a:pPr algn="l"/>
            <a:r>
              <a:rPr sz="1200" b="1" i="0">
                <a:solidFill>
                  <a:srgbClr val="007A4A"/>
                </a:solidFill>
              </a:rPr>
              <a:t>Researcher's Motivation (§1.2)</a:t>
            </a:r>
            <a:endParaRPr sz="1200" b="1" i="0">
              <a:solidFill>
                <a:srgbClr val="007A4A"/>
              </a:solidFill>
            </a:endParaRPr>
          </a:p>
        </p:txBody>
      </p:sp>
      <p:sp>
        <p:nvSpPr>
          <p:cNvPr id="24" name="TextBox 23"/>
          <p:cNvSpPr txBox="1"/>
          <p:nvPr/>
        </p:nvSpPr>
        <p:spPr>
          <a:xfrm>
            <a:off x="6400800" y="1700784"/>
            <a:ext cx="5349240" cy="1417320"/>
          </a:xfrm>
          <a:prstGeom prst="rect">
            <a:avLst/>
          </a:prstGeom>
          <a:noFill/>
        </p:spPr>
        <p:txBody>
          <a:bodyPr wrap="square">
            <a:spAutoFit/>
          </a:bodyPr>
          <a:lstStyle/>
          <a:p>
            <a:pPr algn="l"/>
            <a:r>
              <a:rPr sz="1100" b="0" i="0">
                <a:solidFill>
                  <a:srgbClr val="1A2330"/>
                </a:solidFill>
              </a:rPr>
              <a:t>During a 2nd-year attachment at Digisoft Solutions, the researcher co-developed a comprehensive management system for Budget Wear — a 10-branch Nairobi thrift store. Visiting Think Twice Stores as a customer revealed the same manual inefficiencies at 3× the scale and branch count, with no integrated digital solution in place.</a:t>
            </a:r>
            <a:endParaRPr sz="1100" b="0" i="0">
              <a:solidFill>
                <a:srgbClr val="1A2330"/>
              </a:solidFill>
            </a:endParaRPr>
          </a:p>
        </p:txBody>
      </p:sp>
      <p:sp>
        <p:nvSpPr>
          <p:cNvPr id="25" name="Rectangle 24"/>
          <p:cNvSpPr/>
          <p:nvPr/>
        </p:nvSpPr>
        <p:spPr>
          <a:xfrm>
            <a:off x="347472" y="3246120"/>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163823"/>
            <a:ext cx="10972800" cy="301752"/>
          </a:xfrm>
          <a:prstGeom prst="rect">
            <a:avLst/>
          </a:prstGeom>
          <a:noFill/>
        </p:spPr>
        <p:txBody>
          <a:bodyPr wrap="square">
            <a:spAutoFit/>
          </a:bodyPr>
          <a:lstStyle/>
          <a:p>
            <a:pPr algn="l"/>
            <a:r>
              <a:rPr sz="1200" b="1" i="0">
                <a:solidFill>
                  <a:srgbClr val="007A4A"/>
                </a:solidFill>
              </a:rPr>
              <a:t>Research Aim (§1.5)</a:t>
            </a:r>
            <a:endParaRPr sz="1200" b="1" i="0">
              <a:solidFill>
                <a:srgbClr val="007A4A"/>
              </a:solidFill>
            </a:endParaRPr>
          </a:p>
        </p:txBody>
      </p:sp>
      <p:sp>
        <p:nvSpPr>
          <p:cNvPr id="27" name="TextBox 26"/>
          <p:cNvSpPr txBox="1"/>
          <p:nvPr/>
        </p:nvSpPr>
        <p:spPr>
          <a:xfrm>
            <a:off x="6400800" y="3584448"/>
            <a:ext cx="5349240" cy="1188720"/>
          </a:xfrm>
          <a:prstGeom prst="rect">
            <a:avLst/>
          </a:prstGeom>
          <a:noFill/>
        </p:spPr>
        <p:txBody>
          <a:bodyPr wrap="square">
            <a:spAutoFit/>
          </a:bodyPr>
          <a:lstStyle/>
          <a:p>
            <a:pPr algn="l"/>
            <a:r>
              <a:rPr sz="1100" b="0" i="1">
                <a:solidFill>
                  <a:srgbClr val="1A2330"/>
                </a:solidFill>
              </a:rPr>
              <a:t>To design and develop a comprehensive computerised Thrift Store Management System that transforms manual and semi-automated processes into a fully integrated digital solution — validated at a single branch, architected for full-chain deployment.</a:t>
            </a:r>
            <a:endParaRPr sz="1100" b="0" i="1">
              <a:solidFill>
                <a:srgbClr val="1A2330"/>
              </a:solidFill>
            </a:endParaRPr>
          </a:p>
        </p:txBody>
      </p:sp>
      <p:sp>
        <p:nvSpPr>
          <p:cNvPr id="28" name="Rectangle 27"/>
          <p:cNvSpPr/>
          <p:nvPr/>
        </p:nvSpPr>
        <p:spPr>
          <a:xfrm>
            <a:off x="347472" y="4892040"/>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901183"/>
            <a:ext cx="10972800" cy="301752"/>
          </a:xfrm>
          <a:prstGeom prst="rect">
            <a:avLst/>
          </a:prstGeom>
          <a:noFill/>
        </p:spPr>
        <p:txBody>
          <a:bodyPr wrap="square">
            <a:spAutoFit/>
          </a:bodyPr>
          <a:lstStyle/>
          <a:p>
            <a:pPr algn="l"/>
            <a:r>
              <a:rPr sz="1200" b="1" i="0">
                <a:solidFill>
                  <a:srgbClr val="007A4A"/>
                </a:solidFill>
              </a:rPr>
              <a:t>Justification (§1.7)</a:t>
            </a:r>
            <a:endParaRPr sz="1200" b="1" i="0">
              <a:solidFill>
                <a:srgbClr val="007A4A"/>
              </a:solidFill>
            </a:endParaRPr>
          </a:p>
        </p:txBody>
      </p:sp>
      <p:sp>
        <p:nvSpPr>
          <p:cNvPr id="30" name="TextBox 29"/>
          <p:cNvSpPr txBox="1"/>
          <p:nvPr/>
        </p:nvSpPr>
        <p:spPr>
          <a:xfrm>
            <a:off x="6400800" y="5230368"/>
            <a:ext cx="5349240" cy="822960"/>
          </a:xfrm>
          <a:prstGeom prst="rect">
            <a:avLst/>
          </a:prstGeom>
          <a:noFill/>
        </p:spPr>
        <p:txBody>
          <a:bodyPr wrap="square">
            <a:spAutoFit/>
          </a:bodyPr>
          <a:lstStyle/>
          <a:p>
            <a:pPr>
              <a:spcBef>
                <a:spcPts val="500"/>
              </a:spcBef>
            </a:pPr>
            <a:r>
              <a:rPr sz="1100">
                <a:solidFill>
                  <a:srgbClr val="1A2330"/>
                </a:solidFill>
              </a:rPr>
              <a:t>▸  Reduces inventory discrepancies and financial losses</a:t>
            </a:r>
            <a:endParaRPr sz="1100">
              <a:solidFill>
                <a:srgbClr val="1A2330"/>
              </a:solidFill>
            </a:endParaRPr>
          </a:p>
          <a:p>
            <a:pPr>
              <a:spcBef>
                <a:spcPts val="500"/>
              </a:spcBef>
            </a:pPr>
            <a:r>
              <a:rPr sz="1100">
                <a:solidFill>
                  <a:srgbClr val="1A2330"/>
                </a:solidFill>
              </a:rPr>
              <a:t>▸  Faster transaction processing improves customer experience</a:t>
            </a:r>
            <a:endParaRPr sz="1100">
              <a:solidFill>
                <a:srgbClr val="1A2330"/>
              </a:solidFill>
            </a:endParaRPr>
          </a:p>
          <a:p>
            <a:pPr>
              <a:spcBef>
                <a:spcPts val="500"/>
              </a:spcBef>
            </a:pPr>
            <a:r>
              <a:rPr sz="1100">
                <a:solidFill>
                  <a:srgbClr val="1A2330"/>
                </a:solidFill>
              </a:rPr>
              <a:t>▸  Automated reporting enables data-driven management decisions</a:t>
            </a:r>
            <a:endParaRPr sz="1100">
              <a:solidFill>
                <a:srgbClr val="1A233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Problem Statement</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§1.4 Problem Statement</a:t>
            </a:r>
            <a:endParaRPr sz="1100" b="0" i="1">
              <a:solidFill>
                <a:srgbClr val="00C278"/>
              </a:solidFill>
            </a:endParaRPr>
          </a:p>
        </p:txBody>
      </p:sp>
      <p:sp>
        <p:nvSpPr>
          <p:cNvPr id="6" name="Rectangle 5"/>
          <p:cNvSpPr/>
          <p:nvPr/>
        </p:nvSpPr>
        <p:spPr>
          <a:xfrm>
            <a:off x="9445752" y="0"/>
            <a:ext cx="2743200" cy="34747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1: Introduction</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4 / 16</a:t>
            </a:r>
            <a:endParaRPr sz="850" b="1" i="0">
              <a:solidFill>
                <a:srgbClr val="FFFFFF"/>
              </a:solidFill>
            </a:endParaRPr>
          </a:p>
        </p:txBody>
      </p:sp>
      <p:sp>
        <p:nvSpPr>
          <p:cNvPr id="11" name="Rectangle 10"/>
          <p:cNvSpPr/>
          <p:nvPr/>
        </p:nvSpPr>
        <p:spPr>
          <a:xfrm>
            <a:off x="320040" y="1280160"/>
            <a:ext cx="5577840" cy="420624"/>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1280160"/>
            <a:ext cx="5358384" cy="420624"/>
          </a:xfrm>
          <a:prstGeom prst="rect">
            <a:avLst/>
          </a:prstGeom>
          <a:noFill/>
        </p:spPr>
        <p:txBody>
          <a:bodyPr wrap="square">
            <a:spAutoFit/>
          </a:bodyPr>
          <a:lstStyle/>
          <a:p>
            <a:pPr algn="l"/>
            <a:r>
              <a:rPr sz="1200" b="1" i="0">
                <a:solidFill>
                  <a:srgbClr val="FFFFFF"/>
                </a:solidFill>
              </a:rPr>
              <a:t>📉  Inventory Inaccuracy</a:t>
            </a:r>
            <a:endParaRPr sz="1200" b="1" i="0">
              <a:solidFill>
                <a:srgbClr val="FFFFFF"/>
              </a:solidFill>
            </a:endParaRPr>
          </a:p>
        </p:txBody>
      </p:sp>
      <p:sp>
        <p:nvSpPr>
          <p:cNvPr id="13" name="Rectangle 12"/>
          <p:cNvSpPr/>
          <p:nvPr/>
        </p:nvSpPr>
        <p:spPr>
          <a:xfrm>
            <a:off x="320040" y="1700784"/>
            <a:ext cx="5577840" cy="13533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755648"/>
            <a:ext cx="5321808" cy="1234440"/>
          </a:xfrm>
          <a:prstGeom prst="rect">
            <a:avLst/>
          </a:prstGeom>
          <a:noFill/>
        </p:spPr>
        <p:txBody>
          <a:bodyPr wrap="square">
            <a:spAutoFit/>
          </a:bodyPr>
          <a:lstStyle/>
          <a:p>
            <a:pPr algn="l"/>
            <a:r>
              <a:rPr sz="1050" b="0" i="0">
                <a:solidFill>
                  <a:srgbClr val="1A2330"/>
                </a:solidFill>
              </a:rPr>
              <a:t>Stock records become outdated within hours of a transaction. Losses from theft, misplacement, and unrecorded movements compound — reorder decisions rely on unreliable data.</a:t>
            </a:r>
            <a:endParaRPr sz="1050" b="0" i="0">
              <a:solidFill>
                <a:srgbClr val="1A2330"/>
              </a:solidFill>
            </a:endParaRPr>
          </a:p>
        </p:txBody>
      </p:sp>
      <p:sp>
        <p:nvSpPr>
          <p:cNvPr id="15" name="Rectangle 14"/>
          <p:cNvSpPr/>
          <p:nvPr/>
        </p:nvSpPr>
        <p:spPr>
          <a:xfrm>
            <a:off x="6291072" y="1280160"/>
            <a:ext cx="5577840" cy="420624"/>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280160"/>
            <a:ext cx="5358384" cy="420624"/>
          </a:xfrm>
          <a:prstGeom prst="rect">
            <a:avLst/>
          </a:prstGeom>
          <a:noFill/>
        </p:spPr>
        <p:txBody>
          <a:bodyPr wrap="square">
            <a:spAutoFit/>
          </a:bodyPr>
          <a:lstStyle/>
          <a:p>
            <a:pPr algn="l"/>
            <a:r>
              <a:rPr sz="1200" b="1" i="0">
                <a:solidFill>
                  <a:srgbClr val="FFFFFF"/>
                </a:solidFill>
              </a:rPr>
              <a:t>🔄  Two-Week Pricing Cycle Cannot Be Managed Manually</a:t>
            </a:r>
            <a:endParaRPr sz="1200" b="1" i="0">
              <a:solidFill>
                <a:srgbClr val="FFFFFF"/>
              </a:solidFill>
            </a:endParaRPr>
          </a:p>
        </p:txBody>
      </p:sp>
      <p:sp>
        <p:nvSpPr>
          <p:cNvPr id="17" name="Rectangle 16"/>
          <p:cNvSpPr/>
          <p:nvPr/>
        </p:nvSpPr>
        <p:spPr>
          <a:xfrm>
            <a:off x="6291072" y="1700784"/>
            <a:ext cx="5577840" cy="13533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1755648"/>
            <a:ext cx="5321808" cy="1234440"/>
          </a:xfrm>
          <a:prstGeom prst="rect">
            <a:avLst/>
          </a:prstGeom>
          <a:noFill/>
        </p:spPr>
        <p:txBody>
          <a:bodyPr wrap="square">
            <a:spAutoFit/>
          </a:bodyPr>
          <a:lstStyle/>
          <a:p>
            <a:pPr algn="l"/>
            <a:r>
              <a:rPr sz="1050" b="0" i="0">
                <a:solidFill>
                  <a:srgbClr val="1A2330"/>
                </a:solidFill>
              </a:rPr>
              <a:t>Items enter at Ksh 400 and reduce daily to a clearance floor (~Ksh 30) over 14 days. Administering this across 30+ branches with physical tags is error-prone and inconsistent.</a:t>
            </a:r>
            <a:endParaRPr sz="1050" b="0" i="0">
              <a:solidFill>
                <a:srgbClr val="1A2330"/>
              </a:solidFill>
            </a:endParaRPr>
          </a:p>
        </p:txBody>
      </p:sp>
      <p:sp>
        <p:nvSpPr>
          <p:cNvPr id="19" name="Rectangle 18"/>
          <p:cNvSpPr/>
          <p:nvPr/>
        </p:nvSpPr>
        <p:spPr>
          <a:xfrm>
            <a:off x="320040" y="3822191"/>
            <a:ext cx="5577840" cy="42062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 y="3822191"/>
            <a:ext cx="5358384" cy="420624"/>
          </a:xfrm>
          <a:prstGeom prst="rect">
            <a:avLst/>
          </a:prstGeom>
          <a:noFill/>
        </p:spPr>
        <p:txBody>
          <a:bodyPr wrap="square">
            <a:spAutoFit/>
          </a:bodyPr>
          <a:lstStyle/>
          <a:p>
            <a:pPr algn="l"/>
            <a:r>
              <a:rPr sz="1200" b="1" i="0">
                <a:solidFill>
                  <a:srgbClr val="FFFFFF"/>
                </a:solidFill>
              </a:rPr>
              <a:t>📊  Delayed &amp; Unreliable Reporting</a:t>
            </a:r>
            <a:endParaRPr sz="1200" b="1" i="0">
              <a:solidFill>
                <a:srgbClr val="FFFFFF"/>
              </a:solidFill>
            </a:endParaRPr>
          </a:p>
        </p:txBody>
      </p:sp>
      <p:sp>
        <p:nvSpPr>
          <p:cNvPr id="21" name="Rectangle 20"/>
          <p:cNvSpPr/>
          <p:nvPr/>
        </p:nvSpPr>
        <p:spPr>
          <a:xfrm>
            <a:off x="320040" y="4242816"/>
            <a:ext cx="5577840" cy="13533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297679"/>
            <a:ext cx="5321808" cy="1234440"/>
          </a:xfrm>
          <a:prstGeom prst="rect">
            <a:avLst/>
          </a:prstGeom>
          <a:noFill/>
        </p:spPr>
        <p:txBody>
          <a:bodyPr wrap="square">
            <a:spAutoFit/>
          </a:bodyPr>
          <a:lstStyle/>
          <a:p>
            <a:pPr algn="l"/>
            <a:r>
              <a:rPr sz="1050" b="0" i="0">
                <a:solidFill>
                  <a:srgbClr val="1A2330"/>
                </a:solidFill>
              </a:rPr>
              <a:t>Sales figures compiled manually at end of each shift — arithmetic errors common. Management lacks real-time data for restocking decisions, branch performance, or loss detection.</a:t>
            </a:r>
            <a:endParaRPr sz="1050" b="0" i="0">
              <a:solidFill>
                <a:srgbClr val="1A2330"/>
              </a:solidFill>
            </a:endParaRPr>
          </a:p>
        </p:txBody>
      </p:sp>
      <p:sp>
        <p:nvSpPr>
          <p:cNvPr id="23" name="Rectangle 22"/>
          <p:cNvSpPr/>
          <p:nvPr/>
        </p:nvSpPr>
        <p:spPr>
          <a:xfrm>
            <a:off x="6291072" y="3822191"/>
            <a:ext cx="5577840" cy="420624"/>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822191"/>
            <a:ext cx="5358384" cy="420624"/>
          </a:xfrm>
          <a:prstGeom prst="rect">
            <a:avLst/>
          </a:prstGeom>
          <a:noFill/>
        </p:spPr>
        <p:txBody>
          <a:bodyPr wrap="square">
            <a:spAutoFit/>
          </a:bodyPr>
          <a:lstStyle/>
          <a:p>
            <a:pPr algn="l"/>
            <a:r>
              <a:rPr sz="1200" b="1" i="0">
                <a:solidFill>
                  <a:srgbClr val="FFFFFF"/>
                </a:solidFill>
              </a:rPr>
              <a:t>🔐  No Accountability — No Audit Trail</a:t>
            </a:r>
            <a:endParaRPr sz="1200" b="1" i="0">
              <a:solidFill>
                <a:srgbClr val="FFFFFF"/>
              </a:solidFill>
            </a:endParaRPr>
          </a:p>
        </p:txBody>
      </p:sp>
      <p:sp>
        <p:nvSpPr>
          <p:cNvPr id="25" name="Rectangle 24"/>
          <p:cNvSpPr/>
          <p:nvPr/>
        </p:nvSpPr>
        <p:spPr>
          <a:xfrm>
            <a:off x="6291072" y="4242816"/>
            <a:ext cx="5577840" cy="13533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8232" y="4297679"/>
            <a:ext cx="5321808" cy="1234440"/>
          </a:xfrm>
          <a:prstGeom prst="rect">
            <a:avLst/>
          </a:prstGeom>
          <a:noFill/>
        </p:spPr>
        <p:txBody>
          <a:bodyPr wrap="square">
            <a:spAutoFit/>
          </a:bodyPr>
          <a:lstStyle/>
          <a:p>
            <a:pPr algn="l"/>
            <a:r>
              <a:rPr sz="1050" b="0" i="0">
                <a:solidFill>
                  <a:srgbClr val="1A2330"/>
                </a:solidFill>
              </a:rPr>
              <a:t>Without user authentication, role-based access, or audit logging, losses go undetected, fraudulent activity cannot be traced, and management oversight is severely impaired.</a:t>
            </a:r>
            <a:endParaRPr sz="1050" b="0" i="0">
              <a:solidFill>
                <a:srgbClr val="1A2330"/>
              </a:solidFill>
            </a:endParaRPr>
          </a:p>
        </p:txBody>
      </p:sp>
      <p:sp>
        <p:nvSpPr>
          <p:cNvPr id="27" name="Rectangle 26"/>
          <p:cNvSpPr/>
          <p:nvPr/>
        </p:nvSpPr>
        <p:spPr>
          <a:xfrm>
            <a:off x="320040" y="5669280"/>
            <a:ext cx="11548872" cy="530352"/>
          </a:xfrm>
          <a:prstGeom prst="rect">
            <a:avLst/>
          </a:prstGeom>
          <a:solidFill>
            <a:srgbClr val="FF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715000"/>
            <a:ext cx="11247120" cy="438912"/>
          </a:xfrm>
          <a:prstGeom prst="rect">
            <a:avLst/>
          </a:prstGeom>
          <a:noFill/>
        </p:spPr>
        <p:txBody>
          <a:bodyPr wrap="square">
            <a:spAutoFit/>
          </a:bodyPr>
          <a:lstStyle/>
          <a:p>
            <a:pPr algn="l"/>
            <a:r>
              <a:rPr sz="1050" b="1" i="1">
                <a:solidFill>
                  <a:srgbClr val="E07B00"/>
                </a:solidFill>
              </a:rPr>
              <a:t>The absence of a fully integrated automated management system restricts Think Twice Stores' operational efficiency, accountability and scalability — placing the business at a competitive disadvantage in Kenya's increasingly technology-driven retail environment.</a:t>
            </a:r>
            <a:endParaRPr sz="1050" b="1" i="1">
              <a:solidFill>
                <a:srgbClr val="E07B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Objectives of the Research</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§1.6.1 General Objective  |  §1.6.2 Specific Objectives</a:t>
            </a:r>
            <a:endParaRPr sz="1100" b="0" i="1">
              <a:solidFill>
                <a:srgbClr val="00C278"/>
              </a:solidFill>
            </a:endParaRPr>
          </a:p>
        </p:txBody>
      </p:sp>
      <p:sp>
        <p:nvSpPr>
          <p:cNvPr id="6" name="Rectangle 5"/>
          <p:cNvSpPr/>
          <p:nvPr/>
        </p:nvSpPr>
        <p:spPr>
          <a:xfrm>
            <a:off x="9445752" y="0"/>
            <a:ext cx="2743200" cy="34747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1: Introduction</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5 / 16</a:t>
            </a:r>
            <a:endParaRPr sz="850" b="1" i="0">
              <a:solidFill>
                <a:srgbClr val="FFFFFF"/>
              </a:solidFill>
            </a:endParaRPr>
          </a:p>
        </p:txBody>
      </p:sp>
      <p:sp>
        <p:nvSpPr>
          <p:cNvPr id="11" name="Rectangle 10"/>
          <p:cNvSpPr/>
          <p:nvPr/>
        </p:nvSpPr>
        <p:spPr>
          <a:xfrm>
            <a:off x="320040" y="1280160"/>
            <a:ext cx="11548872" cy="36576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280160"/>
            <a:ext cx="11338560" cy="365760"/>
          </a:xfrm>
          <a:prstGeom prst="rect">
            <a:avLst/>
          </a:prstGeom>
          <a:noFill/>
        </p:spPr>
        <p:txBody>
          <a:bodyPr wrap="square">
            <a:spAutoFit/>
          </a:bodyPr>
          <a:lstStyle/>
          <a:p>
            <a:pPr algn="l"/>
            <a:r>
              <a:rPr sz="1100" b="1" i="0">
                <a:solidFill>
                  <a:srgbClr val="FFFFFF"/>
                </a:solidFill>
              </a:rPr>
              <a:t>General Objective</a:t>
            </a:r>
            <a:endParaRPr sz="1100" b="1" i="0">
              <a:solidFill>
                <a:srgbClr val="FFFFFF"/>
              </a:solidFill>
            </a:endParaRPr>
          </a:p>
        </p:txBody>
      </p:sp>
      <p:sp>
        <p:nvSpPr>
          <p:cNvPr id="13" name="Rectangle 12"/>
          <p:cNvSpPr/>
          <p:nvPr/>
        </p:nvSpPr>
        <p:spPr>
          <a:xfrm>
            <a:off x="320040" y="1645920"/>
            <a:ext cx="11548872"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682496"/>
            <a:ext cx="11247120" cy="475488"/>
          </a:xfrm>
          <a:prstGeom prst="rect">
            <a:avLst/>
          </a:prstGeom>
          <a:noFill/>
        </p:spPr>
        <p:txBody>
          <a:bodyPr wrap="square">
            <a:spAutoFit/>
          </a:bodyPr>
          <a:lstStyle/>
          <a:p>
            <a:pPr algn="l"/>
            <a:r>
              <a:rPr sz="1100" b="0" i="1">
                <a:solidFill>
                  <a:srgbClr val="1A2330"/>
                </a:solidFill>
              </a:rPr>
              <a:t>To design and develop a comprehensive computerised Thrift Store Management System for Think Twice Stores that transforms manual and semi-automated operational processes into a fully integrated digital solution.</a:t>
            </a:r>
            <a:endParaRPr sz="1100" b="0" i="1">
              <a:solidFill>
                <a:srgbClr val="1A2330"/>
              </a:solidFill>
            </a:endParaRPr>
          </a:p>
        </p:txBody>
      </p:sp>
      <p:sp>
        <p:nvSpPr>
          <p:cNvPr id="15" name="Rectangle 14"/>
          <p:cNvSpPr/>
          <p:nvPr/>
        </p:nvSpPr>
        <p:spPr>
          <a:xfrm>
            <a:off x="320040" y="2331720"/>
            <a:ext cx="914400" cy="658368"/>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2331720"/>
            <a:ext cx="914400" cy="658368"/>
          </a:xfrm>
          <a:prstGeom prst="rect">
            <a:avLst/>
          </a:prstGeom>
          <a:noFill/>
        </p:spPr>
        <p:txBody>
          <a:bodyPr wrap="square">
            <a:spAutoFit/>
          </a:bodyPr>
          <a:lstStyle/>
          <a:p>
            <a:pPr algn="ctr"/>
            <a:r>
              <a:rPr sz="1400" b="1" i="0">
                <a:solidFill>
                  <a:srgbClr val="FFFFFF"/>
                </a:solidFill>
              </a:rPr>
              <a:t>SO1</a:t>
            </a:r>
            <a:endParaRPr sz="1400" b="1" i="0">
              <a:solidFill>
                <a:srgbClr val="FFFFFF"/>
              </a:solidFill>
            </a:endParaRPr>
          </a:p>
        </p:txBody>
      </p:sp>
      <p:sp>
        <p:nvSpPr>
          <p:cNvPr id="17" name="Rectangle 16"/>
          <p:cNvSpPr/>
          <p:nvPr/>
        </p:nvSpPr>
        <p:spPr>
          <a:xfrm>
            <a:off x="1261872" y="2331720"/>
            <a:ext cx="106070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2359151"/>
            <a:ext cx="10378440" cy="274320"/>
          </a:xfrm>
          <a:prstGeom prst="rect">
            <a:avLst/>
          </a:prstGeom>
          <a:noFill/>
        </p:spPr>
        <p:txBody>
          <a:bodyPr wrap="square">
            <a:spAutoFit/>
          </a:bodyPr>
          <a:lstStyle/>
          <a:p>
            <a:pPr algn="l"/>
            <a:r>
              <a:rPr sz="1100" b="1" i="0">
                <a:solidFill>
                  <a:srgbClr val="00995E"/>
                </a:solidFill>
              </a:rPr>
              <a:t>Procurement Management Module</a:t>
            </a:r>
            <a:endParaRPr sz="1100" b="1" i="0">
              <a:solidFill>
                <a:srgbClr val="00995E"/>
              </a:solidFill>
            </a:endParaRPr>
          </a:p>
        </p:txBody>
      </p:sp>
      <p:sp>
        <p:nvSpPr>
          <p:cNvPr id="19" name="TextBox 18"/>
          <p:cNvSpPr txBox="1"/>
          <p:nvPr/>
        </p:nvSpPr>
        <p:spPr>
          <a:xfrm>
            <a:off x="1371600" y="2642615"/>
            <a:ext cx="10378440" cy="347472"/>
          </a:xfrm>
          <a:prstGeom prst="rect">
            <a:avLst/>
          </a:prstGeom>
          <a:noFill/>
        </p:spPr>
        <p:txBody>
          <a:bodyPr wrap="square">
            <a:spAutoFit/>
          </a:bodyPr>
          <a:lstStyle/>
          <a:p>
            <a:pPr algn="l"/>
            <a:r>
              <a:rPr sz="1000" b="0" i="0">
                <a:solidFill>
                  <a:srgbClr val="1A2330"/>
                </a:solidFill>
              </a:rPr>
              <a:t>Design and implement a procurement module that automates the stock acquisition process — from purchase requisitions and supplier management through to goods receipt verification — providing a reliable, auditable restocking workflow.</a:t>
            </a:r>
            <a:endParaRPr sz="1000" b="0" i="0">
              <a:solidFill>
                <a:srgbClr val="1A2330"/>
              </a:solidFill>
            </a:endParaRPr>
          </a:p>
        </p:txBody>
      </p:sp>
      <p:sp>
        <p:nvSpPr>
          <p:cNvPr id="20" name="Rectangle 19"/>
          <p:cNvSpPr/>
          <p:nvPr/>
        </p:nvSpPr>
        <p:spPr>
          <a:xfrm>
            <a:off x="320040" y="3127248"/>
            <a:ext cx="914400" cy="658368"/>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3127248"/>
            <a:ext cx="914400" cy="658368"/>
          </a:xfrm>
          <a:prstGeom prst="rect">
            <a:avLst/>
          </a:prstGeom>
          <a:noFill/>
        </p:spPr>
        <p:txBody>
          <a:bodyPr wrap="square">
            <a:spAutoFit/>
          </a:bodyPr>
          <a:lstStyle/>
          <a:p>
            <a:pPr algn="ctr"/>
            <a:r>
              <a:rPr sz="1400" b="1" i="0">
                <a:solidFill>
                  <a:srgbClr val="FFFFFF"/>
                </a:solidFill>
              </a:rPr>
              <a:t>SO2</a:t>
            </a:r>
            <a:endParaRPr sz="1400" b="1" i="0">
              <a:solidFill>
                <a:srgbClr val="FFFFFF"/>
              </a:solidFill>
            </a:endParaRPr>
          </a:p>
        </p:txBody>
      </p:sp>
      <p:sp>
        <p:nvSpPr>
          <p:cNvPr id="22" name="Rectangle 21"/>
          <p:cNvSpPr/>
          <p:nvPr/>
        </p:nvSpPr>
        <p:spPr>
          <a:xfrm>
            <a:off x="1261872" y="3127248"/>
            <a:ext cx="106070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1600" y="3154679"/>
            <a:ext cx="10378440" cy="274320"/>
          </a:xfrm>
          <a:prstGeom prst="rect">
            <a:avLst/>
          </a:prstGeom>
          <a:noFill/>
        </p:spPr>
        <p:txBody>
          <a:bodyPr wrap="square">
            <a:spAutoFit/>
          </a:bodyPr>
          <a:lstStyle/>
          <a:p>
            <a:pPr algn="l"/>
            <a:r>
              <a:rPr sz="1100" b="1" i="0">
                <a:solidFill>
                  <a:srgbClr val="E07B00"/>
                </a:solidFill>
              </a:rPr>
              <a:t>Dynamic Price Cycle Management System</a:t>
            </a:r>
            <a:endParaRPr sz="1100" b="1" i="0">
              <a:solidFill>
                <a:srgbClr val="E07B00"/>
              </a:solidFill>
            </a:endParaRPr>
          </a:p>
        </p:txBody>
      </p:sp>
      <p:sp>
        <p:nvSpPr>
          <p:cNvPr id="24" name="TextBox 23"/>
          <p:cNvSpPr txBox="1"/>
          <p:nvPr/>
        </p:nvSpPr>
        <p:spPr>
          <a:xfrm>
            <a:off x="1371600" y="3438144"/>
            <a:ext cx="10378440" cy="347472"/>
          </a:xfrm>
          <a:prstGeom prst="rect">
            <a:avLst/>
          </a:prstGeom>
          <a:noFill/>
        </p:spPr>
        <p:txBody>
          <a:bodyPr wrap="square">
            <a:spAutoFit/>
          </a:bodyPr>
          <a:lstStyle/>
          <a:p>
            <a:pPr algn="l"/>
            <a:r>
              <a:rPr sz="1000" b="0" i="0">
                <a:solidFill>
                  <a:srgbClr val="1A2330"/>
                </a:solidFill>
              </a:rPr>
              <a:t>Develop a system that automates daily price reductions across inventory items throughout the two-week markdown cycle (Ksh 400 → clearance floor) — eliminating manual re-tagging.</a:t>
            </a:r>
            <a:endParaRPr sz="1000" b="0" i="0">
              <a:solidFill>
                <a:srgbClr val="1A2330"/>
              </a:solidFill>
            </a:endParaRPr>
          </a:p>
        </p:txBody>
      </p:sp>
      <p:sp>
        <p:nvSpPr>
          <p:cNvPr id="25" name="Rectangle 24"/>
          <p:cNvSpPr/>
          <p:nvPr/>
        </p:nvSpPr>
        <p:spPr>
          <a:xfrm>
            <a:off x="320040" y="3922776"/>
            <a:ext cx="914400" cy="658368"/>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3922776"/>
            <a:ext cx="914400" cy="658368"/>
          </a:xfrm>
          <a:prstGeom prst="rect">
            <a:avLst/>
          </a:prstGeom>
          <a:noFill/>
        </p:spPr>
        <p:txBody>
          <a:bodyPr wrap="square">
            <a:spAutoFit/>
          </a:bodyPr>
          <a:lstStyle/>
          <a:p>
            <a:pPr algn="ctr"/>
            <a:r>
              <a:rPr sz="1400" b="1" i="0">
                <a:solidFill>
                  <a:srgbClr val="FFFFFF"/>
                </a:solidFill>
              </a:rPr>
              <a:t>SO3</a:t>
            </a:r>
            <a:endParaRPr sz="1400" b="1" i="0">
              <a:solidFill>
                <a:srgbClr val="FFFFFF"/>
              </a:solidFill>
            </a:endParaRPr>
          </a:p>
        </p:txBody>
      </p:sp>
      <p:sp>
        <p:nvSpPr>
          <p:cNvPr id="27" name="Rectangle 26"/>
          <p:cNvSpPr/>
          <p:nvPr/>
        </p:nvSpPr>
        <p:spPr>
          <a:xfrm>
            <a:off x="1261872" y="3922776"/>
            <a:ext cx="106070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71600" y="3950208"/>
            <a:ext cx="10378440" cy="274320"/>
          </a:xfrm>
          <a:prstGeom prst="rect">
            <a:avLst/>
          </a:prstGeom>
          <a:noFill/>
        </p:spPr>
        <p:txBody>
          <a:bodyPr wrap="square">
            <a:spAutoFit/>
          </a:bodyPr>
          <a:lstStyle/>
          <a:p>
            <a:pPr algn="l"/>
            <a:r>
              <a:rPr sz="1100" b="1" i="0">
                <a:solidFill>
                  <a:srgbClr val="007A4A"/>
                </a:solidFill>
              </a:rPr>
              <a:t>Real-Time Point of Sale System</a:t>
            </a:r>
            <a:endParaRPr sz="1100" b="1" i="0">
              <a:solidFill>
                <a:srgbClr val="007A4A"/>
              </a:solidFill>
            </a:endParaRPr>
          </a:p>
        </p:txBody>
      </p:sp>
      <p:sp>
        <p:nvSpPr>
          <p:cNvPr id="29" name="TextBox 28"/>
          <p:cNvSpPr txBox="1"/>
          <p:nvPr/>
        </p:nvSpPr>
        <p:spPr>
          <a:xfrm>
            <a:off x="1371600" y="4233672"/>
            <a:ext cx="10378440" cy="347472"/>
          </a:xfrm>
          <a:prstGeom prst="rect">
            <a:avLst/>
          </a:prstGeom>
          <a:noFill/>
        </p:spPr>
        <p:txBody>
          <a:bodyPr wrap="square">
            <a:spAutoFit/>
          </a:bodyPr>
          <a:lstStyle/>
          <a:p>
            <a:pPr algn="l"/>
            <a:r>
              <a:rPr sz="1000" b="0" i="0">
                <a:solidFill>
                  <a:srgbClr val="1A2330"/>
                </a:solidFill>
              </a:rPr>
              <a:t>Design a POS that automatically deducts sold quantities from inventory in real time upon every transaction, maintaining perpetual stock accuracy with a barcode-enabled checkout interface.</a:t>
            </a:r>
            <a:endParaRPr sz="1000" b="0" i="0">
              <a:solidFill>
                <a:srgbClr val="1A2330"/>
              </a:solidFill>
            </a:endParaRPr>
          </a:p>
        </p:txBody>
      </p:sp>
      <p:sp>
        <p:nvSpPr>
          <p:cNvPr id="30" name="Rectangle 29"/>
          <p:cNvSpPr/>
          <p:nvPr/>
        </p:nvSpPr>
        <p:spPr>
          <a:xfrm>
            <a:off x="320040" y="4718304"/>
            <a:ext cx="914400"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4718304"/>
            <a:ext cx="914400" cy="658368"/>
          </a:xfrm>
          <a:prstGeom prst="rect">
            <a:avLst/>
          </a:prstGeom>
          <a:noFill/>
        </p:spPr>
        <p:txBody>
          <a:bodyPr wrap="square">
            <a:spAutoFit/>
          </a:bodyPr>
          <a:lstStyle/>
          <a:p>
            <a:pPr algn="ctr"/>
            <a:r>
              <a:rPr sz="1400" b="1" i="0">
                <a:solidFill>
                  <a:srgbClr val="FFFFFF"/>
                </a:solidFill>
              </a:rPr>
              <a:t>SO4</a:t>
            </a:r>
            <a:endParaRPr sz="1400" b="1" i="0">
              <a:solidFill>
                <a:srgbClr val="FFFFFF"/>
              </a:solidFill>
            </a:endParaRPr>
          </a:p>
        </p:txBody>
      </p:sp>
      <p:sp>
        <p:nvSpPr>
          <p:cNvPr id="32" name="Rectangle 31"/>
          <p:cNvSpPr/>
          <p:nvPr/>
        </p:nvSpPr>
        <p:spPr>
          <a:xfrm>
            <a:off x="1261872" y="4718304"/>
            <a:ext cx="106070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71600" y="4745736"/>
            <a:ext cx="10378440" cy="274320"/>
          </a:xfrm>
          <a:prstGeom prst="rect">
            <a:avLst/>
          </a:prstGeom>
          <a:noFill/>
        </p:spPr>
        <p:txBody>
          <a:bodyPr wrap="square">
            <a:spAutoFit/>
          </a:bodyPr>
          <a:lstStyle/>
          <a:p>
            <a:pPr algn="l"/>
            <a:r>
              <a:rPr sz="1100" b="1" i="0">
                <a:solidFill>
                  <a:srgbClr val="2563EB"/>
                </a:solidFill>
              </a:rPr>
              <a:t>M-Pesa C2B Payment Integration</a:t>
            </a:r>
            <a:endParaRPr sz="1100" b="1" i="0">
              <a:solidFill>
                <a:srgbClr val="2563EB"/>
              </a:solidFill>
            </a:endParaRPr>
          </a:p>
        </p:txBody>
      </p:sp>
      <p:sp>
        <p:nvSpPr>
          <p:cNvPr id="34" name="TextBox 33"/>
          <p:cNvSpPr txBox="1"/>
          <p:nvPr/>
        </p:nvSpPr>
        <p:spPr>
          <a:xfrm>
            <a:off x="1371600" y="5029200"/>
            <a:ext cx="10378440" cy="347472"/>
          </a:xfrm>
          <a:prstGeom prst="rect">
            <a:avLst/>
          </a:prstGeom>
          <a:noFill/>
        </p:spPr>
        <p:txBody>
          <a:bodyPr wrap="square">
            <a:spAutoFit/>
          </a:bodyPr>
          <a:lstStyle/>
          <a:p>
            <a:pPr algn="l"/>
            <a:r>
              <a:rPr sz="1000" b="0" i="0">
                <a:solidFill>
                  <a:srgbClr val="1A2330"/>
                </a:solidFill>
              </a:rPr>
              <a:t>Integrate M-Pesa C2B functionality via the Safaricom Daraja API — enabling automated STK Push initiation, callback-based transaction matching, and real-time payment reconciliation.</a:t>
            </a:r>
            <a:endParaRPr sz="1000" b="0" i="0">
              <a:solidFill>
                <a:srgbClr val="1A233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Research Questions</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§1.6.3 — Each question maps directly to its corresponding specific objective</a:t>
            </a:r>
            <a:endParaRPr sz="1100" b="0" i="1">
              <a:solidFill>
                <a:srgbClr val="00C278"/>
              </a:solidFill>
            </a:endParaRPr>
          </a:p>
        </p:txBody>
      </p:sp>
      <p:sp>
        <p:nvSpPr>
          <p:cNvPr id="6" name="Rectangle 5"/>
          <p:cNvSpPr/>
          <p:nvPr/>
        </p:nvSpPr>
        <p:spPr>
          <a:xfrm>
            <a:off x="9445752" y="0"/>
            <a:ext cx="2743200" cy="34747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1: Introduction</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6 / 16</a:t>
            </a:r>
            <a:endParaRPr sz="850" b="1" i="0">
              <a:solidFill>
                <a:srgbClr val="FFFFFF"/>
              </a:solidFill>
            </a:endParaRPr>
          </a:p>
        </p:txBody>
      </p:sp>
      <p:sp>
        <p:nvSpPr>
          <p:cNvPr id="11" name="Rectangle 10"/>
          <p:cNvSpPr/>
          <p:nvPr/>
        </p:nvSpPr>
        <p:spPr>
          <a:xfrm>
            <a:off x="320040" y="1298448"/>
            <a:ext cx="1097280" cy="768096"/>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1298448"/>
            <a:ext cx="1097280" cy="768096"/>
          </a:xfrm>
          <a:prstGeom prst="rect">
            <a:avLst/>
          </a:prstGeom>
          <a:noFill/>
        </p:spPr>
        <p:txBody>
          <a:bodyPr wrap="square">
            <a:spAutoFit/>
          </a:bodyPr>
          <a:lstStyle/>
          <a:p>
            <a:pPr algn="ctr"/>
            <a:r>
              <a:rPr sz="1000" b="1" i="0">
                <a:solidFill>
                  <a:srgbClr val="FFFFFF"/>
                </a:solidFill>
              </a:rPr>
              <a:t>RQ1 → SO1</a:t>
            </a:r>
            <a:endParaRPr sz="1000" b="1" i="0">
              <a:solidFill>
                <a:srgbClr val="FFFFFF"/>
              </a:solidFill>
            </a:endParaRPr>
          </a:p>
        </p:txBody>
      </p:sp>
      <p:sp>
        <p:nvSpPr>
          <p:cNvPr id="13" name="Rectangle 12"/>
          <p:cNvSpPr/>
          <p:nvPr/>
        </p:nvSpPr>
        <p:spPr>
          <a:xfrm>
            <a:off x="1444752" y="1298448"/>
            <a:ext cx="10424160" cy="7680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1353312"/>
            <a:ext cx="10195560" cy="676656"/>
          </a:xfrm>
          <a:prstGeom prst="rect">
            <a:avLst/>
          </a:prstGeom>
          <a:noFill/>
        </p:spPr>
        <p:txBody>
          <a:bodyPr wrap="square">
            <a:spAutoFit/>
          </a:bodyPr>
          <a:lstStyle/>
          <a:p>
            <a:pPr algn="l"/>
            <a:r>
              <a:rPr sz="1050" b="0" i="0">
                <a:solidFill>
                  <a:srgbClr val="1A2330"/>
                </a:solidFill>
              </a:rPr>
              <a:t>How can a procurement management module be designed to automate and accurately record the stock acquisition process — from purchase requisition and supplier management through to goods receipt verification — ensuring a reliable, auditable restocking workflow?</a:t>
            </a:r>
            <a:endParaRPr sz="1050" b="0" i="0">
              <a:solidFill>
                <a:srgbClr val="1A2330"/>
              </a:solidFill>
            </a:endParaRPr>
          </a:p>
        </p:txBody>
      </p:sp>
      <p:sp>
        <p:nvSpPr>
          <p:cNvPr id="15" name="Rectangle 14"/>
          <p:cNvSpPr/>
          <p:nvPr/>
        </p:nvSpPr>
        <p:spPr>
          <a:xfrm>
            <a:off x="320040" y="2212848"/>
            <a:ext cx="1097280" cy="768096"/>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2212848"/>
            <a:ext cx="1097280" cy="768096"/>
          </a:xfrm>
          <a:prstGeom prst="rect">
            <a:avLst/>
          </a:prstGeom>
          <a:noFill/>
        </p:spPr>
        <p:txBody>
          <a:bodyPr wrap="square">
            <a:spAutoFit/>
          </a:bodyPr>
          <a:lstStyle/>
          <a:p>
            <a:pPr algn="ctr"/>
            <a:r>
              <a:rPr sz="1000" b="1" i="0">
                <a:solidFill>
                  <a:srgbClr val="FFFFFF"/>
                </a:solidFill>
              </a:rPr>
              <a:t>RQ2 → SO2</a:t>
            </a:r>
            <a:endParaRPr sz="1000" b="1" i="0">
              <a:solidFill>
                <a:srgbClr val="FFFFFF"/>
              </a:solidFill>
            </a:endParaRPr>
          </a:p>
        </p:txBody>
      </p:sp>
      <p:sp>
        <p:nvSpPr>
          <p:cNvPr id="17" name="Rectangle 16"/>
          <p:cNvSpPr/>
          <p:nvPr/>
        </p:nvSpPr>
        <p:spPr>
          <a:xfrm>
            <a:off x="1444752" y="2212848"/>
            <a:ext cx="10424160" cy="7680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54480" y="2267712"/>
            <a:ext cx="10195560" cy="676656"/>
          </a:xfrm>
          <a:prstGeom prst="rect">
            <a:avLst/>
          </a:prstGeom>
          <a:noFill/>
        </p:spPr>
        <p:txBody>
          <a:bodyPr wrap="square">
            <a:spAutoFit/>
          </a:bodyPr>
          <a:lstStyle/>
          <a:p>
            <a:pPr algn="l"/>
            <a:r>
              <a:rPr sz="1050" b="0" i="0">
                <a:solidFill>
                  <a:srgbClr val="1A2330"/>
                </a:solidFill>
              </a:rPr>
              <a:t>How can an automated price cycle management system be developed to compute and apply daily price reductions across inventory items, ensuring accurate, consistent, tamper-free pricing throughout the two-week markdown cycle without manual price updates or physical re-tagging?</a:t>
            </a:r>
            <a:endParaRPr sz="1050" b="0" i="0">
              <a:solidFill>
                <a:srgbClr val="1A2330"/>
              </a:solidFill>
            </a:endParaRPr>
          </a:p>
        </p:txBody>
      </p:sp>
      <p:sp>
        <p:nvSpPr>
          <p:cNvPr id="19" name="Rectangle 18"/>
          <p:cNvSpPr/>
          <p:nvPr/>
        </p:nvSpPr>
        <p:spPr>
          <a:xfrm>
            <a:off x="320040" y="3127248"/>
            <a:ext cx="1097280" cy="768096"/>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3127248"/>
            <a:ext cx="1097280" cy="768096"/>
          </a:xfrm>
          <a:prstGeom prst="rect">
            <a:avLst/>
          </a:prstGeom>
          <a:noFill/>
        </p:spPr>
        <p:txBody>
          <a:bodyPr wrap="square">
            <a:spAutoFit/>
          </a:bodyPr>
          <a:lstStyle/>
          <a:p>
            <a:pPr algn="ctr"/>
            <a:r>
              <a:rPr sz="1000" b="1" i="0">
                <a:solidFill>
                  <a:srgbClr val="FFFFFF"/>
                </a:solidFill>
              </a:rPr>
              <a:t>RQ3 → SO3</a:t>
            </a:r>
            <a:endParaRPr sz="1000" b="1" i="0">
              <a:solidFill>
                <a:srgbClr val="FFFFFF"/>
              </a:solidFill>
            </a:endParaRPr>
          </a:p>
        </p:txBody>
      </p:sp>
      <p:sp>
        <p:nvSpPr>
          <p:cNvPr id="21" name="Rectangle 20"/>
          <p:cNvSpPr/>
          <p:nvPr/>
        </p:nvSpPr>
        <p:spPr>
          <a:xfrm>
            <a:off x="1444752" y="3127248"/>
            <a:ext cx="10424160" cy="7680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54480" y="3182112"/>
            <a:ext cx="10195560" cy="676656"/>
          </a:xfrm>
          <a:prstGeom prst="rect">
            <a:avLst/>
          </a:prstGeom>
          <a:noFill/>
        </p:spPr>
        <p:txBody>
          <a:bodyPr wrap="square">
            <a:spAutoFit/>
          </a:bodyPr>
          <a:lstStyle/>
          <a:p>
            <a:pPr algn="l"/>
            <a:r>
              <a:rPr sz="1050" b="0" i="0">
                <a:solidFill>
                  <a:srgbClr val="1A2330"/>
                </a:solidFill>
              </a:rPr>
              <a:t>How can a Point of Sale system be designed to automatically deduct sold quantities from inventory in real time upon every transaction, eliminating stock discrepancies and ensuring management always has access to accurate, up-to-date stock levels?</a:t>
            </a:r>
            <a:endParaRPr sz="1050" b="0" i="0">
              <a:solidFill>
                <a:srgbClr val="1A2330"/>
              </a:solidFill>
            </a:endParaRPr>
          </a:p>
        </p:txBody>
      </p:sp>
      <p:sp>
        <p:nvSpPr>
          <p:cNvPr id="23" name="Rectangle 22"/>
          <p:cNvSpPr/>
          <p:nvPr/>
        </p:nvSpPr>
        <p:spPr>
          <a:xfrm>
            <a:off x="320040" y="4041648"/>
            <a:ext cx="1097280" cy="76809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4041648"/>
            <a:ext cx="1097280" cy="768096"/>
          </a:xfrm>
          <a:prstGeom prst="rect">
            <a:avLst/>
          </a:prstGeom>
          <a:noFill/>
        </p:spPr>
        <p:txBody>
          <a:bodyPr wrap="square">
            <a:spAutoFit/>
          </a:bodyPr>
          <a:lstStyle/>
          <a:p>
            <a:pPr algn="ctr"/>
            <a:r>
              <a:rPr sz="1000" b="1" i="0">
                <a:solidFill>
                  <a:srgbClr val="FFFFFF"/>
                </a:solidFill>
              </a:rPr>
              <a:t>RQ4 → SO4</a:t>
            </a:r>
            <a:endParaRPr sz="1000" b="1" i="0">
              <a:solidFill>
                <a:srgbClr val="FFFFFF"/>
              </a:solidFill>
            </a:endParaRPr>
          </a:p>
        </p:txBody>
      </p:sp>
      <p:sp>
        <p:nvSpPr>
          <p:cNvPr id="25" name="Rectangle 24"/>
          <p:cNvSpPr/>
          <p:nvPr/>
        </p:nvSpPr>
        <p:spPr>
          <a:xfrm>
            <a:off x="1444752" y="4041648"/>
            <a:ext cx="10424160" cy="7680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4096511"/>
            <a:ext cx="10195560" cy="676656"/>
          </a:xfrm>
          <a:prstGeom prst="rect">
            <a:avLst/>
          </a:prstGeom>
          <a:noFill/>
        </p:spPr>
        <p:txBody>
          <a:bodyPr wrap="square">
            <a:spAutoFit/>
          </a:bodyPr>
          <a:lstStyle/>
          <a:p>
            <a:pPr algn="l"/>
            <a:r>
              <a:rPr sz="1050" b="0" i="0">
                <a:solidFill>
                  <a:srgbClr val="1A2330"/>
                </a:solidFill>
              </a:rPr>
              <a:t>How can M-Pesa C2B payment functionality be integrated using the Safaricom Daraja API to enable seamless automated mobile payment processing, STK Push initiation, and real-time transaction reconciliation at the point of sale?</a:t>
            </a:r>
            <a:endParaRPr sz="1050" b="0" i="0">
              <a:solidFill>
                <a:srgbClr val="1A2330"/>
              </a:solidFill>
            </a:endParaRPr>
          </a:p>
        </p:txBody>
      </p:sp>
      <p:sp>
        <p:nvSpPr>
          <p:cNvPr id="27" name="TextBox 26"/>
          <p:cNvSpPr txBox="1"/>
          <p:nvPr/>
        </p:nvSpPr>
        <p:spPr>
          <a:xfrm>
            <a:off x="320040" y="5138928"/>
            <a:ext cx="11548872" cy="384048"/>
          </a:xfrm>
          <a:prstGeom prst="rect">
            <a:avLst/>
          </a:prstGeom>
          <a:noFill/>
        </p:spPr>
        <p:txBody>
          <a:bodyPr wrap="square">
            <a:spAutoFit/>
          </a:bodyPr>
          <a:lstStyle/>
          <a:p>
            <a:pPr algn="ctr"/>
            <a:r>
              <a:rPr sz="1050" b="0" i="1">
                <a:solidFill>
                  <a:srgbClr val="6B7685"/>
                </a:solidFill>
              </a:rPr>
              <a:t>Each research question defines the HOW behind its corresponding specific objective and forms the analytical framework that guided system design and implementation.</a:t>
            </a:r>
            <a:endParaRPr sz="1050" b="0" i="1">
              <a:solidFill>
                <a:srgbClr val="6B768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Review of Related Work</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§2.2 History  |  §2.3 Review of Related Prototype Systems (Cases 1–3)</a:t>
            </a:r>
            <a:endParaRPr sz="1100" b="0" i="1">
              <a:solidFill>
                <a:srgbClr val="00C278"/>
              </a:solidFill>
            </a:endParaRPr>
          </a:p>
        </p:txBody>
      </p:sp>
      <p:sp>
        <p:nvSpPr>
          <p:cNvPr id="6" name="Rectangle 5"/>
          <p:cNvSpPr/>
          <p:nvPr/>
        </p:nvSpPr>
        <p:spPr>
          <a:xfrm>
            <a:off x="9445752" y="0"/>
            <a:ext cx="2743200"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2: Review of Related Work</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7 / 16</a:t>
            </a:r>
            <a:endParaRPr sz="850" b="1" i="0">
              <a:solidFill>
                <a:srgbClr val="FFFFFF"/>
              </a:solidFill>
            </a:endParaRPr>
          </a:p>
        </p:txBody>
      </p:sp>
      <p:sp>
        <p:nvSpPr>
          <p:cNvPr id="11" name="TextBox 10"/>
          <p:cNvSpPr txBox="1"/>
          <p:nvPr/>
        </p:nvSpPr>
        <p:spPr>
          <a:xfrm>
            <a:off x="320040" y="1261872"/>
            <a:ext cx="11548872" cy="384048"/>
          </a:xfrm>
          <a:prstGeom prst="rect">
            <a:avLst/>
          </a:prstGeom>
          <a:noFill/>
        </p:spPr>
        <p:txBody>
          <a:bodyPr wrap="square">
            <a:spAutoFit/>
          </a:bodyPr>
          <a:lstStyle/>
          <a:p>
            <a:pPr algn="l"/>
            <a:r>
              <a:rPr sz="1050" b="0" i="1">
                <a:solidFill>
                  <a:srgbClr val="6B7685"/>
                </a:solidFill>
              </a:rPr>
              <a:t>§2.2: Retail management systems evolved from mechanical cash registers (1879) → electronic POS (1970s) → cloud ERP (2000s) → AI-enabled platforms (2020s). Kenya's thrift sector still lags this evolution.</a:t>
            </a:r>
            <a:endParaRPr sz="1050" b="0" i="1">
              <a:solidFill>
                <a:srgbClr val="6B7685"/>
              </a:solidFill>
            </a:endParaRPr>
          </a:p>
        </p:txBody>
      </p:sp>
      <p:sp>
        <p:nvSpPr>
          <p:cNvPr id="12" name="Rectangle 11"/>
          <p:cNvSpPr/>
          <p:nvPr/>
        </p:nvSpPr>
        <p:spPr>
          <a:xfrm>
            <a:off x="320040" y="1719072"/>
            <a:ext cx="11548872" cy="31089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1719072"/>
            <a:ext cx="11338560" cy="310896"/>
          </a:xfrm>
          <a:prstGeom prst="rect">
            <a:avLst/>
          </a:prstGeom>
          <a:noFill/>
        </p:spPr>
        <p:txBody>
          <a:bodyPr wrap="square">
            <a:spAutoFit/>
          </a:bodyPr>
          <a:lstStyle/>
          <a:p>
            <a:pPr algn="l"/>
            <a:r>
              <a:rPr sz="1050" b="1" i="0">
                <a:solidFill>
                  <a:srgbClr val="FFFFFF"/>
                </a:solidFill>
              </a:rPr>
              <a:t>Case 1: NetSuite ERP Retail Module (Oracle, 2024)</a:t>
            </a:r>
            <a:endParaRPr sz="1050" b="1" i="0">
              <a:solidFill>
                <a:srgbClr val="FFFFFF"/>
              </a:solidFill>
            </a:endParaRPr>
          </a:p>
        </p:txBody>
      </p:sp>
      <p:sp>
        <p:nvSpPr>
          <p:cNvPr id="14" name="Rectangle 13"/>
          <p:cNvSpPr/>
          <p:nvPr/>
        </p:nvSpPr>
        <p:spPr>
          <a:xfrm>
            <a:off x="320040" y="2029967"/>
            <a:ext cx="5577840" cy="1115568"/>
          </a:xfrm>
          <a:prstGeom prst="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2048255"/>
            <a:ext cx="5394960" cy="228600"/>
          </a:xfrm>
          <a:prstGeom prst="rect">
            <a:avLst/>
          </a:prstGeom>
          <a:noFill/>
        </p:spPr>
        <p:txBody>
          <a:bodyPr wrap="square">
            <a:spAutoFit/>
          </a:bodyPr>
          <a:lstStyle/>
          <a:p>
            <a:pPr algn="l"/>
            <a:r>
              <a:rPr sz="900" b="1" i="0">
                <a:solidFill>
                  <a:srgbClr val="00995E"/>
                </a:solidFill>
              </a:rPr>
              <a:t>✓ Features</a:t>
            </a:r>
            <a:endParaRPr sz="900" b="1" i="0">
              <a:solidFill>
                <a:srgbClr val="00995E"/>
              </a:solidFill>
            </a:endParaRPr>
          </a:p>
        </p:txBody>
      </p:sp>
      <p:sp>
        <p:nvSpPr>
          <p:cNvPr id="16" name="TextBox 15"/>
          <p:cNvSpPr txBox="1"/>
          <p:nvPr/>
        </p:nvSpPr>
        <p:spPr>
          <a:xfrm>
            <a:off x="438912" y="2267711"/>
            <a:ext cx="5394960" cy="859536"/>
          </a:xfrm>
          <a:prstGeom prst="rect">
            <a:avLst/>
          </a:prstGeom>
          <a:noFill/>
        </p:spPr>
        <p:txBody>
          <a:bodyPr wrap="square">
            <a:spAutoFit/>
          </a:bodyPr>
          <a:lstStyle/>
          <a:p>
            <a:pPr>
              <a:spcBef>
                <a:spcPts val="500"/>
              </a:spcBef>
            </a:pPr>
            <a:r>
              <a:rPr sz="900">
                <a:solidFill>
                  <a:srgbClr val="1A2330"/>
                </a:solidFill>
              </a:rPr>
              <a:t>• Enterprise cloud ERP with POS, inventory, procurement, and financial reporting</a:t>
            </a:r>
            <a:endParaRPr sz="900">
              <a:solidFill>
                <a:srgbClr val="1A2330"/>
              </a:solidFill>
            </a:endParaRPr>
          </a:p>
          <a:p>
            <a:pPr>
              <a:spcBef>
                <a:spcPts val="500"/>
              </a:spcBef>
            </a:pPr>
            <a:r>
              <a:rPr sz="900">
                <a:solidFill>
                  <a:srgbClr val="1A2330"/>
                </a:solidFill>
              </a:rPr>
              <a:t>• Real-time multi-branch stock visibility; supports multi-currency operations</a:t>
            </a:r>
            <a:endParaRPr sz="900">
              <a:solidFill>
                <a:srgbClr val="1A2330"/>
              </a:solidFill>
            </a:endParaRPr>
          </a:p>
        </p:txBody>
      </p:sp>
      <p:sp>
        <p:nvSpPr>
          <p:cNvPr id="17" name="Rectangle 16"/>
          <p:cNvSpPr/>
          <p:nvPr/>
        </p:nvSpPr>
        <p:spPr>
          <a:xfrm>
            <a:off x="5971032" y="2029967"/>
            <a:ext cx="5897880" cy="1115568"/>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9904" y="2048255"/>
            <a:ext cx="5669280" cy="228600"/>
          </a:xfrm>
          <a:prstGeom prst="rect">
            <a:avLst/>
          </a:prstGeom>
          <a:noFill/>
        </p:spPr>
        <p:txBody>
          <a:bodyPr wrap="square">
            <a:spAutoFit/>
          </a:bodyPr>
          <a:lstStyle/>
          <a:p>
            <a:pPr algn="l"/>
            <a:r>
              <a:rPr sz="900" b="1" i="0">
                <a:solidFill>
                  <a:srgbClr val="D93025"/>
                </a:solidFill>
              </a:rPr>
              <a:t>✗ Gaps</a:t>
            </a:r>
            <a:endParaRPr sz="900" b="1" i="0">
              <a:solidFill>
                <a:srgbClr val="D93025"/>
              </a:solidFill>
            </a:endParaRPr>
          </a:p>
        </p:txBody>
      </p:sp>
      <p:sp>
        <p:nvSpPr>
          <p:cNvPr id="19" name="TextBox 18"/>
          <p:cNvSpPr txBox="1"/>
          <p:nvPr/>
        </p:nvSpPr>
        <p:spPr>
          <a:xfrm>
            <a:off x="6089904" y="2267711"/>
            <a:ext cx="5669280" cy="859536"/>
          </a:xfrm>
          <a:prstGeom prst="rect">
            <a:avLst/>
          </a:prstGeom>
          <a:noFill/>
        </p:spPr>
        <p:txBody>
          <a:bodyPr wrap="square">
            <a:spAutoFit/>
          </a:bodyPr>
          <a:lstStyle/>
          <a:p>
            <a:pPr>
              <a:spcBef>
                <a:spcPts val="500"/>
              </a:spcBef>
            </a:pPr>
            <a:r>
              <a:rPr sz="900">
                <a:solidFill>
                  <a:srgbClr val="D93025"/>
                </a:solidFill>
              </a:rPr>
              <a:t>• Enterprise pricing prohibitive for Kenya's SME thrift sector</a:t>
            </a:r>
            <a:endParaRPr sz="900">
              <a:solidFill>
                <a:srgbClr val="D93025"/>
              </a:solidFill>
            </a:endParaRPr>
          </a:p>
          <a:p>
            <a:pPr>
              <a:spcBef>
                <a:spcPts val="500"/>
              </a:spcBef>
            </a:pPr>
            <a:r>
              <a:rPr sz="900">
                <a:solidFill>
                  <a:srgbClr val="D93025"/>
                </a:solidFill>
              </a:rPr>
              <a:t>• No M-Pesa Daraja API integration; no thrift-specific pricing cycle engine</a:t>
            </a:r>
            <a:endParaRPr sz="900">
              <a:solidFill>
                <a:srgbClr val="D93025"/>
              </a:solidFill>
            </a:endParaRPr>
          </a:p>
          <a:p>
            <a:pPr>
              <a:spcBef>
                <a:spcPts val="500"/>
              </a:spcBef>
            </a:pPr>
            <a:r>
              <a:rPr sz="900">
                <a:solidFill>
                  <a:srgbClr val="D93025"/>
                </a:solidFill>
              </a:rPr>
              <a:t>• Designed for standardised retail — not unique one-off thrift SKUs</a:t>
            </a:r>
            <a:endParaRPr sz="900">
              <a:solidFill>
                <a:srgbClr val="D93025"/>
              </a:solidFill>
            </a:endParaRPr>
          </a:p>
        </p:txBody>
      </p:sp>
      <p:sp>
        <p:nvSpPr>
          <p:cNvPr id="20" name="Rectangle 19"/>
          <p:cNvSpPr/>
          <p:nvPr/>
        </p:nvSpPr>
        <p:spPr>
          <a:xfrm>
            <a:off x="320040" y="3264408"/>
            <a:ext cx="11548872" cy="310896"/>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3264408"/>
            <a:ext cx="11338560" cy="310896"/>
          </a:xfrm>
          <a:prstGeom prst="rect">
            <a:avLst/>
          </a:prstGeom>
          <a:noFill/>
        </p:spPr>
        <p:txBody>
          <a:bodyPr wrap="square">
            <a:spAutoFit/>
          </a:bodyPr>
          <a:lstStyle/>
          <a:p>
            <a:pPr algn="l"/>
            <a:r>
              <a:rPr sz="1050" b="1" i="0">
                <a:solidFill>
                  <a:srgbClr val="FFFFFF"/>
                </a:solidFill>
              </a:rPr>
              <a:t>Case 2: Square for Retail POS (Block Inc., 2024)</a:t>
            </a:r>
            <a:endParaRPr sz="1050" b="1" i="0">
              <a:solidFill>
                <a:srgbClr val="FFFFFF"/>
              </a:solidFill>
            </a:endParaRPr>
          </a:p>
        </p:txBody>
      </p:sp>
      <p:sp>
        <p:nvSpPr>
          <p:cNvPr id="22" name="Rectangle 21"/>
          <p:cNvSpPr/>
          <p:nvPr/>
        </p:nvSpPr>
        <p:spPr>
          <a:xfrm>
            <a:off x="320040" y="3575303"/>
            <a:ext cx="5577840" cy="1115568"/>
          </a:xfrm>
          <a:prstGeom prst="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3593591"/>
            <a:ext cx="5394960" cy="228600"/>
          </a:xfrm>
          <a:prstGeom prst="rect">
            <a:avLst/>
          </a:prstGeom>
          <a:noFill/>
        </p:spPr>
        <p:txBody>
          <a:bodyPr wrap="square">
            <a:spAutoFit/>
          </a:bodyPr>
          <a:lstStyle/>
          <a:p>
            <a:pPr algn="l"/>
            <a:r>
              <a:rPr sz="900" b="1" i="0">
                <a:solidFill>
                  <a:srgbClr val="00995E"/>
                </a:solidFill>
              </a:rPr>
              <a:t>✓ Features</a:t>
            </a:r>
            <a:endParaRPr sz="900" b="1" i="0">
              <a:solidFill>
                <a:srgbClr val="00995E"/>
              </a:solidFill>
            </a:endParaRPr>
          </a:p>
        </p:txBody>
      </p:sp>
      <p:sp>
        <p:nvSpPr>
          <p:cNvPr id="24" name="TextBox 23"/>
          <p:cNvSpPr txBox="1"/>
          <p:nvPr/>
        </p:nvSpPr>
        <p:spPr>
          <a:xfrm>
            <a:off x="438912" y="3813048"/>
            <a:ext cx="5394960" cy="859536"/>
          </a:xfrm>
          <a:prstGeom prst="rect">
            <a:avLst/>
          </a:prstGeom>
          <a:noFill/>
        </p:spPr>
        <p:txBody>
          <a:bodyPr wrap="square">
            <a:spAutoFit/>
          </a:bodyPr>
          <a:lstStyle/>
          <a:p>
            <a:pPr>
              <a:spcBef>
                <a:spcPts val="500"/>
              </a:spcBef>
            </a:pPr>
            <a:r>
              <a:rPr sz="900">
                <a:solidFill>
                  <a:srgbClr val="1A2330"/>
                </a:solidFill>
              </a:rPr>
              <a:t>• Cloud POS with real-time inventory sync, barcode scanning, receipt printing</a:t>
            </a:r>
            <a:endParaRPr sz="900">
              <a:solidFill>
                <a:srgbClr val="1A2330"/>
              </a:solidFill>
            </a:endParaRPr>
          </a:p>
          <a:p>
            <a:pPr>
              <a:spcBef>
                <a:spcPts val="500"/>
              </a:spcBef>
            </a:pPr>
            <a:r>
              <a:rPr sz="900">
                <a:solidFill>
                  <a:srgbClr val="1A2330"/>
                </a:solidFill>
              </a:rPr>
              <a:t>• Strong analytics dashboard with low-stock alerts and sales trends</a:t>
            </a:r>
            <a:endParaRPr sz="900">
              <a:solidFill>
                <a:srgbClr val="1A2330"/>
              </a:solidFill>
            </a:endParaRPr>
          </a:p>
        </p:txBody>
      </p:sp>
      <p:sp>
        <p:nvSpPr>
          <p:cNvPr id="25" name="Rectangle 24"/>
          <p:cNvSpPr/>
          <p:nvPr/>
        </p:nvSpPr>
        <p:spPr>
          <a:xfrm>
            <a:off x="5971032" y="3575303"/>
            <a:ext cx="5897880" cy="1115568"/>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9904" y="3593591"/>
            <a:ext cx="5669280" cy="228600"/>
          </a:xfrm>
          <a:prstGeom prst="rect">
            <a:avLst/>
          </a:prstGeom>
          <a:noFill/>
        </p:spPr>
        <p:txBody>
          <a:bodyPr wrap="square">
            <a:spAutoFit/>
          </a:bodyPr>
          <a:lstStyle/>
          <a:p>
            <a:pPr algn="l"/>
            <a:r>
              <a:rPr sz="900" b="1" i="0">
                <a:solidFill>
                  <a:srgbClr val="D93025"/>
                </a:solidFill>
              </a:rPr>
              <a:t>✗ Gaps</a:t>
            </a:r>
            <a:endParaRPr sz="900" b="1" i="0">
              <a:solidFill>
                <a:srgbClr val="D93025"/>
              </a:solidFill>
            </a:endParaRPr>
          </a:p>
        </p:txBody>
      </p:sp>
      <p:sp>
        <p:nvSpPr>
          <p:cNvPr id="27" name="TextBox 26"/>
          <p:cNvSpPr txBox="1"/>
          <p:nvPr/>
        </p:nvSpPr>
        <p:spPr>
          <a:xfrm>
            <a:off x="6089904" y="3813048"/>
            <a:ext cx="5669280" cy="859536"/>
          </a:xfrm>
          <a:prstGeom prst="rect">
            <a:avLst/>
          </a:prstGeom>
          <a:noFill/>
        </p:spPr>
        <p:txBody>
          <a:bodyPr wrap="square">
            <a:spAutoFit/>
          </a:bodyPr>
          <a:lstStyle/>
          <a:p>
            <a:pPr>
              <a:spcBef>
                <a:spcPts val="500"/>
              </a:spcBef>
            </a:pPr>
            <a:r>
              <a:rPr sz="900">
                <a:solidFill>
                  <a:srgbClr val="D93025"/>
                </a:solidFill>
              </a:rPr>
              <a:t>• US/UK payment methods only — no M-Pesa STK Push or Daraja API</a:t>
            </a:r>
            <a:endParaRPr sz="900">
              <a:solidFill>
                <a:srgbClr val="D93025"/>
              </a:solidFill>
            </a:endParaRPr>
          </a:p>
          <a:p>
            <a:pPr>
              <a:spcBef>
                <a:spcPts val="500"/>
              </a:spcBef>
            </a:pPr>
            <a:r>
              <a:rPr sz="900">
                <a:solidFill>
                  <a:srgbClr val="D93025"/>
                </a:solidFill>
              </a:rPr>
              <a:t>• No dynamic markdown cycle automation for time-based price reduction</a:t>
            </a:r>
            <a:endParaRPr sz="900">
              <a:solidFill>
                <a:srgbClr val="D93025"/>
              </a:solidFill>
            </a:endParaRPr>
          </a:p>
          <a:p>
            <a:pPr>
              <a:spcBef>
                <a:spcPts val="500"/>
              </a:spcBef>
            </a:pPr>
            <a:r>
              <a:rPr sz="900">
                <a:solidFill>
                  <a:srgbClr val="D93025"/>
                </a:solidFill>
              </a:rPr>
              <a:t>• Subscription in USD — cost-prohibitive for small Kenyan operators</a:t>
            </a:r>
            <a:endParaRPr sz="900">
              <a:solidFill>
                <a:srgbClr val="D93025"/>
              </a:solidFill>
            </a:endParaRPr>
          </a:p>
        </p:txBody>
      </p:sp>
      <p:sp>
        <p:nvSpPr>
          <p:cNvPr id="28" name="Rectangle 27"/>
          <p:cNvSpPr/>
          <p:nvPr/>
        </p:nvSpPr>
        <p:spPr>
          <a:xfrm>
            <a:off x="320040" y="4809744"/>
            <a:ext cx="11548872" cy="310896"/>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4809744"/>
            <a:ext cx="11338560" cy="310896"/>
          </a:xfrm>
          <a:prstGeom prst="rect">
            <a:avLst/>
          </a:prstGeom>
          <a:noFill/>
        </p:spPr>
        <p:txBody>
          <a:bodyPr wrap="square">
            <a:spAutoFit/>
          </a:bodyPr>
          <a:lstStyle/>
          <a:p>
            <a:pPr algn="l"/>
            <a:r>
              <a:rPr sz="1050" b="1" i="0">
                <a:solidFill>
                  <a:srgbClr val="FFFFFF"/>
                </a:solidFill>
              </a:rPr>
              <a:t>Case 3: ThriftCart — Thrift-Specific POS Software (2024)</a:t>
            </a:r>
            <a:endParaRPr sz="1050" b="1" i="0">
              <a:solidFill>
                <a:srgbClr val="FFFFFF"/>
              </a:solidFill>
            </a:endParaRPr>
          </a:p>
        </p:txBody>
      </p:sp>
      <p:sp>
        <p:nvSpPr>
          <p:cNvPr id="30" name="Rectangle 29"/>
          <p:cNvSpPr/>
          <p:nvPr/>
        </p:nvSpPr>
        <p:spPr>
          <a:xfrm>
            <a:off x="320040" y="5120640"/>
            <a:ext cx="5577840" cy="1115568"/>
          </a:xfrm>
          <a:prstGeom prst="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5138927"/>
            <a:ext cx="5394960" cy="228600"/>
          </a:xfrm>
          <a:prstGeom prst="rect">
            <a:avLst/>
          </a:prstGeom>
          <a:noFill/>
        </p:spPr>
        <p:txBody>
          <a:bodyPr wrap="square">
            <a:spAutoFit/>
          </a:bodyPr>
          <a:lstStyle/>
          <a:p>
            <a:pPr algn="l"/>
            <a:r>
              <a:rPr sz="900" b="1" i="0">
                <a:solidFill>
                  <a:srgbClr val="00995E"/>
                </a:solidFill>
              </a:rPr>
              <a:t>✓ Features</a:t>
            </a:r>
            <a:endParaRPr sz="900" b="1" i="0">
              <a:solidFill>
                <a:srgbClr val="00995E"/>
              </a:solidFill>
            </a:endParaRPr>
          </a:p>
        </p:txBody>
      </p:sp>
      <p:sp>
        <p:nvSpPr>
          <p:cNvPr id="32" name="TextBox 31"/>
          <p:cNvSpPr txBox="1"/>
          <p:nvPr/>
        </p:nvSpPr>
        <p:spPr>
          <a:xfrm>
            <a:off x="438912" y="5358383"/>
            <a:ext cx="5394960" cy="859536"/>
          </a:xfrm>
          <a:prstGeom prst="rect">
            <a:avLst/>
          </a:prstGeom>
          <a:noFill/>
        </p:spPr>
        <p:txBody>
          <a:bodyPr wrap="square">
            <a:spAutoFit/>
          </a:bodyPr>
          <a:lstStyle/>
          <a:p>
            <a:pPr>
              <a:spcBef>
                <a:spcPts val="500"/>
              </a:spcBef>
            </a:pPr>
            <a:r>
              <a:rPr sz="900">
                <a:solidFill>
                  <a:srgbClr val="1A2330"/>
                </a:solidFill>
              </a:rPr>
              <a:t>• Purpose-built SaaS POS for thrift stores with weight-based and category pricing</a:t>
            </a:r>
            <a:endParaRPr sz="900">
              <a:solidFill>
                <a:srgbClr val="1A2330"/>
              </a:solidFill>
            </a:endParaRPr>
          </a:p>
          <a:p>
            <a:pPr>
              <a:spcBef>
                <a:spcPts val="500"/>
              </a:spcBef>
            </a:pPr>
            <a:r>
              <a:rPr sz="900">
                <a:solidFill>
                  <a:srgbClr val="1A2330"/>
                </a:solidFill>
              </a:rPr>
              <a:t>• Closest in concept to what Think Twice Stores needs</a:t>
            </a:r>
            <a:endParaRPr sz="900">
              <a:solidFill>
                <a:srgbClr val="1A2330"/>
              </a:solidFill>
            </a:endParaRPr>
          </a:p>
        </p:txBody>
      </p:sp>
      <p:sp>
        <p:nvSpPr>
          <p:cNvPr id="33" name="Rectangle 32"/>
          <p:cNvSpPr/>
          <p:nvPr/>
        </p:nvSpPr>
        <p:spPr>
          <a:xfrm>
            <a:off x="5971032" y="5120640"/>
            <a:ext cx="5897880" cy="1115568"/>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9904" y="5138927"/>
            <a:ext cx="5669280" cy="228600"/>
          </a:xfrm>
          <a:prstGeom prst="rect">
            <a:avLst/>
          </a:prstGeom>
          <a:noFill/>
        </p:spPr>
        <p:txBody>
          <a:bodyPr wrap="square">
            <a:spAutoFit/>
          </a:bodyPr>
          <a:lstStyle/>
          <a:p>
            <a:pPr algn="l"/>
            <a:r>
              <a:rPr sz="900" b="1" i="0">
                <a:solidFill>
                  <a:srgbClr val="D93025"/>
                </a:solidFill>
              </a:rPr>
              <a:t>✗ Gaps</a:t>
            </a:r>
            <a:endParaRPr sz="900" b="1" i="0">
              <a:solidFill>
                <a:srgbClr val="D93025"/>
              </a:solidFill>
            </a:endParaRPr>
          </a:p>
        </p:txBody>
      </p:sp>
      <p:sp>
        <p:nvSpPr>
          <p:cNvPr id="35" name="TextBox 34"/>
          <p:cNvSpPr txBox="1"/>
          <p:nvPr/>
        </p:nvSpPr>
        <p:spPr>
          <a:xfrm>
            <a:off x="6089904" y="5358383"/>
            <a:ext cx="5669280" cy="859536"/>
          </a:xfrm>
          <a:prstGeom prst="rect">
            <a:avLst/>
          </a:prstGeom>
          <a:noFill/>
        </p:spPr>
        <p:txBody>
          <a:bodyPr wrap="square">
            <a:spAutoFit/>
          </a:bodyPr>
          <a:lstStyle/>
          <a:p>
            <a:pPr>
              <a:spcBef>
                <a:spcPts val="500"/>
              </a:spcBef>
            </a:pPr>
            <a:r>
              <a:rPr sz="900">
                <a:solidFill>
                  <a:srgbClr val="D93025"/>
                </a:solidFill>
              </a:rPr>
              <a:t>• US-centric — no M-Pesa or Kenyan mobile money support at all</a:t>
            </a:r>
            <a:endParaRPr sz="900">
              <a:solidFill>
                <a:srgbClr val="D93025"/>
              </a:solidFill>
            </a:endParaRPr>
          </a:p>
          <a:p>
            <a:pPr>
              <a:spcBef>
                <a:spcPts val="500"/>
              </a:spcBef>
            </a:pPr>
            <a:r>
              <a:rPr sz="900">
                <a:solidFill>
                  <a:srgbClr val="D93025"/>
                </a:solidFill>
              </a:rPr>
              <a:t>• No automated two-week daily markdown cycle for Kenyan thrift model</a:t>
            </a:r>
            <a:endParaRPr sz="900">
              <a:solidFill>
                <a:srgbClr val="D93025"/>
              </a:solidFill>
            </a:endParaRPr>
          </a:p>
          <a:p>
            <a:pPr>
              <a:spcBef>
                <a:spcPts val="500"/>
              </a:spcBef>
            </a:pPr>
            <a:r>
              <a:rPr sz="900">
                <a:solidFill>
                  <a:srgbClr val="D93025"/>
                </a:solidFill>
              </a:rPr>
              <a:t>• Cloud-only — assumes reliable internet; unsuitable for some Kenya branches</a:t>
            </a:r>
            <a:endParaRPr sz="900">
              <a:solidFill>
                <a:srgbClr val="D93025"/>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Review of Related Work (cont.)</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§2.3 Cases 4–5  |  §2.4 Emerging Trends  |  §2.5 Research Gap</a:t>
            </a:r>
            <a:endParaRPr sz="1100" b="0" i="1">
              <a:solidFill>
                <a:srgbClr val="00C278"/>
              </a:solidFill>
            </a:endParaRPr>
          </a:p>
        </p:txBody>
      </p:sp>
      <p:sp>
        <p:nvSpPr>
          <p:cNvPr id="6" name="Rectangle 5"/>
          <p:cNvSpPr/>
          <p:nvPr/>
        </p:nvSpPr>
        <p:spPr>
          <a:xfrm>
            <a:off x="9445752" y="0"/>
            <a:ext cx="2743200"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2: Review of Related Work</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8 / 16</a:t>
            </a:r>
            <a:endParaRPr sz="850" b="1" i="0">
              <a:solidFill>
                <a:srgbClr val="FFFFFF"/>
              </a:solidFill>
            </a:endParaRPr>
          </a:p>
        </p:txBody>
      </p:sp>
      <p:sp>
        <p:nvSpPr>
          <p:cNvPr id="11" name="Rectangle 10"/>
          <p:cNvSpPr/>
          <p:nvPr/>
        </p:nvSpPr>
        <p:spPr>
          <a:xfrm>
            <a:off x="320040" y="1261872"/>
            <a:ext cx="11548872"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261872"/>
            <a:ext cx="11338560" cy="320040"/>
          </a:xfrm>
          <a:prstGeom prst="rect">
            <a:avLst/>
          </a:prstGeom>
          <a:noFill/>
        </p:spPr>
        <p:txBody>
          <a:bodyPr wrap="square">
            <a:spAutoFit/>
          </a:bodyPr>
          <a:lstStyle/>
          <a:p>
            <a:pPr algn="l"/>
            <a:r>
              <a:rPr sz="1050" b="1" i="0">
                <a:solidFill>
                  <a:srgbClr val="FFFFFF"/>
                </a:solidFill>
              </a:rPr>
              <a:t>Case 4: Odoo Community ERP v17 (2024)</a:t>
            </a:r>
            <a:endParaRPr sz="1050" b="1" i="0">
              <a:solidFill>
                <a:srgbClr val="FFFFFF"/>
              </a:solidFill>
            </a:endParaRPr>
          </a:p>
        </p:txBody>
      </p:sp>
      <p:sp>
        <p:nvSpPr>
          <p:cNvPr id="13" name="TextBox 12"/>
          <p:cNvSpPr txBox="1"/>
          <p:nvPr/>
        </p:nvSpPr>
        <p:spPr>
          <a:xfrm>
            <a:off x="438912" y="1600200"/>
            <a:ext cx="11338560" cy="256032"/>
          </a:xfrm>
          <a:prstGeom prst="rect">
            <a:avLst/>
          </a:prstGeom>
          <a:noFill/>
        </p:spPr>
        <p:txBody>
          <a:bodyPr wrap="square">
            <a:spAutoFit/>
          </a:bodyPr>
          <a:lstStyle/>
          <a:p>
            <a:pPr algn="l"/>
            <a:r>
              <a:rPr sz="1000" b="0" i="1">
                <a:solidFill>
                  <a:srgbClr val="1A2330"/>
                </a:solidFill>
              </a:rPr>
              <a:t>Open-source ERP: inventory, POS, procurement, accounting in one platform</a:t>
            </a:r>
            <a:endParaRPr sz="1000" b="0" i="1">
              <a:solidFill>
                <a:srgbClr val="1A2330"/>
              </a:solidFill>
            </a:endParaRPr>
          </a:p>
        </p:txBody>
      </p:sp>
      <p:sp>
        <p:nvSpPr>
          <p:cNvPr id="14" name="TextBox 13"/>
          <p:cNvSpPr txBox="1"/>
          <p:nvPr/>
        </p:nvSpPr>
        <p:spPr>
          <a:xfrm>
            <a:off x="438912" y="1856231"/>
            <a:ext cx="11338560" cy="621792"/>
          </a:xfrm>
          <a:prstGeom prst="rect">
            <a:avLst/>
          </a:prstGeom>
          <a:noFill/>
        </p:spPr>
        <p:txBody>
          <a:bodyPr wrap="square">
            <a:spAutoFit/>
          </a:bodyPr>
          <a:lstStyle/>
          <a:p>
            <a:pPr>
              <a:spcBef>
                <a:spcPts val="500"/>
              </a:spcBef>
            </a:pPr>
            <a:r>
              <a:rPr sz="1000">
                <a:solidFill>
                  <a:srgbClr val="D93025"/>
                </a:solidFill>
              </a:rPr>
              <a:t>✗  No native M-Pesa Daraja API — requires costly custom development</a:t>
            </a:r>
            <a:endParaRPr sz="1000">
              <a:solidFill>
                <a:srgbClr val="D93025"/>
              </a:solidFill>
            </a:endParaRPr>
          </a:p>
          <a:p>
            <a:pPr>
              <a:spcBef>
                <a:spcPts val="500"/>
              </a:spcBef>
            </a:pPr>
            <a:r>
              <a:rPr sz="1000">
                <a:solidFill>
                  <a:srgbClr val="D93025"/>
                </a:solidFill>
              </a:rPr>
              <a:t>✗  Complex UI: too steep for staff with limited digital literacy</a:t>
            </a:r>
            <a:endParaRPr sz="1000">
              <a:solidFill>
                <a:srgbClr val="D93025"/>
              </a:solidFill>
            </a:endParaRPr>
          </a:p>
          <a:p>
            <a:pPr>
              <a:spcBef>
                <a:spcPts val="500"/>
              </a:spcBef>
            </a:pPr>
            <a:r>
              <a:rPr sz="1000">
                <a:solidFill>
                  <a:srgbClr val="D93025"/>
                </a:solidFill>
              </a:rPr>
              <a:t>✗  No thrift pricing cycle automation out of the box</a:t>
            </a:r>
            <a:endParaRPr sz="1000">
              <a:solidFill>
                <a:srgbClr val="D93025"/>
              </a:solidFill>
            </a:endParaRPr>
          </a:p>
        </p:txBody>
      </p:sp>
      <p:sp>
        <p:nvSpPr>
          <p:cNvPr id="15" name="Rectangle 14"/>
          <p:cNvSpPr/>
          <p:nvPr/>
        </p:nvSpPr>
        <p:spPr>
          <a:xfrm>
            <a:off x="320040" y="2679191"/>
            <a:ext cx="11548872"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 y="2679191"/>
            <a:ext cx="11338560" cy="320040"/>
          </a:xfrm>
          <a:prstGeom prst="rect">
            <a:avLst/>
          </a:prstGeom>
          <a:noFill/>
        </p:spPr>
        <p:txBody>
          <a:bodyPr wrap="square">
            <a:spAutoFit/>
          </a:bodyPr>
          <a:lstStyle/>
          <a:p>
            <a:pPr algn="l"/>
            <a:r>
              <a:rPr sz="1050" b="1" i="0">
                <a:solidFill>
                  <a:srgbClr val="FFFFFF"/>
                </a:solidFill>
              </a:rPr>
              <a:t>Case 5: Budget Wear System — Digisoft Solutions (2023)</a:t>
            </a:r>
            <a:endParaRPr sz="1050" b="1" i="0">
              <a:solidFill>
                <a:srgbClr val="FFFFFF"/>
              </a:solidFill>
            </a:endParaRPr>
          </a:p>
        </p:txBody>
      </p:sp>
      <p:sp>
        <p:nvSpPr>
          <p:cNvPr id="17" name="TextBox 16"/>
          <p:cNvSpPr txBox="1"/>
          <p:nvPr/>
        </p:nvSpPr>
        <p:spPr>
          <a:xfrm>
            <a:off x="438912" y="3017520"/>
            <a:ext cx="11338560" cy="256032"/>
          </a:xfrm>
          <a:prstGeom prst="rect">
            <a:avLst/>
          </a:prstGeom>
          <a:noFill/>
        </p:spPr>
        <p:txBody>
          <a:bodyPr wrap="square">
            <a:spAutoFit/>
          </a:bodyPr>
          <a:lstStyle/>
          <a:p>
            <a:pPr algn="l"/>
            <a:r>
              <a:rPr sz="1000" b="0" i="1">
                <a:solidFill>
                  <a:srgbClr val="1A2330"/>
                </a:solidFill>
              </a:rPr>
              <a:t>Custom PHP/MySQL thrift management system built for Budget Wear, 10 branches, Nairobi (researcher's attachment project)</a:t>
            </a:r>
            <a:endParaRPr sz="1000" b="0" i="1">
              <a:solidFill>
                <a:srgbClr val="1A2330"/>
              </a:solidFill>
            </a:endParaRPr>
          </a:p>
        </p:txBody>
      </p:sp>
      <p:sp>
        <p:nvSpPr>
          <p:cNvPr id="18" name="TextBox 17"/>
          <p:cNvSpPr txBox="1"/>
          <p:nvPr/>
        </p:nvSpPr>
        <p:spPr>
          <a:xfrm>
            <a:off x="438912" y="3273551"/>
            <a:ext cx="11338560" cy="621792"/>
          </a:xfrm>
          <a:prstGeom prst="rect">
            <a:avLst/>
          </a:prstGeom>
          <a:noFill/>
        </p:spPr>
        <p:txBody>
          <a:bodyPr wrap="square">
            <a:spAutoFit/>
          </a:bodyPr>
          <a:lstStyle/>
          <a:p>
            <a:pPr>
              <a:spcBef>
                <a:spcPts val="500"/>
              </a:spcBef>
            </a:pPr>
            <a:r>
              <a:rPr sz="1000">
                <a:solidFill>
                  <a:srgbClr val="D93025"/>
                </a:solidFill>
              </a:rPr>
              <a:t>✗  Single-city — not architected for 30+ branch national deployment</a:t>
            </a:r>
            <a:endParaRPr sz="1000">
              <a:solidFill>
                <a:srgbClr val="D93025"/>
              </a:solidFill>
            </a:endParaRPr>
          </a:p>
          <a:p>
            <a:pPr>
              <a:spcBef>
                <a:spcPts val="500"/>
              </a:spcBef>
            </a:pPr>
            <a:r>
              <a:rPr sz="1000">
                <a:solidFill>
                  <a:srgbClr val="D93025"/>
                </a:solidFill>
              </a:rPr>
              <a:t>✗  No dynamic price cycle automation — prices updated manually per item</a:t>
            </a:r>
            <a:endParaRPr sz="1000">
              <a:solidFill>
                <a:srgbClr val="D93025"/>
              </a:solidFill>
            </a:endParaRPr>
          </a:p>
          <a:p>
            <a:pPr>
              <a:spcBef>
                <a:spcPts val="500"/>
              </a:spcBef>
            </a:pPr>
            <a:r>
              <a:rPr sz="1000">
                <a:solidFill>
                  <a:srgbClr val="D93025"/>
                </a:solidFill>
              </a:rPr>
              <a:t>✗  No M-Pesa STK Push — cash-only POS; no procurement/GRN module</a:t>
            </a:r>
            <a:endParaRPr sz="1000">
              <a:solidFill>
                <a:srgbClr val="D93025"/>
              </a:solidFill>
            </a:endParaRPr>
          </a:p>
        </p:txBody>
      </p:sp>
      <p:sp>
        <p:nvSpPr>
          <p:cNvPr id="19" name="Rectangle 18"/>
          <p:cNvSpPr/>
          <p:nvPr/>
        </p:nvSpPr>
        <p:spPr>
          <a:xfrm>
            <a:off x="347472" y="4187952"/>
            <a:ext cx="82296" cy="320040"/>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197096"/>
            <a:ext cx="10972800" cy="301752"/>
          </a:xfrm>
          <a:prstGeom prst="rect">
            <a:avLst/>
          </a:prstGeom>
          <a:noFill/>
        </p:spPr>
        <p:txBody>
          <a:bodyPr wrap="square">
            <a:spAutoFit/>
          </a:bodyPr>
          <a:lstStyle/>
          <a:p>
            <a:pPr algn="l"/>
            <a:r>
              <a:rPr sz="1200" b="1" i="0">
                <a:solidFill>
                  <a:srgbClr val="D93025"/>
                </a:solidFill>
              </a:rPr>
              <a:t>§2.5 Research Gap — Three Identified Gaps</a:t>
            </a:r>
            <a:endParaRPr sz="1200" b="1" i="0">
              <a:solidFill>
                <a:srgbClr val="D93025"/>
              </a:solidFill>
            </a:endParaRPr>
          </a:p>
        </p:txBody>
      </p:sp>
      <p:sp>
        <p:nvSpPr>
          <p:cNvPr id="21" name="Rectangle 20"/>
          <p:cNvSpPr/>
          <p:nvPr/>
        </p:nvSpPr>
        <p:spPr>
          <a:xfrm>
            <a:off x="320040" y="4544568"/>
            <a:ext cx="731520" cy="365760"/>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4544568"/>
            <a:ext cx="731520" cy="365760"/>
          </a:xfrm>
          <a:prstGeom prst="rect">
            <a:avLst/>
          </a:prstGeom>
          <a:noFill/>
        </p:spPr>
        <p:txBody>
          <a:bodyPr wrap="square">
            <a:spAutoFit/>
          </a:bodyPr>
          <a:lstStyle/>
          <a:p>
            <a:pPr algn="ctr"/>
            <a:r>
              <a:rPr sz="900" b="1" i="0">
                <a:solidFill>
                  <a:srgbClr val="FFFFFF"/>
                </a:solidFill>
              </a:rPr>
              <a:t>Gap 1</a:t>
            </a:r>
            <a:endParaRPr sz="900" b="1" i="0">
              <a:solidFill>
                <a:srgbClr val="FFFFFF"/>
              </a:solidFill>
            </a:endParaRPr>
          </a:p>
        </p:txBody>
      </p:sp>
      <p:sp>
        <p:nvSpPr>
          <p:cNvPr id="23" name="Rectangle 22"/>
          <p:cNvSpPr/>
          <p:nvPr/>
        </p:nvSpPr>
        <p:spPr>
          <a:xfrm>
            <a:off x="1078992" y="4544568"/>
            <a:ext cx="10789920" cy="3657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4581144"/>
            <a:ext cx="10561320" cy="301752"/>
          </a:xfrm>
          <a:prstGeom prst="rect">
            <a:avLst/>
          </a:prstGeom>
          <a:noFill/>
        </p:spPr>
        <p:txBody>
          <a:bodyPr wrap="square">
            <a:spAutoFit/>
          </a:bodyPr>
          <a:lstStyle/>
          <a:p>
            <a:pPr algn="l"/>
            <a:r>
              <a:rPr sz="950" b="0" i="0">
                <a:solidFill>
                  <a:srgbClr val="1A2330"/>
                </a:solidFill>
              </a:rPr>
              <a:t>Absence of a thrift-specific system design framework for African retail — no existing system supports daily markdown cycles, bale-based procurement, and per-item price variability.</a:t>
            </a:r>
            <a:endParaRPr sz="950" b="0" i="0">
              <a:solidFill>
                <a:srgbClr val="1A2330"/>
              </a:solidFill>
            </a:endParaRPr>
          </a:p>
        </p:txBody>
      </p:sp>
      <p:sp>
        <p:nvSpPr>
          <p:cNvPr id="25" name="Rectangle 24"/>
          <p:cNvSpPr/>
          <p:nvPr/>
        </p:nvSpPr>
        <p:spPr>
          <a:xfrm>
            <a:off x="320040" y="5001768"/>
            <a:ext cx="731520" cy="365760"/>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5001768"/>
            <a:ext cx="731520" cy="365760"/>
          </a:xfrm>
          <a:prstGeom prst="rect">
            <a:avLst/>
          </a:prstGeom>
          <a:noFill/>
        </p:spPr>
        <p:txBody>
          <a:bodyPr wrap="square">
            <a:spAutoFit/>
          </a:bodyPr>
          <a:lstStyle/>
          <a:p>
            <a:pPr algn="ctr"/>
            <a:r>
              <a:rPr sz="900" b="1" i="0">
                <a:solidFill>
                  <a:srgbClr val="FFFFFF"/>
                </a:solidFill>
              </a:rPr>
              <a:t>Gap 2</a:t>
            </a:r>
            <a:endParaRPr sz="900" b="1" i="0">
              <a:solidFill>
                <a:srgbClr val="FFFFFF"/>
              </a:solidFill>
            </a:endParaRPr>
          </a:p>
        </p:txBody>
      </p:sp>
      <p:sp>
        <p:nvSpPr>
          <p:cNvPr id="27" name="Rectangle 26"/>
          <p:cNvSpPr/>
          <p:nvPr/>
        </p:nvSpPr>
        <p:spPr>
          <a:xfrm>
            <a:off x="1078992" y="5001768"/>
            <a:ext cx="10789920" cy="3657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5038344"/>
            <a:ext cx="10561320" cy="301752"/>
          </a:xfrm>
          <a:prstGeom prst="rect">
            <a:avLst/>
          </a:prstGeom>
          <a:noFill/>
        </p:spPr>
        <p:txBody>
          <a:bodyPr wrap="square">
            <a:spAutoFit/>
          </a:bodyPr>
          <a:lstStyle/>
          <a:p>
            <a:pPr algn="l"/>
            <a:r>
              <a:rPr sz="950" b="0" i="0">
                <a:solidFill>
                  <a:srgbClr val="1A2330"/>
                </a:solidFill>
              </a:rPr>
              <a:t>Insufficient focus on affordable, accessible solutions for informal/semi-formal retail — existing systems are either enterprise-priced (NetSuite) or subscription-based in USD (ThriftCart, Square).</a:t>
            </a:r>
            <a:endParaRPr sz="950" b="0" i="0">
              <a:solidFill>
                <a:srgbClr val="1A2330"/>
              </a:solidFill>
            </a:endParaRPr>
          </a:p>
        </p:txBody>
      </p:sp>
      <p:sp>
        <p:nvSpPr>
          <p:cNvPr id="29" name="Rectangle 28"/>
          <p:cNvSpPr/>
          <p:nvPr/>
        </p:nvSpPr>
        <p:spPr>
          <a:xfrm>
            <a:off x="320040" y="5458968"/>
            <a:ext cx="731520" cy="365760"/>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5458968"/>
            <a:ext cx="731520" cy="365760"/>
          </a:xfrm>
          <a:prstGeom prst="rect">
            <a:avLst/>
          </a:prstGeom>
          <a:noFill/>
        </p:spPr>
        <p:txBody>
          <a:bodyPr wrap="square">
            <a:spAutoFit/>
          </a:bodyPr>
          <a:lstStyle/>
          <a:p>
            <a:pPr algn="ctr"/>
            <a:r>
              <a:rPr sz="900" b="1" i="0">
                <a:solidFill>
                  <a:srgbClr val="FFFFFF"/>
                </a:solidFill>
              </a:rPr>
              <a:t>Gap 3</a:t>
            </a:r>
            <a:endParaRPr sz="900" b="1" i="0">
              <a:solidFill>
                <a:srgbClr val="FFFFFF"/>
              </a:solidFill>
            </a:endParaRPr>
          </a:p>
        </p:txBody>
      </p:sp>
      <p:sp>
        <p:nvSpPr>
          <p:cNvPr id="31" name="Rectangle 30"/>
          <p:cNvSpPr/>
          <p:nvPr/>
        </p:nvSpPr>
        <p:spPr>
          <a:xfrm>
            <a:off x="1078992" y="5458968"/>
            <a:ext cx="10789920" cy="3657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8720" y="5495544"/>
            <a:ext cx="10561320" cy="301752"/>
          </a:xfrm>
          <a:prstGeom prst="rect">
            <a:avLst/>
          </a:prstGeom>
          <a:noFill/>
        </p:spPr>
        <p:txBody>
          <a:bodyPr wrap="square">
            <a:spAutoFit/>
          </a:bodyPr>
          <a:lstStyle/>
          <a:p>
            <a:pPr algn="l"/>
            <a:r>
              <a:rPr sz="950" b="0" i="0">
                <a:solidFill>
                  <a:srgbClr val="1A2330"/>
                </a:solidFill>
              </a:rPr>
              <a:t>Limited documentation of user-centred design for low-digital-literacy contexts — staff with secondary-level digital literacy are underserved by existing complex ERP interfaces.</a:t>
            </a:r>
            <a:endParaRPr sz="950" b="0" i="0">
              <a:solidFill>
                <a:srgbClr val="1A233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Research Methodology</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§3.2 Literature Review  |  §3.3 Data Collection &amp; Requirement Specification</a:t>
            </a:r>
            <a:endParaRPr sz="1100" b="0" i="1">
              <a:solidFill>
                <a:srgbClr val="00C278"/>
              </a:solidFill>
            </a:endParaRPr>
          </a:p>
        </p:txBody>
      </p:sp>
      <p:sp>
        <p:nvSpPr>
          <p:cNvPr id="6" name="Rectangle 5"/>
          <p:cNvSpPr/>
          <p:nvPr/>
        </p:nvSpPr>
        <p:spPr>
          <a:xfrm>
            <a:off x="9445752" y="0"/>
            <a:ext cx="2743200" cy="347472"/>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3: Research Methodology</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9 / 16</a:t>
            </a:r>
            <a:endParaRPr sz="850" b="1" i="0">
              <a:solidFill>
                <a:srgbClr val="FFFFFF"/>
              </a:solidFill>
            </a:endParaRPr>
          </a:p>
        </p:txBody>
      </p:sp>
      <p:sp>
        <p:nvSpPr>
          <p:cNvPr id="11" name="Rectangle 10"/>
          <p:cNvSpPr/>
          <p:nvPr/>
        </p:nvSpPr>
        <p:spPr>
          <a:xfrm>
            <a:off x="320040" y="1261872"/>
            <a:ext cx="557784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 y="1325880"/>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35024"/>
            <a:ext cx="10972800" cy="301752"/>
          </a:xfrm>
          <a:prstGeom prst="rect">
            <a:avLst/>
          </a:prstGeom>
          <a:noFill/>
        </p:spPr>
        <p:txBody>
          <a:bodyPr wrap="square">
            <a:spAutoFit/>
          </a:bodyPr>
          <a:lstStyle/>
          <a:p>
            <a:pPr algn="l"/>
            <a:r>
              <a:rPr sz="1200" b="1" i="0">
                <a:solidFill>
                  <a:srgbClr val="00995E"/>
                </a:solidFill>
              </a:rPr>
              <a:t>§3.2 Literature Review Methodology</a:t>
            </a:r>
            <a:endParaRPr sz="1200" b="1" i="0">
              <a:solidFill>
                <a:srgbClr val="00995E"/>
              </a:solidFill>
            </a:endParaRPr>
          </a:p>
        </p:txBody>
      </p:sp>
      <p:sp>
        <p:nvSpPr>
          <p:cNvPr id="14" name="TextBox 13"/>
          <p:cNvSpPr txBox="1"/>
          <p:nvPr/>
        </p:nvSpPr>
        <p:spPr>
          <a:xfrm>
            <a:off x="438912" y="1691640"/>
            <a:ext cx="5394960" cy="256032"/>
          </a:xfrm>
          <a:prstGeom prst="rect">
            <a:avLst/>
          </a:prstGeom>
          <a:noFill/>
        </p:spPr>
        <p:txBody>
          <a:bodyPr wrap="square">
            <a:spAutoFit/>
          </a:bodyPr>
          <a:lstStyle/>
          <a:p>
            <a:pPr algn="l"/>
            <a:r>
              <a:rPr sz="1000" b="1" i="0">
                <a:solidFill>
                  <a:srgbClr val="00995E"/>
                </a:solidFill>
              </a:rPr>
              <a:t>Database &amp; Search Strategy:</a:t>
            </a:r>
            <a:endParaRPr sz="1000" b="1" i="0">
              <a:solidFill>
                <a:srgbClr val="00995E"/>
              </a:solidFill>
            </a:endParaRPr>
          </a:p>
        </p:txBody>
      </p:sp>
      <p:sp>
        <p:nvSpPr>
          <p:cNvPr id="15" name="TextBox 14"/>
          <p:cNvSpPr txBox="1"/>
          <p:nvPr/>
        </p:nvSpPr>
        <p:spPr>
          <a:xfrm>
            <a:off x="438912" y="1965960"/>
            <a:ext cx="5394960" cy="1371600"/>
          </a:xfrm>
          <a:prstGeom prst="rect">
            <a:avLst/>
          </a:prstGeom>
          <a:noFill/>
        </p:spPr>
        <p:txBody>
          <a:bodyPr wrap="square">
            <a:spAutoFit/>
          </a:bodyPr>
          <a:lstStyle/>
          <a:p>
            <a:pPr>
              <a:spcBef>
                <a:spcPts val="500"/>
              </a:spcBef>
            </a:pPr>
            <a:r>
              <a:rPr sz="1000">
                <a:solidFill>
                  <a:srgbClr val="1A2330"/>
                </a:solidFill>
              </a:rPr>
              <a:t>▸  Databases: IEEE Xplore, Scopus, Google Scholar, ACM Digital Library</a:t>
            </a:r>
            <a:endParaRPr sz="1000">
              <a:solidFill>
                <a:srgbClr val="1A2330"/>
              </a:solidFill>
            </a:endParaRPr>
          </a:p>
          <a:p>
            <a:pPr>
              <a:spcBef>
                <a:spcPts val="500"/>
              </a:spcBef>
            </a:pPr>
            <a:r>
              <a:rPr sz="1000">
                <a:solidFill>
                  <a:srgbClr val="1A2330"/>
                </a:solidFill>
              </a:rPr>
              <a:t>▸  Search terms: thrift retail management, POS systems, inventory management, M-Pesa integration, dynamic pricing</a:t>
            </a:r>
            <a:endParaRPr sz="1000">
              <a:solidFill>
                <a:srgbClr val="1A2330"/>
              </a:solidFill>
            </a:endParaRPr>
          </a:p>
          <a:p>
            <a:pPr>
              <a:spcBef>
                <a:spcPts val="500"/>
              </a:spcBef>
            </a:pPr>
            <a:r>
              <a:rPr sz="1000">
                <a:solidFill>
                  <a:srgbClr val="1A2330"/>
                </a:solidFill>
              </a:rPr>
              <a:t>▸  Inclusion criteria: peer-reviewed, 2019–2025, English-language, directly relevant to retail management systems</a:t>
            </a:r>
            <a:endParaRPr sz="1000">
              <a:solidFill>
                <a:srgbClr val="1A2330"/>
              </a:solidFill>
            </a:endParaRPr>
          </a:p>
          <a:p>
            <a:pPr>
              <a:spcBef>
                <a:spcPts val="500"/>
              </a:spcBef>
            </a:pPr>
            <a:r>
              <a:rPr sz="1000">
                <a:solidFill>
                  <a:srgbClr val="1A2330"/>
                </a:solidFill>
              </a:rPr>
              <a:t>▸  5 prototype systems selected for structured comparative review (Section 2.3)</a:t>
            </a:r>
            <a:endParaRPr sz="1000">
              <a:solidFill>
                <a:srgbClr val="1A2330"/>
              </a:solidFill>
            </a:endParaRPr>
          </a:p>
        </p:txBody>
      </p:sp>
      <p:sp>
        <p:nvSpPr>
          <p:cNvPr id="16" name="Rectangle 15"/>
          <p:cNvSpPr/>
          <p:nvPr/>
        </p:nvSpPr>
        <p:spPr>
          <a:xfrm>
            <a:off x="347472" y="3456432"/>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465575"/>
            <a:ext cx="10972800" cy="301752"/>
          </a:xfrm>
          <a:prstGeom prst="rect">
            <a:avLst/>
          </a:prstGeom>
          <a:noFill/>
        </p:spPr>
        <p:txBody>
          <a:bodyPr wrap="square">
            <a:spAutoFit/>
          </a:bodyPr>
          <a:lstStyle/>
          <a:p>
            <a:pPr algn="l"/>
            <a:r>
              <a:rPr sz="1200" b="1" i="0">
                <a:solidFill>
                  <a:srgbClr val="007A4A"/>
                </a:solidFill>
              </a:rPr>
              <a:t>§3.3 Requirement Elicitation</a:t>
            </a:r>
            <a:endParaRPr sz="1200" b="1" i="0">
              <a:solidFill>
                <a:srgbClr val="007A4A"/>
              </a:solidFill>
            </a:endParaRPr>
          </a:p>
        </p:txBody>
      </p:sp>
      <p:sp>
        <p:nvSpPr>
          <p:cNvPr id="18" name="TextBox 17"/>
          <p:cNvSpPr txBox="1"/>
          <p:nvPr/>
        </p:nvSpPr>
        <p:spPr>
          <a:xfrm>
            <a:off x="438912" y="3822191"/>
            <a:ext cx="5394960" cy="256032"/>
          </a:xfrm>
          <a:prstGeom prst="rect">
            <a:avLst/>
          </a:prstGeom>
          <a:noFill/>
        </p:spPr>
        <p:txBody>
          <a:bodyPr wrap="square">
            <a:spAutoFit/>
          </a:bodyPr>
          <a:lstStyle/>
          <a:p>
            <a:pPr algn="l"/>
            <a:r>
              <a:rPr sz="1000" b="1" i="0">
                <a:solidFill>
                  <a:srgbClr val="007A4A"/>
                </a:solidFill>
              </a:rPr>
              <a:t>Three data collection methods used:</a:t>
            </a:r>
            <a:endParaRPr sz="1000" b="1" i="0">
              <a:solidFill>
                <a:srgbClr val="007A4A"/>
              </a:solidFill>
            </a:endParaRPr>
          </a:p>
        </p:txBody>
      </p:sp>
      <p:sp>
        <p:nvSpPr>
          <p:cNvPr id="19" name="Rectangle 18"/>
          <p:cNvSpPr/>
          <p:nvPr/>
        </p:nvSpPr>
        <p:spPr>
          <a:xfrm>
            <a:off x="438912" y="4114800"/>
            <a:ext cx="2011680" cy="292608"/>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114800"/>
            <a:ext cx="1975104" cy="292608"/>
          </a:xfrm>
          <a:prstGeom prst="rect">
            <a:avLst/>
          </a:prstGeom>
          <a:noFill/>
        </p:spPr>
        <p:txBody>
          <a:bodyPr wrap="square">
            <a:spAutoFit/>
          </a:bodyPr>
          <a:lstStyle/>
          <a:p>
            <a:pPr algn="l"/>
            <a:r>
              <a:rPr sz="850" b="1" i="0">
                <a:solidFill>
                  <a:srgbClr val="FFFFFF"/>
                </a:solidFill>
              </a:rPr>
              <a:t>Interviews (§3.3.3)</a:t>
            </a:r>
            <a:endParaRPr sz="850" b="1" i="0">
              <a:solidFill>
                <a:srgbClr val="FFFFFF"/>
              </a:solidFill>
            </a:endParaRPr>
          </a:p>
        </p:txBody>
      </p:sp>
      <p:sp>
        <p:nvSpPr>
          <p:cNvPr id="21" name="TextBox 20"/>
          <p:cNvSpPr txBox="1"/>
          <p:nvPr/>
        </p:nvSpPr>
        <p:spPr>
          <a:xfrm>
            <a:off x="2487168" y="4142232"/>
            <a:ext cx="3337560" cy="274320"/>
          </a:xfrm>
          <a:prstGeom prst="rect">
            <a:avLst/>
          </a:prstGeom>
          <a:noFill/>
        </p:spPr>
        <p:txBody>
          <a:bodyPr wrap="square">
            <a:spAutoFit/>
          </a:bodyPr>
          <a:lstStyle/>
          <a:p>
            <a:pPr algn="l"/>
            <a:r>
              <a:rPr sz="900" b="0" i="0">
                <a:solidFill>
                  <a:srgbClr val="1A2330"/>
                </a:solidFill>
              </a:rPr>
              <a:t>Semi-structured interviews with 2 managers — captured business rules, pricing cycle logic, and procurement workflow</a:t>
            </a:r>
            <a:endParaRPr sz="900" b="0" i="0">
              <a:solidFill>
                <a:srgbClr val="1A2330"/>
              </a:solidFill>
            </a:endParaRPr>
          </a:p>
        </p:txBody>
      </p:sp>
      <p:sp>
        <p:nvSpPr>
          <p:cNvPr id="22" name="Rectangle 21"/>
          <p:cNvSpPr/>
          <p:nvPr/>
        </p:nvSpPr>
        <p:spPr>
          <a:xfrm>
            <a:off x="438912" y="4517136"/>
            <a:ext cx="2011680" cy="292608"/>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517136"/>
            <a:ext cx="1975104" cy="292608"/>
          </a:xfrm>
          <a:prstGeom prst="rect">
            <a:avLst/>
          </a:prstGeom>
          <a:noFill/>
        </p:spPr>
        <p:txBody>
          <a:bodyPr wrap="square">
            <a:spAutoFit/>
          </a:bodyPr>
          <a:lstStyle/>
          <a:p>
            <a:pPr algn="l"/>
            <a:r>
              <a:rPr sz="850" b="1" i="0">
                <a:solidFill>
                  <a:srgbClr val="FFFFFF"/>
                </a:solidFill>
              </a:rPr>
              <a:t>Questionnaires (§3.3.4)</a:t>
            </a:r>
            <a:endParaRPr sz="850" b="1" i="0">
              <a:solidFill>
                <a:srgbClr val="FFFFFF"/>
              </a:solidFill>
            </a:endParaRPr>
          </a:p>
        </p:txBody>
      </p:sp>
      <p:sp>
        <p:nvSpPr>
          <p:cNvPr id="24" name="TextBox 23"/>
          <p:cNvSpPr txBox="1"/>
          <p:nvPr/>
        </p:nvSpPr>
        <p:spPr>
          <a:xfrm>
            <a:off x="2487168" y="4544568"/>
            <a:ext cx="3337560" cy="274320"/>
          </a:xfrm>
          <a:prstGeom prst="rect">
            <a:avLst/>
          </a:prstGeom>
          <a:noFill/>
        </p:spPr>
        <p:txBody>
          <a:bodyPr wrap="square">
            <a:spAutoFit/>
          </a:bodyPr>
          <a:lstStyle/>
          <a:p>
            <a:pPr algn="l"/>
            <a:r>
              <a:rPr sz="900" b="0" i="0">
                <a:solidFill>
                  <a:srgbClr val="1A2330"/>
                </a:solidFill>
              </a:rPr>
              <a:t>Structured questionnaires administered to 8 cashiers and 4 warehouse staff — identified daily pain points and usability needs</a:t>
            </a:r>
            <a:endParaRPr sz="900" b="0" i="0">
              <a:solidFill>
                <a:srgbClr val="1A2330"/>
              </a:solidFill>
            </a:endParaRPr>
          </a:p>
        </p:txBody>
      </p:sp>
      <p:sp>
        <p:nvSpPr>
          <p:cNvPr id="25" name="Rectangle 24"/>
          <p:cNvSpPr/>
          <p:nvPr/>
        </p:nvSpPr>
        <p:spPr>
          <a:xfrm>
            <a:off x="438912" y="4919472"/>
            <a:ext cx="2011680" cy="292608"/>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919472"/>
            <a:ext cx="1975104" cy="292608"/>
          </a:xfrm>
          <a:prstGeom prst="rect">
            <a:avLst/>
          </a:prstGeom>
          <a:noFill/>
        </p:spPr>
        <p:txBody>
          <a:bodyPr wrap="square">
            <a:spAutoFit/>
          </a:bodyPr>
          <a:lstStyle/>
          <a:p>
            <a:pPr algn="l"/>
            <a:r>
              <a:rPr sz="850" b="1" i="0">
                <a:solidFill>
                  <a:srgbClr val="FFFFFF"/>
                </a:solidFill>
              </a:rPr>
              <a:t>Observation (§3.3.5)</a:t>
            </a:r>
            <a:endParaRPr sz="850" b="1" i="0">
              <a:solidFill>
                <a:srgbClr val="FFFFFF"/>
              </a:solidFill>
            </a:endParaRPr>
          </a:p>
        </p:txBody>
      </p:sp>
      <p:sp>
        <p:nvSpPr>
          <p:cNvPr id="27" name="TextBox 26"/>
          <p:cNvSpPr txBox="1"/>
          <p:nvPr/>
        </p:nvSpPr>
        <p:spPr>
          <a:xfrm>
            <a:off x="2487168" y="4946904"/>
            <a:ext cx="3337560" cy="274320"/>
          </a:xfrm>
          <a:prstGeom prst="rect">
            <a:avLst/>
          </a:prstGeom>
          <a:noFill/>
        </p:spPr>
        <p:txBody>
          <a:bodyPr wrap="square">
            <a:spAutoFit/>
          </a:bodyPr>
          <a:lstStyle/>
          <a:p>
            <a:pPr algn="l"/>
            <a:r>
              <a:rPr sz="900" b="0" i="0">
                <a:solidFill>
                  <a:srgbClr val="1A2330"/>
                </a:solidFill>
              </a:rPr>
              <a:t>Direct observation of live sales transactions, stock-receiving, and end-of-day reconciliation — documented actual workflow deviations</a:t>
            </a:r>
            <a:endParaRPr sz="900" b="0" i="0">
              <a:solidFill>
                <a:srgbClr val="1A2330"/>
              </a:solidFill>
            </a:endParaRPr>
          </a:p>
        </p:txBody>
      </p:sp>
      <p:sp>
        <p:nvSpPr>
          <p:cNvPr id="28" name="Rectangle 27"/>
          <p:cNvSpPr/>
          <p:nvPr/>
        </p:nvSpPr>
        <p:spPr>
          <a:xfrm>
            <a:off x="6291072" y="1261872"/>
            <a:ext cx="557784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7472" y="1325880"/>
            <a:ext cx="82296" cy="32004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2056384"/>
            <a:ext cx="10972800" cy="301752"/>
          </a:xfrm>
          <a:prstGeom prst="rect">
            <a:avLst/>
          </a:prstGeom>
          <a:noFill/>
        </p:spPr>
        <p:txBody>
          <a:bodyPr wrap="square">
            <a:spAutoFit/>
          </a:bodyPr>
          <a:lstStyle/>
          <a:p>
            <a:pPr algn="l"/>
            <a:r>
              <a:rPr sz="1200" b="1" i="0">
                <a:solidFill>
                  <a:srgbClr val="E07B00"/>
                </a:solidFill>
              </a:rPr>
              <a:t>§3.3.1 Requirement Specification</a:t>
            </a:r>
            <a:endParaRPr sz="1200" b="1" i="0">
              <a:solidFill>
                <a:srgbClr val="E07B00"/>
              </a:solidFill>
            </a:endParaRPr>
          </a:p>
        </p:txBody>
      </p:sp>
      <p:sp>
        <p:nvSpPr>
          <p:cNvPr id="31" name="TextBox 30"/>
          <p:cNvSpPr txBox="1"/>
          <p:nvPr/>
        </p:nvSpPr>
        <p:spPr>
          <a:xfrm>
            <a:off x="6400800" y="1691640"/>
            <a:ext cx="5394960" cy="256032"/>
          </a:xfrm>
          <a:prstGeom prst="rect">
            <a:avLst/>
          </a:prstGeom>
          <a:noFill/>
        </p:spPr>
        <p:txBody>
          <a:bodyPr wrap="square">
            <a:spAutoFit/>
          </a:bodyPr>
          <a:lstStyle/>
          <a:p>
            <a:pPr algn="l"/>
            <a:r>
              <a:rPr sz="1000" b="1" i="0">
                <a:solidFill>
                  <a:srgbClr val="E07B00"/>
                </a:solidFill>
              </a:rPr>
              <a:t>Functional Requirements (FR):</a:t>
            </a:r>
            <a:endParaRPr sz="1000" b="1" i="0">
              <a:solidFill>
                <a:srgbClr val="E07B00"/>
              </a:solidFill>
            </a:endParaRPr>
          </a:p>
        </p:txBody>
      </p:sp>
      <p:sp>
        <p:nvSpPr>
          <p:cNvPr id="32" name="TextBox 31"/>
          <p:cNvSpPr txBox="1"/>
          <p:nvPr/>
        </p:nvSpPr>
        <p:spPr>
          <a:xfrm>
            <a:off x="6400800" y="1965960"/>
            <a:ext cx="5394960" cy="1828800"/>
          </a:xfrm>
          <a:prstGeom prst="rect">
            <a:avLst/>
          </a:prstGeom>
          <a:noFill/>
        </p:spPr>
        <p:txBody>
          <a:bodyPr wrap="square">
            <a:spAutoFit/>
          </a:bodyPr>
          <a:lstStyle/>
          <a:p>
            <a:pPr>
              <a:spcBef>
                <a:spcPts val="500"/>
              </a:spcBef>
            </a:pPr>
            <a:r>
              <a:rPr sz="1000">
                <a:solidFill>
                  <a:srgbClr val="1A2330"/>
                </a:solidFill>
              </a:rPr>
              <a:t>▸  FR-1: Real-time inventory update on every POS transaction</a:t>
            </a:r>
            <a:endParaRPr sz="1000">
              <a:solidFill>
                <a:srgbClr val="1A2330"/>
              </a:solidFill>
            </a:endParaRPr>
          </a:p>
          <a:p>
            <a:pPr>
              <a:spcBef>
                <a:spcPts val="500"/>
              </a:spcBef>
            </a:pPr>
            <a:r>
              <a:rPr sz="1000">
                <a:solidFill>
                  <a:srgbClr val="1A2330"/>
                </a:solidFill>
              </a:rPr>
              <a:t>▸  FR-2: Dynamic price cycle automation (base_price − daily reduction)</a:t>
            </a:r>
            <a:endParaRPr sz="1000">
              <a:solidFill>
                <a:srgbClr val="1A2330"/>
              </a:solidFill>
            </a:endParaRPr>
          </a:p>
          <a:p>
            <a:pPr>
              <a:spcBef>
                <a:spcPts val="500"/>
              </a:spcBef>
            </a:pPr>
            <a:r>
              <a:rPr sz="1000">
                <a:solidFill>
                  <a:srgbClr val="1A2330"/>
                </a:solidFill>
              </a:rPr>
              <a:t>▸  FR-3: M-Pesa STK Push initiation and callback matching</a:t>
            </a:r>
            <a:endParaRPr sz="1000">
              <a:solidFill>
                <a:srgbClr val="1A2330"/>
              </a:solidFill>
            </a:endParaRPr>
          </a:p>
          <a:p>
            <a:pPr>
              <a:spcBef>
                <a:spcPts val="500"/>
              </a:spcBef>
            </a:pPr>
            <a:r>
              <a:rPr sz="1000">
                <a:solidFill>
                  <a:srgbClr val="1A2330"/>
                </a:solidFill>
              </a:rPr>
              <a:t>▸  FR-4: Purchase requisition → approval → GRN workflow</a:t>
            </a:r>
            <a:endParaRPr sz="1000">
              <a:solidFill>
                <a:srgbClr val="1A2330"/>
              </a:solidFill>
            </a:endParaRPr>
          </a:p>
          <a:p>
            <a:pPr>
              <a:spcBef>
                <a:spcPts val="500"/>
              </a:spcBef>
            </a:pPr>
            <a:r>
              <a:rPr sz="1000">
                <a:solidFill>
                  <a:srgbClr val="1A2330"/>
                </a:solidFill>
              </a:rPr>
              <a:t>▸  FR-5: RBAC — Admin, Manager, Cashier, Warehouse Staff roles</a:t>
            </a:r>
            <a:endParaRPr sz="1000">
              <a:solidFill>
                <a:srgbClr val="1A2330"/>
              </a:solidFill>
            </a:endParaRPr>
          </a:p>
          <a:p>
            <a:pPr>
              <a:spcBef>
                <a:spcPts val="500"/>
              </a:spcBef>
            </a:pPr>
            <a:r>
              <a:rPr sz="1000">
                <a:solidFill>
                  <a:srgbClr val="1A2330"/>
                </a:solidFill>
              </a:rPr>
              <a:t>▸  FR-12: Audit log for all critical system events</a:t>
            </a:r>
            <a:endParaRPr sz="1000">
              <a:solidFill>
                <a:srgbClr val="1A2330"/>
              </a:solidFill>
            </a:endParaRPr>
          </a:p>
        </p:txBody>
      </p:sp>
      <p:sp>
        <p:nvSpPr>
          <p:cNvPr id="33" name="TextBox 32"/>
          <p:cNvSpPr txBox="1"/>
          <p:nvPr/>
        </p:nvSpPr>
        <p:spPr>
          <a:xfrm>
            <a:off x="6400800" y="3886200"/>
            <a:ext cx="5394960" cy="256032"/>
          </a:xfrm>
          <a:prstGeom prst="rect">
            <a:avLst/>
          </a:prstGeom>
          <a:noFill/>
        </p:spPr>
        <p:txBody>
          <a:bodyPr wrap="square">
            <a:spAutoFit/>
          </a:bodyPr>
          <a:lstStyle/>
          <a:p>
            <a:pPr algn="l"/>
            <a:r>
              <a:rPr sz="1000" b="1" i="0">
                <a:solidFill>
                  <a:srgbClr val="E07B00"/>
                </a:solidFill>
              </a:rPr>
              <a:t>Non-Functional Requirements (NFR):</a:t>
            </a:r>
            <a:endParaRPr sz="1000" b="1" i="0">
              <a:solidFill>
                <a:srgbClr val="E07B00"/>
              </a:solidFill>
            </a:endParaRPr>
          </a:p>
        </p:txBody>
      </p:sp>
      <p:sp>
        <p:nvSpPr>
          <p:cNvPr id="34" name="TextBox 33"/>
          <p:cNvSpPr txBox="1"/>
          <p:nvPr/>
        </p:nvSpPr>
        <p:spPr>
          <a:xfrm>
            <a:off x="6400800" y="4160520"/>
            <a:ext cx="5394960" cy="1554480"/>
          </a:xfrm>
          <a:prstGeom prst="rect">
            <a:avLst/>
          </a:prstGeom>
          <a:noFill/>
        </p:spPr>
        <p:txBody>
          <a:bodyPr wrap="square">
            <a:spAutoFit/>
          </a:bodyPr>
          <a:lstStyle/>
          <a:p>
            <a:pPr>
              <a:spcBef>
                <a:spcPts val="500"/>
              </a:spcBef>
            </a:pPr>
            <a:r>
              <a:rPr sz="1000">
                <a:solidFill>
                  <a:srgbClr val="1A2330"/>
                </a:solidFill>
              </a:rPr>
              <a:t>▸  Response time ≤ 3 seconds for all standard operations</a:t>
            </a:r>
            <a:endParaRPr sz="1000">
              <a:solidFill>
                <a:srgbClr val="1A2330"/>
              </a:solidFill>
            </a:endParaRPr>
          </a:p>
          <a:p>
            <a:pPr>
              <a:spcBef>
                <a:spcPts val="500"/>
              </a:spcBef>
            </a:pPr>
            <a:r>
              <a:rPr sz="1000">
                <a:solidFill>
                  <a:srgbClr val="1A2330"/>
                </a:solidFill>
              </a:rPr>
              <a:t>▸  System accessible via LAN browser — no client installation</a:t>
            </a:r>
            <a:endParaRPr sz="1000">
              <a:solidFill>
                <a:srgbClr val="1A2330"/>
              </a:solidFill>
            </a:endParaRPr>
          </a:p>
          <a:p>
            <a:pPr>
              <a:spcBef>
                <a:spcPts val="500"/>
              </a:spcBef>
            </a:pPr>
            <a:r>
              <a:rPr sz="1000">
                <a:solidFill>
                  <a:srgbClr val="1A2330"/>
                </a:solidFill>
              </a:rPr>
              <a:t>▸  Role-enforced access — unauthorised pages return 403</a:t>
            </a:r>
            <a:endParaRPr sz="1000">
              <a:solidFill>
                <a:srgbClr val="1A2330"/>
              </a:solidFill>
            </a:endParaRPr>
          </a:p>
          <a:p>
            <a:pPr>
              <a:spcBef>
                <a:spcPts val="500"/>
              </a:spcBef>
            </a:pPr>
            <a:r>
              <a:rPr sz="1000">
                <a:solidFill>
                  <a:srgbClr val="1A2330"/>
                </a:solidFill>
              </a:rPr>
              <a:t>▸  Reports printable to A4 with print-optimised CSS</a:t>
            </a:r>
            <a:endParaRPr sz="1000">
              <a:solidFill>
                <a:srgbClr val="1A2330"/>
              </a:solidFill>
            </a:endParaRPr>
          </a:p>
          <a:p>
            <a:pPr>
              <a:spcBef>
                <a:spcPts val="500"/>
              </a:spcBef>
            </a:pPr>
            <a:r>
              <a:rPr sz="1000">
                <a:solidFill>
                  <a:srgbClr val="1A2330"/>
                </a:solidFill>
              </a:rPr>
              <a:t>▸  Usability: accessible to secondary-education-level staff</a:t>
            </a:r>
            <a:endParaRPr sz="1000">
              <a:solidFill>
                <a:srgbClr val="1A233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Research Methodology (cont.)</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§3.4 System Analysis  |  §3.5 Design  |  §3.6 Implementation  |  §3.7 Testing  |  §3.8 Deployment</a:t>
            </a:r>
            <a:endParaRPr sz="1100" b="0" i="1">
              <a:solidFill>
                <a:srgbClr val="00C278"/>
              </a:solidFill>
            </a:endParaRPr>
          </a:p>
        </p:txBody>
      </p:sp>
      <p:sp>
        <p:nvSpPr>
          <p:cNvPr id="6" name="Rectangle 5"/>
          <p:cNvSpPr/>
          <p:nvPr/>
        </p:nvSpPr>
        <p:spPr>
          <a:xfrm>
            <a:off x="9445752" y="0"/>
            <a:ext cx="2743200" cy="347472"/>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3: Research Methodology</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10 / 16</a:t>
            </a:r>
            <a:endParaRPr sz="850" b="1" i="0">
              <a:solidFill>
                <a:srgbClr val="FFFFFF"/>
              </a:solidFill>
            </a:endParaRPr>
          </a:p>
        </p:txBody>
      </p:sp>
      <p:sp>
        <p:nvSpPr>
          <p:cNvPr id="11" name="Rectangle 10"/>
          <p:cNvSpPr/>
          <p:nvPr/>
        </p:nvSpPr>
        <p:spPr>
          <a:xfrm>
            <a:off x="320040" y="1261872"/>
            <a:ext cx="5577840" cy="49377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 y="1325880"/>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35024"/>
            <a:ext cx="10972800" cy="301752"/>
          </a:xfrm>
          <a:prstGeom prst="rect">
            <a:avLst/>
          </a:prstGeom>
          <a:noFill/>
        </p:spPr>
        <p:txBody>
          <a:bodyPr wrap="square">
            <a:spAutoFit/>
          </a:bodyPr>
          <a:lstStyle/>
          <a:p>
            <a:pPr algn="l"/>
            <a:r>
              <a:rPr sz="1200" b="1" i="0">
                <a:solidFill>
                  <a:srgbClr val="00995E"/>
                </a:solidFill>
              </a:rPr>
              <a:t>§3.4 Analysis Tools — SSAD Based (Current System)</a:t>
            </a:r>
            <a:endParaRPr sz="1200" b="1" i="0">
              <a:solidFill>
                <a:srgbClr val="00995E"/>
              </a:solidFill>
            </a:endParaRPr>
          </a:p>
        </p:txBody>
      </p:sp>
      <p:sp>
        <p:nvSpPr>
          <p:cNvPr id="14" name="TextBox 13"/>
          <p:cNvSpPr txBox="1"/>
          <p:nvPr/>
        </p:nvSpPr>
        <p:spPr>
          <a:xfrm>
            <a:off x="438912" y="1691640"/>
            <a:ext cx="5394960" cy="1188720"/>
          </a:xfrm>
          <a:prstGeom prst="rect">
            <a:avLst/>
          </a:prstGeom>
          <a:noFill/>
        </p:spPr>
        <p:txBody>
          <a:bodyPr wrap="square">
            <a:spAutoFit/>
          </a:bodyPr>
          <a:lstStyle/>
          <a:p>
            <a:pPr>
              <a:spcBef>
                <a:spcPts val="500"/>
              </a:spcBef>
            </a:pPr>
            <a:r>
              <a:rPr sz="1050">
                <a:solidFill>
                  <a:srgbClr val="1A2330"/>
                </a:solidFill>
              </a:rPr>
              <a:t>▸  Context Diagram — system boundary, external entities</a:t>
            </a:r>
            <a:endParaRPr sz="1050">
              <a:solidFill>
                <a:srgbClr val="1A2330"/>
              </a:solidFill>
            </a:endParaRPr>
          </a:p>
          <a:p>
            <a:pPr>
              <a:spcBef>
                <a:spcPts val="500"/>
              </a:spcBef>
            </a:pPr>
            <a:r>
              <a:rPr sz="1050">
                <a:solidFill>
                  <a:srgbClr val="1A2330"/>
                </a:solidFill>
              </a:rPr>
              <a:t>▸  Level 1 DFD — 5 primary processes identified</a:t>
            </a:r>
            <a:endParaRPr sz="1050">
              <a:solidFill>
                <a:srgbClr val="1A2330"/>
              </a:solidFill>
            </a:endParaRPr>
          </a:p>
          <a:p>
            <a:pPr>
              <a:spcBef>
                <a:spcPts val="500"/>
              </a:spcBef>
            </a:pPr>
            <a:r>
              <a:rPr sz="1050">
                <a:solidFill>
                  <a:srgbClr val="1A2330"/>
                </a:solidFill>
              </a:rPr>
              <a:t>▸  Process Flowchart — current sales transaction mapped</a:t>
            </a:r>
            <a:endParaRPr sz="1050">
              <a:solidFill>
                <a:srgbClr val="1A2330"/>
              </a:solidFill>
            </a:endParaRPr>
          </a:p>
          <a:p>
            <a:pPr>
              <a:spcBef>
                <a:spcPts val="500"/>
              </a:spcBef>
            </a:pPr>
            <a:r>
              <a:rPr sz="1050">
                <a:solidFill>
                  <a:srgbClr val="1A2330"/>
                </a:solidFill>
              </a:rPr>
              <a:t>▸  Data I/O Analysis — inputs, outputs, data stores documented</a:t>
            </a:r>
            <a:endParaRPr sz="1050">
              <a:solidFill>
                <a:srgbClr val="1A2330"/>
              </a:solidFill>
            </a:endParaRPr>
          </a:p>
        </p:txBody>
      </p:sp>
      <p:sp>
        <p:nvSpPr>
          <p:cNvPr id="15" name="Rectangle 14"/>
          <p:cNvSpPr/>
          <p:nvPr/>
        </p:nvSpPr>
        <p:spPr>
          <a:xfrm>
            <a:off x="347472" y="2999232"/>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008375"/>
            <a:ext cx="10972800" cy="301752"/>
          </a:xfrm>
          <a:prstGeom prst="rect">
            <a:avLst/>
          </a:prstGeom>
          <a:noFill/>
        </p:spPr>
        <p:txBody>
          <a:bodyPr wrap="square">
            <a:spAutoFit/>
          </a:bodyPr>
          <a:lstStyle/>
          <a:p>
            <a:pPr algn="l"/>
            <a:r>
              <a:rPr sz="1200" b="1" i="0">
                <a:solidFill>
                  <a:srgbClr val="007A4A"/>
                </a:solidFill>
              </a:rPr>
              <a:t>§3.5 Design Tools — SSAD Based (Proposed System)</a:t>
            </a:r>
            <a:endParaRPr sz="1200" b="1" i="0">
              <a:solidFill>
                <a:srgbClr val="007A4A"/>
              </a:solidFill>
            </a:endParaRPr>
          </a:p>
        </p:txBody>
      </p:sp>
      <p:sp>
        <p:nvSpPr>
          <p:cNvPr id="17" name="TextBox 16"/>
          <p:cNvSpPr txBox="1"/>
          <p:nvPr/>
        </p:nvSpPr>
        <p:spPr>
          <a:xfrm>
            <a:off x="438912" y="3346704"/>
            <a:ext cx="5394960" cy="1938528"/>
          </a:xfrm>
          <a:prstGeom prst="rect">
            <a:avLst/>
          </a:prstGeom>
          <a:noFill/>
        </p:spPr>
        <p:txBody>
          <a:bodyPr wrap="square">
            <a:spAutoFit/>
          </a:bodyPr>
          <a:lstStyle/>
          <a:p>
            <a:pPr>
              <a:spcBef>
                <a:spcPts val="500"/>
              </a:spcBef>
            </a:pPr>
            <a:r>
              <a:rPr sz="1050">
                <a:solidFill>
                  <a:srgbClr val="1A2330"/>
                </a:solidFill>
              </a:rPr>
              <a:t>▸  Use Case Diagram: 8 use cases, 4 human roles, 2 external actors</a:t>
            </a:r>
            <a:endParaRPr sz="1050">
              <a:solidFill>
                <a:srgbClr val="1A2330"/>
              </a:solidFill>
            </a:endParaRPr>
          </a:p>
          <a:p>
            <a:pPr>
              <a:spcBef>
                <a:spcPts val="500"/>
              </a:spcBef>
            </a:pPr>
            <a:r>
              <a:rPr sz="1050">
                <a:solidFill>
                  <a:srgbClr val="1A2330"/>
                </a:solidFill>
              </a:rPr>
              <a:t>▸  Activity Diagram: M-Pesa payment swimlanes</a:t>
            </a:r>
            <a:endParaRPr sz="1050">
              <a:solidFill>
                <a:srgbClr val="1A2330"/>
              </a:solidFill>
            </a:endParaRPr>
          </a:p>
          <a:p>
            <a:pPr>
              <a:spcBef>
                <a:spcPts val="500"/>
              </a:spcBef>
            </a:pPr>
            <a:r>
              <a:rPr sz="1050">
                <a:solidFill>
                  <a:srgbClr val="1A2330"/>
                </a:solidFill>
              </a:rPr>
              <a:t>▸  Class Diagram: 6 application classes</a:t>
            </a:r>
            <a:endParaRPr sz="1050">
              <a:solidFill>
                <a:srgbClr val="1A2330"/>
              </a:solidFill>
            </a:endParaRPr>
          </a:p>
          <a:p>
            <a:pPr>
              <a:spcBef>
                <a:spcPts val="500"/>
              </a:spcBef>
            </a:pPr>
            <a:r>
              <a:rPr sz="1050">
                <a:solidFill>
                  <a:srgbClr val="1A2330"/>
                </a:solidFill>
              </a:rPr>
              <a:t>▸  Sequence Diagram: time-ordered system interactions</a:t>
            </a:r>
            <a:endParaRPr sz="1050">
              <a:solidFill>
                <a:srgbClr val="1A2330"/>
              </a:solidFill>
            </a:endParaRPr>
          </a:p>
          <a:p>
            <a:pPr>
              <a:spcBef>
                <a:spcPts val="500"/>
              </a:spcBef>
            </a:pPr>
            <a:r>
              <a:rPr sz="1050">
                <a:solidFill>
                  <a:srgbClr val="1A2330"/>
                </a:solidFill>
              </a:rPr>
              <a:t>▸  Process Flowchart, Context Diagram, Level 1 DFD</a:t>
            </a:r>
            <a:endParaRPr sz="1050">
              <a:solidFill>
                <a:srgbClr val="1A2330"/>
              </a:solidFill>
            </a:endParaRPr>
          </a:p>
          <a:p>
            <a:pPr>
              <a:spcBef>
                <a:spcPts val="500"/>
              </a:spcBef>
            </a:pPr>
            <a:r>
              <a:rPr sz="1050">
                <a:solidFill>
                  <a:srgbClr val="1A2330"/>
                </a:solidFill>
              </a:rPr>
              <a:t>▸  ERD: 7 core entities, 3NF normalised</a:t>
            </a:r>
            <a:endParaRPr sz="1050">
              <a:solidFill>
                <a:srgbClr val="1A2330"/>
              </a:solidFill>
            </a:endParaRPr>
          </a:p>
          <a:p>
            <a:pPr>
              <a:spcBef>
                <a:spcPts val="500"/>
              </a:spcBef>
            </a:pPr>
            <a:r>
              <a:rPr sz="1050">
                <a:solidFill>
                  <a:srgbClr val="1A2330"/>
                </a:solidFill>
              </a:rPr>
              <a:t>▸  UI Prototypes: 3 iteration cycles</a:t>
            </a:r>
            <a:endParaRPr sz="1050">
              <a:solidFill>
                <a:srgbClr val="1A2330"/>
              </a:solidFill>
            </a:endParaRPr>
          </a:p>
        </p:txBody>
      </p:sp>
      <p:sp>
        <p:nvSpPr>
          <p:cNvPr id="18" name="Rectangle 17"/>
          <p:cNvSpPr/>
          <p:nvPr/>
        </p:nvSpPr>
        <p:spPr>
          <a:xfrm>
            <a:off x="347472" y="5413248"/>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5422392"/>
            <a:ext cx="10972800" cy="301752"/>
          </a:xfrm>
          <a:prstGeom prst="rect">
            <a:avLst/>
          </a:prstGeom>
          <a:noFill/>
        </p:spPr>
        <p:txBody>
          <a:bodyPr wrap="square">
            <a:spAutoFit/>
          </a:bodyPr>
          <a:lstStyle/>
          <a:p>
            <a:pPr algn="l"/>
            <a:r>
              <a:rPr sz="1200" b="1" i="0">
                <a:solidFill>
                  <a:srgbClr val="00995E"/>
                </a:solidFill>
              </a:rPr>
              <a:t>§3.8 Deployment Strategy</a:t>
            </a:r>
            <a:endParaRPr sz="1200" b="1" i="0">
              <a:solidFill>
                <a:srgbClr val="00995E"/>
              </a:solidFill>
            </a:endParaRPr>
          </a:p>
        </p:txBody>
      </p:sp>
      <p:sp>
        <p:nvSpPr>
          <p:cNvPr id="20" name="TextBox 19"/>
          <p:cNvSpPr txBox="1"/>
          <p:nvPr/>
        </p:nvSpPr>
        <p:spPr>
          <a:xfrm>
            <a:off x="438912" y="5742432"/>
            <a:ext cx="5394960" cy="411480"/>
          </a:xfrm>
          <a:prstGeom prst="rect">
            <a:avLst/>
          </a:prstGeom>
          <a:noFill/>
        </p:spPr>
        <p:txBody>
          <a:bodyPr wrap="square">
            <a:spAutoFit/>
          </a:bodyPr>
          <a:lstStyle/>
          <a:p>
            <a:pPr>
              <a:spcBef>
                <a:spcPts val="500"/>
              </a:spcBef>
            </a:pPr>
            <a:r>
              <a:rPr sz="1000">
                <a:solidFill>
                  <a:srgbClr val="1A2330"/>
                </a:solidFill>
              </a:rPr>
              <a:t>▸  Parallel running → Pilot branch → Phased cut-over (POS → Inventory → Procurement → Reports)</a:t>
            </a:r>
            <a:endParaRPr sz="1000">
              <a:solidFill>
                <a:srgbClr val="1A2330"/>
              </a:solidFill>
            </a:endParaRPr>
          </a:p>
          <a:p>
            <a:pPr>
              <a:spcBef>
                <a:spcPts val="500"/>
              </a:spcBef>
            </a:pPr>
            <a:r>
              <a:rPr sz="1000">
                <a:solidFill>
                  <a:srgbClr val="1A2330"/>
                </a:solidFill>
              </a:rPr>
              <a:t>▸  CSV import for supplier/item master data; physical count for opening stock</a:t>
            </a:r>
            <a:endParaRPr sz="1000">
              <a:solidFill>
                <a:srgbClr val="1A2330"/>
              </a:solidFill>
            </a:endParaRPr>
          </a:p>
        </p:txBody>
      </p:sp>
      <p:sp>
        <p:nvSpPr>
          <p:cNvPr id="21" name="Rectangle 20"/>
          <p:cNvSpPr/>
          <p:nvPr/>
        </p:nvSpPr>
        <p:spPr>
          <a:xfrm>
            <a:off x="6291072" y="1261872"/>
            <a:ext cx="5577840" cy="49377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7472" y="1325880"/>
            <a:ext cx="82296" cy="32004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1335024"/>
            <a:ext cx="10972800" cy="301752"/>
          </a:xfrm>
          <a:prstGeom prst="rect">
            <a:avLst/>
          </a:prstGeom>
          <a:noFill/>
        </p:spPr>
        <p:txBody>
          <a:bodyPr wrap="square">
            <a:spAutoFit/>
          </a:bodyPr>
          <a:lstStyle/>
          <a:p>
            <a:pPr algn="l"/>
            <a:r>
              <a:rPr sz="1200" b="1" i="0">
                <a:solidFill>
                  <a:srgbClr val="E07B00"/>
                </a:solidFill>
              </a:rPr>
              <a:t>§3.6 Implementation Technologies</a:t>
            </a:r>
            <a:endParaRPr sz="1200" b="1" i="0">
              <a:solidFill>
                <a:srgbClr val="E07B00"/>
              </a:solidFill>
            </a:endParaRPr>
          </a:p>
        </p:txBody>
      </p:sp>
      <p:sp>
        <p:nvSpPr>
          <p:cNvPr id="24" name="Rectangle 23"/>
          <p:cNvSpPr/>
          <p:nvPr/>
        </p:nvSpPr>
        <p:spPr>
          <a:xfrm>
            <a:off x="6400800" y="1691640"/>
            <a:ext cx="1828800" cy="310896"/>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1691640"/>
            <a:ext cx="1792224" cy="310896"/>
          </a:xfrm>
          <a:prstGeom prst="rect">
            <a:avLst/>
          </a:prstGeom>
          <a:noFill/>
        </p:spPr>
        <p:txBody>
          <a:bodyPr wrap="square">
            <a:spAutoFit/>
          </a:bodyPr>
          <a:lstStyle/>
          <a:p>
            <a:pPr algn="l"/>
            <a:r>
              <a:rPr sz="900" b="1" i="0">
                <a:solidFill>
                  <a:srgbClr val="FFFFFF"/>
                </a:solidFill>
              </a:rPr>
              <a:t>Frontend (§3.6.2)</a:t>
            </a:r>
            <a:endParaRPr sz="900" b="1" i="0">
              <a:solidFill>
                <a:srgbClr val="FFFFFF"/>
              </a:solidFill>
            </a:endParaRPr>
          </a:p>
        </p:txBody>
      </p:sp>
      <p:sp>
        <p:nvSpPr>
          <p:cNvPr id="26" name="TextBox 25"/>
          <p:cNvSpPr txBox="1"/>
          <p:nvPr/>
        </p:nvSpPr>
        <p:spPr>
          <a:xfrm>
            <a:off x="8275320" y="1728216"/>
            <a:ext cx="3520440" cy="256032"/>
          </a:xfrm>
          <a:prstGeom prst="rect">
            <a:avLst/>
          </a:prstGeom>
          <a:noFill/>
        </p:spPr>
        <p:txBody>
          <a:bodyPr wrap="square">
            <a:spAutoFit/>
          </a:bodyPr>
          <a:lstStyle/>
          <a:p>
            <a:pPr algn="l"/>
            <a:r>
              <a:rPr sz="900" b="0" i="0">
                <a:solidFill>
                  <a:srgbClr val="1A2330"/>
                </a:solidFill>
              </a:rPr>
              <a:t>HTML5, Vanilla JavaScript, CSS3 with design system</a:t>
            </a:r>
            <a:endParaRPr sz="900" b="0" i="0">
              <a:solidFill>
                <a:srgbClr val="1A2330"/>
              </a:solidFill>
            </a:endParaRPr>
          </a:p>
        </p:txBody>
      </p:sp>
      <p:sp>
        <p:nvSpPr>
          <p:cNvPr id="27" name="Rectangle 26"/>
          <p:cNvSpPr/>
          <p:nvPr/>
        </p:nvSpPr>
        <p:spPr>
          <a:xfrm>
            <a:off x="6400800" y="2075688"/>
            <a:ext cx="1828800" cy="310896"/>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2075688"/>
            <a:ext cx="1792224" cy="310896"/>
          </a:xfrm>
          <a:prstGeom prst="rect">
            <a:avLst/>
          </a:prstGeom>
          <a:noFill/>
        </p:spPr>
        <p:txBody>
          <a:bodyPr wrap="square">
            <a:spAutoFit/>
          </a:bodyPr>
          <a:lstStyle/>
          <a:p>
            <a:pPr algn="l"/>
            <a:r>
              <a:rPr sz="900" b="1" i="0">
                <a:solidFill>
                  <a:srgbClr val="FFFFFF"/>
                </a:solidFill>
              </a:rPr>
              <a:t>Backend (§3.6.1)</a:t>
            </a:r>
            <a:endParaRPr sz="900" b="1" i="0">
              <a:solidFill>
                <a:srgbClr val="FFFFFF"/>
              </a:solidFill>
            </a:endParaRPr>
          </a:p>
        </p:txBody>
      </p:sp>
      <p:sp>
        <p:nvSpPr>
          <p:cNvPr id="29" name="TextBox 28"/>
          <p:cNvSpPr txBox="1"/>
          <p:nvPr/>
        </p:nvSpPr>
        <p:spPr>
          <a:xfrm>
            <a:off x="8275320" y="2112264"/>
            <a:ext cx="3520440" cy="256032"/>
          </a:xfrm>
          <a:prstGeom prst="rect">
            <a:avLst/>
          </a:prstGeom>
          <a:noFill/>
        </p:spPr>
        <p:txBody>
          <a:bodyPr wrap="square">
            <a:spAutoFit/>
          </a:bodyPr>
          <a:lstStyle/>
          <a:p>
            <a:pPr algn="l"/>
            <a:r>
              <a:rPr sz="900" b="0" i="0">
                <a:solidFill>
                  <a:srgbClr val="1A2330"/>
                </a:solidFill>
              </a:rPr>
              <a:t>PHP 8.2 — PDO prepared statements, session-based auth</a:t>
            </a:r>
            <a:endParaRPr sz="900" b="0" i="0">
              <a:solidFill>
                <a:srgbClr val="1A2330"/>
              </a:solidFill>
            </a:endParaRPr>
          </a:p>
        </p:txBody>
      </p:sp>
      <p:sp>
        <p:nvSpPr>
          <p:cNvPr id="30" name="Rectangle 29"/>
          <p:cNvSpPr/>
          <p:nvPr/>
        </p:nvSpPr>
        <p:spPr>
          <a:xfrm>
            <a:off x="6400800" y="2459736"/>
            <a:ext cx="1828800" cy="310896"/>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459736"/>
            <a:ext cx="1792224" cy="310896"/>
          </a:xfrm>
          <a:prstGeom prst="rect">
            <a:avLst/>
          </a:prstGeom>
          <a:noFill/>
        </p:spPr>
        <p:txBody>
          <a:bodyPr wrap="square">
            <a:spAutoFit/>
          </a:bodyPr>
          <a:lstStyle/>
          <a:p>
            <a:pPr algn="l"/>
            <a:r>
              <a:rPr sz="900" b="1" i="0">
                <a:solidFill>
                  <a:srgbClr val="FFFFFF"/>
                </a:solidFill>
              </a:rPr>
              <a:t>Database (§3.6.3)</a:t>
            </a:r>
            <a:endParaRPr sz="900" b="1" i="0">
              <a:solidFill>
                <a:srgbClr val="FFFFFF"/>
              </a:solidFill>
            </a:endParaRPr>
          </a:p>
        </p:txBody>
      </p:sp>
      <p:sp>
        <p:nvSpPr>
          <p:cNvPr id="32" name="TextBox 31"/>
          <p:cNvSpPr txBox="1"/>
          <p:nvPr/>
        </p:nvSpPr>
        <p:spPr>
          <a:xfrm>
            <a:off x="8275320" y="2496312"/>
            <a:ext cx="3520440" cy="256032"/>
          </a:xfrm>
          <a:prstGeom prst="rect">
            <a:avLst/>
          </a:prstGeom>
          <a:noFill/>
        </p:spPr>
        <p:txBody>
          <a:bodyPr wrap="square">
            <a:spAutoFit/>
          </a:bodyPr>
          <a:lstStyle/>
          <a:p>
            <a:pPr algn="l"/>
            <a:r>
              <a:rPr sz="900" b="0" i="0">
                <a:solidFill>
                  <a:srgbClr val="1A2330"/>
                </a:solidFill>
              </a:rPr>
              <a:t>MySQL 8.0 — InnoDB, ACID-compliant</a:t>
            </a:r>
            <a:endParaRPr sz="900" b="0" i="0">
              <a:solidFill>
                <a:srgbClr val="1A2330"/>
              </a:solidFill>
            </a:endParaRPr>
          </a:p>
        </p:txBody>
      </p:sp>
      <p:sp>
        <p:nvSpPr>
          <p:cNvPr id="33" name="Rectangle 32"/>
          <p:cNvSpPr/>
          <p:nvPr/>
        </p:nvSpPr>
        <p:spPr>
          <a:xfrm>
            <a:off x="6400800" y="2843784"/>
            <a:ext cx="1828800" cy="310896"/>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2843784"/>
            <a:ext cx="1792224" cy="310896"/>
          </a:xfrm>
          <a:prstGeom prst="rect">
            <a:avLst/>
          </a:prstGeom>
          <a:noFill/>
        </p:spPr>
        <p:txBody>
          <a:bodyPr wrap="square">
            <a:spAutoFit/>
          </a:bodyPr>
          <a:lstStyle/>
          <a:p>
            <a:pPr algn="l"/>
            <a:r>
              <a:rPr sz="900" b="1" i="0">
                <a:solidFill>
                  <a:srgbClr val="FFFFFF"/>
                </a:solidFill>
              </a:rPr>
              <a:t>Payment API</a:t>
            </a:r>
            <a:endParaRPr sz="900" b="1" i="0">
              <a:solidFill>
                <a:srgbClr val="FFFFFF"/>
              </a:solidFill>
            </a:endParaRPr>
          </a:p>
        </p:txBody>
      </p:sp>
      <p:sp>
        <p:nvSpPr>
          <p:cNvPr id="35" name="TextBox 34"/>
          <p:cNvSpPr txBox="1"/>
          <p:nvPr/>
        </p:nvSpPr>
        <p:spPr>
          <a:xfrm>
            <a:off x="8275320" y="2880360"/>
            <a:ext cx="3520440" cy="256032"/>
          </a:xfrm>
          <a:prstGeom prst="rect">
            <a:avLst/>
          </a:prstGeom>
          <a:noFill/>
        </p:spPr>
        <p:txBody>
          <a:bodyPr wrap="square">
            <a:spAutoFit/>
          </a:bodyPr>
          <a:lstStyle/>
          <a:p>
            <a:pPr algn="l"/>
            <a:r>
              <a:rPr sz="900" b="0" i="0">
                <a:solidFill>
                  <a:srgbClr val="1A2330"/>
                </a:solidFill>
              </a:rPr>
              <a:t>Safaricom Daraja API — M-Pesa C2B STK Push + callback</a:t>
            </a:r>
            <a:endParaRPr sz="900" b="0" i="0">
              <a:solidFill>
                <a:srgbClr val="1A2330"/>
              </a:solidFill>
            </a:endParaRPr>
          </a:p>
        </p:txBody>
      </p:sp>
      <p:sp>
        <p:nvSpPr>
          <p:cNvPr id="36" name="Rectangle 35"/>
          <p:cNvSpPr/>
          <p:nvPr/>
        </p:nvSpPr>
        <p:spPr>
          <a:xfrm>
            <a:off x="6400800" y="3227832"/>
            <a:ext cx="1828800" cy="310896"/>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3227832"/>
            <a:ext cx="1792224" cy="310896"/>
          </a:xfrm>
          <a:prstGeom prst="rect">
            <a:avLst/>
          </a:prstGeom>
          <a:noFill/>
        </p:spPr>
        <p:txBody>
          <a:bodyPr wrap="square">
            <a:spAutoFit/>
          </a:bodyPr>
          <a:lstStyle/>
          <a:p>
            <a:pPr algn="l"/>
            <a:r>
              <a:rPr sz="900" b="1" i="0">
                <a:solidFill>
                  <a:srgbClr val="FFFFFF"/>
                </a:solidFill>
              </a:rPr>
              <a:t>Deployment</a:t>
            </a:r>
            <a:endParaRPr sz="900" b="1" i="0">
              <a:solidFill>
                <a:srgbClr val="FFFFFF"/>
              </a:solidFill>
            </a:endParaRPr>
          </a:p>
        </p:txBody>
      </p:sp>
      <p:sp>
        <p:nvSpPr>
          <p:cNvPr id="38" name="TextBox 37"/>
          <p:cNvSpPr txBox="1"/>
          <p:nvPr/>
        </p:nvSpPr>
        <p:spPr>
          <a:xfrm>
            <a:off x="8275320" y="3264408"/>
            <a:ext cx="3520440" cy="256032"/>
          </a:xfrm>
          <a:prstGeom prst="rect">
            <a:avLst/>
          </a:prstGeom>
          <a:noFill/>
        </p:spPr>
        <p:txBody>
          <a:bodyPr wrap="square">
            <a:spAutoFit/>
          </a:bodyPr>
          <a:lstStyle/>
          <a:p>
            <a:pPr algn="l"/>
            <a:r>
              <a:rPr sz="900" b="0" i="0">
                <a:solidFill>
                  <a:srgbClr val="1A2330"/>
                </a:solidFill>
              </a:rPr>
              <a:t>LAMP stack (Apache + MySQL + PHP) — XAMPP, LAN accessible</a:t>
            </a:r>
            <a:endParaRPr sz="900" b="0" i="0">
              <a:solidFill>
                <a:srgbClr val="1A2330"/>
              </a:solidFill>
            </a:endParaRPr>
          </a:p>
        </p:txBody>
      </p:sp>
      <p:sp>
        <p:nvSpPr>
          <p:cNvPr id="39" name="Rectangle 38"/>
          <p:cNvSpPr/>
          <p:nvPr/>
        </p:nvSpPr>
        <p:spPr>
          <a:xfrm>
            <a:off x="347472" y="3657600"/>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3666744"/>
            <a:ext cx="10972800" cy="301752"/>
          </a:xfrm>
          <a:prstGeom prst="rect">
            <a:avLst/>
          </a:prstGeom>
          <a:noFill/>
        </p:spPr>
        <p:txBody>
          <a:bodyPr wrap="square">
            <a:spAutoFit/>
          </a:bodyPr>
          <a:lstStyle/>
          <a:p>
            <a:pPr algn="l"/>
            <a:r>
              <a:rPr sz="1200" b="1" i="0">
                <a:solidFill>
                  <a:srgbClr val="007A4A"/>
                </a:solidFill>
              </a:rPr>
              <a:t>§3.7 Testing Plan &amp; Techniques</a:t>
            </a:r>
            <a:endParaRPr sz="1200" b="1" i="0">
              <a:solidFill>
                <a:srgbClr val="007A4A"/>
              </a:solidFill>
            </a:endParaRPr>
          </a:p>
        </p:txBody>
      </p:sp>
      <p:sp>
        <p:nvSpPr>
          <p:cNvPr id="41" name="Rectangle 40"/>
          <p:cNvSpPr/>
          <p:nvPr/>
        </p:nvSpPr>
        <p:spPr>
          <a:xfrm>
            <a:off x="6400800" y="4005072"/>
            <a:ext cx="1234440" cy="310896"/>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19088" y="4005072"/>
            <a:ext cx="1197864" cy="310896"/>
          </a:xfrm>
          <a:prstGeom prst="rect">
            <a:avLst/>
          </a:prstGeom>
          <a:noFill/>
        </p:spPr>
        <p:txBody>
          <a:bodyPr wrap="square">
            <a:spAutoFit/>
          </a:bodyPr>
          <a:lstStyle/>
          <a:p>
            <a:pPr algn="ctr"/>
            <a:r>
              <a:rPr sz="900" b="1" i="0">
                <a:solidFill>
                  <a:srgbClr val="FFFFFF"/>
                </a:solidFill>
              </a:rPr>
              <a:t>Unit</a:t>
            </a:r>
            <a:endParaRPr sz="900" b="1" i="0">
              <a:solidFill>
                <a:srgbClr val="FFFFFF"/>
              </a:solidFill>
            </a:endParaRPr>
          </a:p>
        </p:txBody>
      </p:sp>
      <p:sp>
        <p:nvSpPr>
          <p:cNvPr id="43" name="TextBox 42"/>
          <p:cNvSpPr txBox="1"/>
          <p:nvPr/>
        </p:nvSpPr>
        <p:spPr>
          <a:xfrm>
            <a:off x="7680960" y="4041648"/>
            <a:ext cx="4114800" cy="256032"/>
          </a:xfrm>
          <a:prstGeom prst="rect">
            <a:avLst/>
          </a:prstGeom>
          <a:noFill/>
        </p:spPr>
        <p:txBody>
          <a:bodyPr wrap="square">
            <a:spAutoFit/>
          </a:bodyPr>
          <a:lstStyle/>
          <a:p>
            <a:pPr algn="l"/>
            <a:r>
              <a:rPr sz="900" b="0" i="0">
                <a:solidFill>
                  <a:srgbClr val="1A2330"/>
                </a:solidFill>
              </a:rPr>
              <a:t>Individual functions in isolation — price computation, stock deduction</a:t>
            </a:r>
            <a:endParaRPr sz="900" b="0" i="0">
              <a:solidFill>
                <a:srgbClr val="1A2330"/>
              </a:solidFill>
            </a:endParaRPr>
          </a:p>
        </p:txBody>
      </p:sp>
      <p:sp>
        <p:nvSpPr>
          <p:cNvPr id="44" name="Rectangle 43"/>
          <p:cNvSpPr/>
          <p:nvPr/>
        </p:nvSpPr>
        <p:spPr>
          <a:xfrm>
            <a:off x="6400800" y="4389120"/>
            <a:ext cx="1234440" cy="310896"/>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19088" y="4389120"/>
            <a:ext cx="1197864" cy="310896"/>
          </a:xfrm>
          <a:prstGeom prst="rect">
            <a:avLst/>
          </a:prstGeom>
          <a:noFill/>
        </p:spPr>
        <p:txBody>
          <a:bodyPr wrap="square">
            <a:spAutoFit/>
          </a:bodyPr>
          <a:lstStyle/>
          <a:p>
            <a:pPr algn="ctr"/>
            <a:r>
              <a:rPr sz="900" b="1" i="0">
                <a:solidFill>
                  <a:srgbClr val="FFFFFF"/>
                </a:solidFill>
              </a:rPr>
              <a:t>Integration</a:t>
            </a:r>
            <a:endParaRPr sz="900" b="1" i="0">
              <a:solidFill>
                <a:srgbClr val="FFFFFF"/>
              </a:solidFill>
            </a:endParaRPr>
          </a:p>
        </p:txBody>
      </p:sp>
      <p:sp>
        <p:nvSpPr>
          <p:cNvPr id="46" name="TextBox 45"/>
          <p:cNvSpPr txBox="1"/>
          <p:nvPr/>
        </p:nvSpPr>
        <p:spPr>
          <a:xfrm>
            <a:off x="7680960" y="4425696"/>
            <a:ext cx="4114800" cy="256032"/>
          </a:xfrm>
          <a:prstGeom prst="rect">
            <a:avLst/>
          </a:prstGeom>
          <a:noFill/>
        </p:spPr>
        <p:txBody>
          <a:bodyPr wrap="square">
            <a:spAutoFit/>
          </a:bodyPr>
          <a:lstStyle/>
          <a:p>
            <a:pPr algn="l"/>
            <a:r>
              <a:rPr sz="900" b="0" i="0">
                <a:solidFill>
                  <a:srgbClr val="1A2330"/>
                </a:solidFill>
              </a:rPr>
              <a:t>Module interactions end-to-end — POS → stock_movements → inventory</a:t>
            </a:r>
            <a:endParaRPr sz="900" b="0" i="0">
              <a:solidFill>
                <a:srgbClr val="1A2330"/>
              </a:solidFill>
            </a:endParaRPr>
          </a:p>
        </p:txBody>
      </p:sp>
      <p:sp>
        <p:nvSpPr>
          <p:cNvPr id="47" name="Rectangle 46"/>
          <p:cNvSpPr/>
          <p:nvPr/>
        </p:nvSpPr>
        <p:spPr>
          <a:xfrm>
            <a:off x="6400800" y="4773168"/>
            <a:ext cx="1234440" cy="310896"/>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19088" y="4773168"/>
            <a:ext cx="1197864" cy="310896"/>
          </a:xfrm>
          <a:prstGeom prst="rect">
            <a:avLst/>
          </a:prstGeom>
          <a:noFill/>
        </p:spPr>
        <p:txBody>
          <a:bodyPr wrap="square">
            <a:spAutoFit/>
          </a:bodyPr>
          <a:lstStyle/>
          <a:p>
            <a:pPr algn="ctr"/>
            <a:r>
              <a:rPr sz="900" b="1" i="0">
                <a:solidFill>
                  <a:srgbClr val="FFFFFF"/>
                </a:solidFill>
              </a:rPr>
              <a:t>System</a:t>
            </a:r>
            <a:endParaRPr sz="900" b="1" i="0">
              <a:solidFill>
                <a:srgbClr val="FFFFFF"/>
              </a:solidFill>
            </a:endParaRPr>
          </a:p>
        </p:txBody>
      </p:sp>
      <p:sp>
        <p:nvSpPr>
          <p:cNvPr id="49" name="TextBox 48"/>
          <p:cNvSpPr txBox="1"/>
          <p:nvPr/>
        </p:nvSpPr>
        <p:spPr>
          <a:xfrm>
            <a:off x="7680960" y="4809744"/>
            <a:ext cx="4114800" cy="256032"/>
          </a:xfrm>
          <a:prstGeom prst="rect">
            <a:avLst/>
          </a:prstGeom>
          <a:noFill/>
        </p:spPr>
        <p:txBody>
          <a:bodyPr wrap="square">
            <a:spAutoFit/>
          </a:bodyPr>
          <a:lstStyle/>
          <a:p>
            <a:pPr algn="l"/>
            <a:r>
              <a:rPr sz="900" b="0" i="0">
                <a:solidFill>
                  <a:srgbClr val="1A2330"/>
                </a:solidFill>
              </a:rPr>
              <a:t>Full transaction flow — barcode scan → M-Pesa STK → stock deducted</a:t>
            </a:r>
            <a:endParaRPr sz="900" b="0" i="0">
              <a:solidFill>
                <a:srgbClr val="1A2330"/>
              </a:solidFill>
            </a:endParaRPr>
          </a:p>
        </p:txBody>
      </p:sp>
      <p:sp>
        <p:nvSpPr>
          <p:cNvPr id="50" name="Rectangle 49"/>
          <p:cNvSpPr/>
          <p:nvPr/>
        </p:nvSpPr>
        <p:spPr>
          <a:xfrm>
            <a:off x="6400800" y="5157216"/>
            <a:ext cx="1234440" cy="310896"/>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19088" y="5157216"/>
            <a:ext cx="1197864" cy="310896"/>
          </a:xfrm>
          <a:prstGeom prst="rect">
            <a:avLst/>
          </a:prstGeom>
          <a:noFill/>
        </p:spPr>
        <p:txBody>
          <a:bodyPr wrap="square">
            <a:spAutoFit/>
          </a:bodyPr>
          <a:lstStyle/>
          <a:p>
            <a:pPr algn="ctr"/>
            <a:r>
              <a:rPr sz="900" b="1" i="0">
                <a:solidFill>
                  <a:srgbClr val="FFFFFF"/>
                </a:solidFill>
              </a:rPr>
              <a:t>UAT</a:t>
            </a:r>
            <a:endParaRPr sz="900" b="1" i="0">
              <a:solidFill>
                <a:srgbClr val="FFFFFF"/>
              </a:solidFill>
            </a:endParaRPr>
          </a:p>
        </p:txBody>
      </p:sp>
      <p:sp>
        <p:nvSpPr>
          <p:cNvPr id="52" name="TextBox 51"/>
          <p:cNvSpPr txBox="1"/>
          <p:nvPr/>
        </p:nvSpPr>
        <p:spPr>
          <a:xfrm>
            <a:off x="7680960" y="5193792"/>
            <a:ext cx="4114800" cy="256032"/>
          </a:xfrm>
          <a:prstGeom prst="rect">
            <a:avLst/>
          </a:prstGeom>
          <a:noFill/>
        </p:spPr>
        <p:txBody>
          <a:bodyPr wrap="square">
            <a:spAutoFit/>
          </a:bodyPr>
          <a:lstStyle/>
          <a:p>
            <a:pPr algn="l"/>
            <a:r>
              <a:rPr sz="900" b="0" i="0">
                <a:solidFill>
                  <a:srgbClr val="1A2330"/>
                </a:solidFill>
              </a:rPr>
              <a:t>2 cashiers + 1 manager at pilot branch — full real-world sales shift</a:t>
            </a:r>
            <a:endParaRPr sz="900" b="0" i="0">
              <a:solidFill>
                <a:srgbClr val="1A2330"/>
              </a:solidFill>
            </a:endParaRPr>
          </a:p>
        </p:txBody>
      </p:sp>
      <p:sp>
        <p:nvSpPr>
          <p:cNvPr id="53" name="Rectangle 52"/>
          <p:cNvSpPr/>
          <p:nvPr/>
        </p:nvSpPr>
        <p:spPr>
          <a:xfrm>
            <a:off x="6400800" y="5541264"/>
            <a:ext cx="1234440" cy="310896"/>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19088" y="5541264"/>
            <a:ext cx="1197864" cy="310896"/>
          </a:xfrm>
          <a:prstGeom prst="rect">
            <a:avLst/>
          </a:prstGeom>
          <a:noFill/>
        </p:spPr>
        <p:txBody>
          <a:bodyPr wrap="square">
            <a:spAutoFit/>
          </a:bodyPr>
          <a:lstStyle/>
          <a:p>
            <a:pPr algn="ctr"/>
            <a:r>
              <a:rPr sz="900" b="1" i="0">
                <a:solidFill>
                  <a:srgbClr val="FFFFFF"/>
                </a:solidFill>
              </a:rPr>
              <a:t>Security</a:t>
            </a:r>
            <a:endParaRPr sz="900" b="1" i="0">
              <a:solidFill>
                <a:srgbClr val="FFFFFF"/>
              </a:solidFill>
            </a:endParaRPr>
          </a:p>
        </p:txBody>
      </p:sp>
      <p:sp>
        <p:nvSpPr>
          <p:cNvPr id="55" name="TextBox 54"/>
          <p:cNvSpPr txBox="1"/>
          <p:nvPr/>
        </p:nvSpPr>
        <p:spPr>
          <a:xfrm>
            <a:off x="7680960" y="5577840"/>
            <a:ext cx="4114800" cy="256032"/>
          </a:xfrm>
          <a:prstGeom prst="rect">
            <a:avLst/>
          </a:prstGeom>
          <a:noFill/>
        </p:spPr>
        <p:txBody>
          <a:bodyPr wrap="square">
            <a:spAutoFit/>
          </a:bodyPr>
          <a:lstStyle/>
          <a:p>
            <a:pPr algn="l"/>
            <a:r>
              <a:rPr sz="900" b="0" i="0">
                <a:solidFill>
                  <a:srgbClr val="1A2330"/>
                </a:solidFill>
              </a:rPr>
              <a:t>RBAC enforcement, SQL injection, session management</a:t>
            </a:r>
            <a:endParaRPr sz="900" b="0" i="0">
              <a:solidFill>
                <a:srgbClr val="1A233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Chapter 4: System Analysis</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§4.2 Current System  |  §4.3 Feasibility Study  |  §4.4 Data I/O  |  §4.5 Process Logic</a:t>
            </a:r>
            <a:endParaRPr sz="1100" b="0" i="1">
              <a:solidFill>
                <a:srgbClr val="00C278"/>
              </a:solidFill>
            </a:endParaRPr>
          </a:p>
        </p:txBody>
      </p:sp>
      <p:sp>
        <p:nvSpPr>
          <p:cNvPr id="6" name="Rectangle 5"/>
          <p:cNvSpPr/>
          <p:nvPr/>
        </p:nvSpPr>
        <p:spPr>
          <a:xfrm>
            <a:off x="9445752" y="0"/>
            <a:ext cx="2743200" cy="347472"/>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4: System Analysis</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11 / 16</a:t>
            </a:r>
            <a:endParaRPr sz="850" b="1" i="0">
              <a:solidFill>
                <a:srgbClr val="FFFFFF"/>
              </a:solidFill>
            </a:endParaRPr>
          </a:p>
        </p:txBody>
      </p:sp>
      <p:sp>
        <p:nvSpPr>
          <p:cNvPr id="11" name="Rectangle 10"/>
          <p:cNvSpPr/>
          <p:nvPr/>
        </p:nvSpPr>
        <p:spPr>
          <a:xfrm>
            <a:off x="320040" y="1261872"/>
            <a:ext cx="557784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 y="1325880"/>
            <a:ext cx="82296" cy="320040"/>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35024"/>
            <a:ext cx="10972800" cy="301752"/>
          </a:xfrm>
          <a:prstGeom prst="rect">
            <a:avLst/>
          </a:prstGeom>
          <a:noFill/>
        </p:spPr>
        <p:txBody>
          <a:bodyPr wrap="square">
            <a:spAutoFit/>
          </a:bodyPr>
          <a:lstStyle/>
          <a:p>
            <a:pPr algn="l"/>
            <a:r>
              <a:rPr sz="1200" b="1" i="0">
                <a:solidFill>
                  <a:srgbClr val="D93025"/>
                </a:solidFill>
              </a:rPr>
              <a:t>§4.2 Current System (Manual / Semi-Automated)</a:t>
            </a:r>
            <a:endParaRPr sz="1200" b="1" i="0">
              <a:solidFill>
                <a:srgbClr val="D93025"/>
              </a:solidFill>
            </a:endParaRPr>
          </a:p>
        </p:txBody>
      </p:sp>
      <p:sp>
        <p:nvSpPr>
          <p:cNvPr id="14" name="TextBox 13"/>
          <p:cNvSpPr txBox="1"/>
          <p:nvPr/>
        </p:nvSpPr>
        <p:spPr>
          <a:xfrm>
            <a:off x="438912" y="1691640"/>
            <a:ext cx="5394960" cy="228600"/>
          </a:xfrm>
          <a:prstGeom prst="rect">
            <a:avLst/>
          </a:prstGeom>
          <a:noFill/>
        </p:spPr>
        <p:txBody>
          <a:bodyPr wrap="square">
            <a:spAutoFit/>
          </a:bodyPr>
          <a:lstStyle/>
          <a:p>
            <a:pPr algn="l"/>
            <a:r>
              <a:rPr sz="1000" b="1" i="0">
                <a:solidFill>
                  <a:srgbClr val="1A2330"/>
                </a:solidFill>
              </a:rPr>
              <a:t>At the POS:</a:t>
            </a:r>
            <a:endParaRPr sz="1000" b="1" i="0">
              <a:solidFill>
                <a:srgbClr val="1A2330"/>
              </a:solidFill>
            </a:endParaRPr>
          </a:p>
        </p:txBody>
      </p:sp>
      <p:sp>
        <p:nvSpPr>
          <p:cNvPr id="15" name="TextBox 14"/>
          <p:cNvSpPr txBox="1"/>
          <p:nvPr/>
        </p:nvSpPr>
        <p:spPr>
          <a:xfrm>
            <a:off x="438912" y="1938528"/>
            <a:ext cx="5394960" cy="1143000"/>
          </a:xfrm>
          <a:prstGeom prst="rect">
            <a:avLst/>
          </a:prstGeom>
          <a:noFill/>
        </p:spPr>
        <p:txBody>
          <a:bodyPr wrap="square">
            <a:spAutoFit/>
          </a:bodyPr>
          <a:lstStyle/>
          <a:p>
            <a:pPr>
              <a:spcBef>
                <a:spcPts val="500"/>
              </a:spcBef>
            </a:pPr>
            <a:r>
              <a:rPr sz="1000">
                <a:solidFill>
                  <a:srgbClr val="1A2330"/>
                </a:solidFill>
              </a:rPr>
              <a:t>▸  Cashier visually reads price tag — calculates total mentally or on a calculator</a:t>
            </a:r>
            <a:endParaRPr sz="1000">
              <a:solidFill>
                <a:srgbClr val="1A2330"/>
              </a:solidFill>
            </a:endParaRPr>
          </a:p>
          <a:p>
            <a:pPr>
              <a:spcBef>
                <a:spcPts val="500"/>
              </a:spcBef>
            </a:pPr>
            <a:r>
              <a:rPr sz="1000">
                <a:solidFill>
                  <a:srgbClr val="1A2330"/>
                </a:solidFill>
              </a:rPr>
              <a:t>▸  Cash accepted directly; M-Pesa customers initiate payment on their own phone (no STK Push)</a:t>
            </a:r>
            <a:endParaRPr sz="1000">
              <a:solidFill>
                <a:srgbClr val="1A2330"/>
              </a:solidFill>
            </a:endParaRPr>
          </a:p>
          <a:p>
            <a:pPr>
              <a:spcBef>
                <a:spcPts val="500"/>
              </a:spcBef>
            </a:pPr>
            <a:r>
              <a:rPr sz="1000">
                <a:solidFill>
                  <a:srgbClr val="1A2330"/>
                </a:solidFill>
              </a:rPr>
              <a:t>▸  ETR machine issues KRA receipt (compliance only — no inventory link)</a:t>
            </a:r>
            <a:endParaRPr sz="1000">
              <a:solidFill>
                <a:srgbClr val="1A2330"/>
              </a:solidFill>
            </a:endParaRPr>
          </a:p>
          <a:p>
            <a:pPr>
              <a:spcBef>
                <a:spcPts val="500"/>
              </a:spcBef>
            </a:pPr>
            <a:r>
              <a:rPr sz="1000">
                <a:solidFill>
                  <a:srgbClr val="1A2330"/>
                </a:solidFill>
              </a:rPr>
              <a:t>▸  Cashier records sale manually in a handwritten sales book</a:t>
            </a:r>
            <a:endParaRPr sz="1000">
              <a:solidFill>
                <a:srgbClr val="1A2330"/>
              </a:solidFill>
            </a:endParaRPr>
          </a:p>
        </p:txBody>
      </p:sp>
      <p:sp>
        <p:nvSpPr>
          <p:cNvPr id="16" name="TextBox 15"/>
          <p:cNvSpPr txBox="1"/>
          <p:nvPr/>
        </p:nvSpPr>
        <p:spPr>
          <a:xfrm>
            <a:off x="438912" y="3127248"/>
            <a:ext cx="5394960" cy="228600"/>
          </a:xfrm>
          <a:prstGeom prst="rect">
            <a:avLst/>
          </a:prstGeom>
          <a:noFill/>
        </p:spPr>
        <p:txBody>
          <a:bodyPr wrap="square">
            <a:spAutoFit/>
          </a:bodyPr>
          <a:lstStyle/>
          <a:p>
            <a:pPr algn="l"/>
            <a:r>
              <a:rPr sz="1000" b="1" i="0">
                <a:solidFill>
                  <a:srgbClr val="1A2330"/>
                </a:solidFill>
              </a:rPr>
              <a:t>At the Warehouse:</a:t>
            </a:r>
            <a:endParaRPr sz="1000" b="1" i="0">
              <a:solidFill>
                <a:srgbClr val="1A2330"/>
              </a:solidFill>
            </a:endParaRPr>
          </a:p>
        </p:txBody>
      </p:sp>
      <p:sp>
        <p:nvSpPr>
          <p:cNvPr id="17" name="TextBox 16"/>
          <p:cNvSpPr txBox="1"/>
          <p:nvPr/>
        </p:nvSpPr>
        <p:spPr>
          <a:xfrm>
            <a:off x="438912" y="3374136"/>
            <a:ext cx="5394960" cy="914400"/>
          </a:xfrm>
          <a:prstGeom prst="rect">
            <a:avLst/>
          </a:prstGeom>
          <a:noFill/>
        </p:spPr>
        <p:txBody>
          <a:bodyPr wrap="square">
            <a:spAutoFit/>
          </a:bodyPr>
          <a:lstStyle/>
          <a:p>
            <a:pPr>
              <a:spcBef>
                <a:spcPts val="500"/>
              </a:spcBef>
            </a:pPr>
            <a:r>
              <a:rPr sz="1000">
                <a:solidFill>
                  <a:srgbClr val="1A2330"/>
                </a:solidFill>
              </a:rPr>
              <a:t>▸  Bales arrive → staff count and sort by category → quantities recorded in a ledger</a:t>
            </a:r>
            <a:endParaRPr sz="1000">
              <a:solidFill>
                <a:srgbClr val="1A2330"/>
              </a:solidFill>
            </a:endParaRPr>
          </a:p>
          <a:p>
            <a:pPr>
              <a:spcBef>
                <a:spcPts val="500"/>
              </a:spcBef>
            </a:pPr>
            <a:r>
              <a:rPr sz="1000">
                <a:solidFill>
                  <a:srgbClr val="1A2330"/>
                </a:solidFill>
              </a:rPr>
              <a:t>▸  Price tags physically attached — updated by hand as markdown cycle progresses</a:t>
            </a:r>
            <a:endParaRPr sz="1000">
              <a:solidFill>
                <a:srgbClr val="1A2330"/>
              </a:solidFill>
            </a:endParaRPr>
          </a:p>
          <a:p>
            <a:pPr>
              <a:spcBef>
                <a:spcPts val="500"/>
              </a:spcBef>
            </a:pPr>
            <a:r>
              <a:rPr sz="1000">
                <a:solidFill>
                  <a:srgbClr val="1A2330"/>
                </a:solidFill>
              </a:rPr>
              <a:t>▸  No system link between warehouse records and POS sales data</a:t>
            </a:r>
            <a:endParaRPr sz="1000">
              <a:solidFill>
                <a:srgbClr val="1A2330"/>
              </a:solidFill>
            </a:endParaRPr>
          </a:p>
        </p:txBody>
      </p:sp>
      <p:sp>
        <p:nvSpPr>
          <p:cNvPr id="18" name="TextBox 17"/>
          <p:cNvSpPr txBox="1"/>
          <p:nvPr/>
        </p:nvSpPr>
        <p:spPr>
          <a:xfrm>
            <a:off x="438912" y="4370832"/>
            <a:ext cx="914400" cy="228600"/>
          </a:xfrm>
          <a:prstGeom prst="rect">
            <a:avLst/>
          </a:prstGeom>
          <a:noFill/>
        </p:spPr>
        <p:txBody>
          <a:bodyPr wrap="square">
            <a:spAutoFit/>
          </a:bodyPr>
          <a:lstStyle/>
          <a:p>
            <a:pPr algn="l"/>
            <a:r>
              <a:rPr sz="1000" b="1" i="0">
                <a:solidFill>
                  <a:srgbClr val="00995E"/>
                </a:solidFill>
              </a:rPr>
              <a:t>Strengths:</a:t>
            </a:r>
            <a:endParaRPr sz="1000" b="1" i="0">
              <a:solidFill>
                <a:srgbClr val="00995E"/>
              </a:solidFill>
            </a:endParaRPr>
          </a:p>
        </p:txBody>
      </p:sp>
      <p:sp>
        <p:nvSpPr>
          <p:cNvPr id="19" name="TextBox 18"/>
          <p:cNvSpPr txBox="1"/>
          <p:nvPr/>
        </p:nvSpPr>
        <p:spPr>
          <a:xfrm>
            <a:off x="438912" y="4617720"/>
            <a:ext cx="2468880" cy="685800"/>
          </a:xfrm>
          <a:prstGeom prst="rect">
            <a:avLst/>
          </a:prstGeom>
          <a:noFill/>
        </p:spPr>
        <p:txBody>
          <a:bodyPr wrap="square">
            <a:spAutoFit/>
          </a:bodyPr>
          <a:lstStyle/>
          <a:p>
            <a:pPr>
              <a:spcBef>
                <a:spcPts val="500"/>
              </a:spcBef>
            </a:pPr>
            <a:r>
              <a:rPr sz="950">
                <a:solidFill>
                  <a:srgbClr val="1A2330"/>
                </a:solidFill>
              </a:rPr>
              <a:t>▸  Low cost</a:t>
            </a:r>
            <a:endParaRPr sz="950">
              <a:solidFill>
                <a:srgbClr val="1A2330"/>
              </a:solidFill>
            </a:endParaRPr>
          </a:p>
          <a:p>
            <a:pPr>
              <a:spcBef>
                <a:spcPts val="500"/>
              </a:spcBef>
            </a:pPr>
            <a:r>
              <a:rPr sz="950">
                <a:solidFill>
                  <a:srgbClr val="1A2330"/>
                </a:solidFill>
              </a:rPr>
              <a:t>▸  Familiar to staff</a:t>
            </a:r>
            <a:endParaRPr sz="950">
              <a:solidFill>
                <a:srgbClr val="1A2330"/>
              </a:solidFill>
            </a:endParaRPr>
          </a:p>
          <a:p>
            <a:pPr>
              <a:spcBef>
                <a:spcPts val="500"/>
              </a:spcBef>
            </a:pPr>
            <a:r>
              <a:rPr sz="950">
                <a:solidFill>
                  <a:srgbClr val="1A2330"/>
                </a:solidFill>
              </a:rPr>
              <a:t>▸  Works without electricity</a:t>
            </a:r>
            <a:endParaRPr sz="950">
              <a:solidFill>
                <a:srgbClr val="1A2330"/>
              </a:solidFill>
            </a:endParaRPr>
          </a:p>
        </p:txBody>
      </p:sp>
      <p:sp>
        <p:nvSpPr>
          <p:cNvPr id="20" name="TextBox 19"/>
          <p:cNvSpPr txBox="1"/>
          <p:nvPr/>
        </p:nvSpPr>
        <p:spPr>
          <a:xfrm>
            <a:off x="2999232" y="4370832"/>
            <a:ext cx="1188720" cy="228600"/>
          </a:xfrm>
          <a:prstGeom prst="rect">
            <a:avLst/>
          </a:prstGeom>
          <a:noFill/>
        </p:spPr>
        <p:txBody>
          <a:bodyPr wrap="square">
            <a:spAutoFit/>
          </a:bodyPr>
          <a:lstStyle/>
          <a:p>
            <a:pPr algn="l"/>
            <a:r>
              <a:rPr sz="1000" b="1" i="0">
                <a:solidFill>
                  <a:srgbClr val="D93025"/>
                </a:solidFill>
              </a:rPr>
              <a:t>Weaknesses:</a:t>
            </a:r>
            <a:endParaRPr sz="1000" b="1" i="0">
              <a:solidFill>
                <a:srgbClr val="D93025"/>
              </a:solidFill>
            </a:endParaRPr>
          </a:p>
        </p:txBody>
      </p:sp>
      <p:sp>
        <p:nvSpPr>
          <p:cNvPr id="21" name="TextBox 20"/>
          <p:cNvSpPr txBox="1"/>
          <p:nvPr/>
        </p:nvSpPr>
        <p:spPr>
          <a:xfrm>
            <a:off x="2999232" y="4617720"/>
            <a:ext cx="2651760" cy="822960"/>
          </a:xfrm>
          <a:prstGeom prst="rect">
            <a:avLst/>
          </a:prstGeom>
          <a:noFill/>
        </p:spPr>
        <p:txBody>
          <a:bodyPr wrap="square">
            <a:spAutoFit/>
          </a:bodyPr>
          <a:lstStyle/>
          <a:p>
            <a:pPr>
              <a:spcBef>
                <a:spcPts val="500"/>
              </a:spcBef>
            </a:pPr>
            <a:r>
              <a:rPr sz="950">
                <a:solidFill>
                  <a:srgbClr val="1A2330"/>
                </a:solidFill>
              </a:rPr>
              <a:t>▸  Inaccurate inventory</a:t>
            </a:r>
            <a:endParaRPr sz="950">
              <a:solidFill>
                <a:srgbClr val="1A2330"/>
              </a:solidFill>
            </a:endParaRPr>
          </a:p>
          <a:p>
            <a:pPr>
              <a:spcBef>
                <a:spcPts val="500"/>
              </a:spcBef>
            </a:pPr>
            <a:r>
              <a:rPr sz="950">
                <a:solidFill>
                  <a:srgbClr val="1A2330"/>
                </a:solidFill>
              </a:rPr>
              <a:t>▸  Delayed reporting</a:t>
            </a:r>
            <a:endParaRPr sz="950">
              <a:solidFill>
                <a:srgbClr val="1A2330"/>
              </a:solidFill>
            </a:endParaRPr>
          </a:p>
          <a:p>
            <a:pPr>
              <a:spcBef>
                <a:spcPts val="500"/>
              </a:spcBef>
            </a:pPr>
            <a:r>
              <a:rPr sz="950">
                <a:solidFill>
                  <a:srgbClr val="1A2330"/>
                </a:solidFill>
              </a:rPr>
              <a:t>▸  No audit trail</a:t>
            </a:r>
            <a:endParaRPr sz="950">
              <a:solidFill>
                <a:srgbClr val="1A2330"/>
              </a:solidFill>
            </a:endParaRPr>
          </a:p>
          <a:p>
            <a:pPr>
              <a:spcBef>
                <a:spcPts val="500"/>
              </a:spcBef>
            </a:pPr>
            <a:r>
              <a:rPr sz="950">
                <a:solidFill>
                  <a:srgbClr val="1A2330"/>
                </a:solidFill>
              </a:rPr>
              <a:t>▸  Pricing errors</a:t>
            </a:r>
            <a:endParaRPr sz="950">
              <a:solidFill>
                <a:srgbClr val="1A2330"/>
              </a:solidFill>
            </a:endParaRPr>
          </a:p>
        </p:txBody>
      </p:sp>
      <p:sp>
        <p:nvSpPr>
          <p:cNvPr id="22" name="Rectangle 21"/>
          <p:cNvSpPr/>
          <p:nvPr/>
        </p:nvSpPr>
        <p:spPr>
          <a:xfrm>
            <a:off x="6291072" y="1261872"/>
            <a:ext cx="557784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7472" y="1325880"/>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1335024"/>
            <a:ext cx="10972800" cy="301752"/>
          </a:xfrm>
          <a:prstGeom prst="rect">
            <a:avLst/>
          </a:prstGeom>
          <a:noFill/>
        </p:spPr>
        <p:txBody>
          <a:bodyPr wrap="square">
            <a:spAutoFit/>
          </a:bodyPr>
          <a:lstStyle/>
          <a:p>
            <a:pPr algn="l"/>
            <a:r>
              <a:rPr sz="1200" b="1" i="0">
                <a:solidFill>
                  <a:srgbClr val="00995E"/>
                </a:solidFill>
              </a:rPr>
              <a:t>§4.3 Feasibility Study — All Dimensions FEASIBLE</a:t>
            </a:r>
            <a:endParaRPr sz="1200" b="1" i="0">
              <a:solidFill>
                <a:srgbClr val="00995E"/>
              </a:solidFill>
            </a:endParaRPr>
          </a:p>
        </p:txBody>
      </p:sp>
      <p:sp>
        <p:nvSpPr>
          <p:cNvPr id="25" name="Rectangle 24"/>
          <p:cNvSpPr/>
          <p:nvPr/>
        </p:nvSpPr>
        <p:spPr>
          <a:xfrm>
            <a:off x="6400800" y="1691640"/>
            <a:ext cx="1371600" cy="292608"/>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1691640"/>
            <a:ext cx="1335024" cy="292608"/>
          </a:xfrm>
          <a:prstGeom prst="rect">
            <a:avLst/>
          </a:prstGeom>
          <a:noFill/>
        </p:spPr>
        <p:txBody>
          <a:bodyPr wrap="square">
            <a:spAutoFit/>
          </a:bodyPr>
          <a:lstStyle/>
          <a:p>
            <a:pPr algn="l"/>
            <a:r>
              <a:rPr sz="900" b="1" i="0">
                <a:solidFill>
                  <a:srgbClr val="FFFFFF"/>
                </a:solidFill>
              </a:rPr>
              <a:t>Technical</a:t>
            </a:r>
            <a:endParaRPr sz="900" b="1" i="0">
              <a:solidFill>
                <a:srgbClr val="FFFFFF"/>
              </a:solidFill>
            </a:endParaRPr>
          </a:p>
        </p:txBody>
      </p:sp>
      <p:sp>
        <p:nvSpPr>
          <p:cNvPr id="27" name="TextBox 26"/>
          <p:cNvSpPr txBox="1"/>
          <p:nvPr/>
        </p:nvSpPr>
        <p:spPr>
          <a:xfrm>
            <a:off x="7818120" y="1728216"/>
            <a:ext cx="3977639" cy="237744"/>
          </a:xfrm>
          <a:prstGeom prst="rect">
            <a:avLst/>
          </a:prstGeom>
          <a:noFill/>
        </p:spPr>
        <p:txBody>
          <a:bodyPr wrap="square">
            <a:spAutoFit/>
          </a:bodyPr>
          <a:lstStyle/>
          <a:p>
            <a:pPr algn="l"/>
            <a:r>
              <a:rPr sz="900" b="0" i="0">
                <a:solidFill>
                  <a:srgbClr val="1A2330"/>
                </a:solidFill>
              </a:rPr>
              <a:t>PHP, MySQL, HTML5 are proven, stable, and supported on existing hardware</a:t>
            </a:r>
            <a:endParaRPr sz="900" b="0" i="0">
              <a:solidFill>
                <a:srgbClr val="1A2330"/>
              </a:solidFill>
            </a:endParaRPr>
          </a:p>
        </p:txBody>
      </p:sp>
      <p:sp>
        <p:nvSpPr>
          <p:cNvPr id="28" name="Rectangle 27"/>
          <p:cNvSpPr/>
          <p:nvPr/>
        </p:nvSpPr>
        <p:spPr>
          <a:xfrm>
            <a:off x="6400800" y="2057400"/>
            <a:ext cx="1371600" cy="292608"/>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2057400"/>
            <a:ext cx="1335024" cy="292608"/>
          </a:xfrm>
          <a:prstGeom prst="rect">
            <a:avLst/>
          </a:prstGeom>
          <a:noFill/>
        </p:spPr>
        <p:txBody>
          <a:bodyPr wrap="square">
            <a:spAutoFit/>
          </a:bodyPr>
          <a:lstStyle/>
          <a:p>
            <a:pPr algn="l"/>
            <a:r>
              <a:rPr sz="900" b="1" i="0">
                <a:solidFill>
                  <a:srgbClr val="FFFFFF"/>
                </a:solidFill>
              </a:rPr>
              <a:t>Economic</a:t>
            </a:r>
            <a:endParaRPr sz="900" b="1" i="0">
              <a:solidFill>
                <a:srgbClr val="FFFFFF"/>
              </a:solidFill>
            </a:endParaRPr>
          </a:p>
        </p:txBody>
      </p:sp>
      <p:sp>
        <p:nvSpPr>
          <p:cNvPr id="30" name="TextBox 29"/>
          <p:cNvSpPr txBox="1"/>
          <p:nvPr/>
        </p:nvSpPr>
        <p:spPr>
          <a:xfrm>
            <a:off x="7818120" y="2093976"/>
            <a:ext cx="3977639" cy="237744"/>
          </a:xfrm>
          <a:prstGeom prst="rect">
            <a:avLst/>
          </a:prstGeom>
          <a:noFill/>
        </p:spPr>
        <p:txBody>
          <a:bodyPr wrap="square">
            <a:spAutoFit/>
          </a:bodyPr>
          <a:lstStyle/>
          <a:p>
            <a:pPr algn="l"/>
            <a:r>
              <a:rPr sz="900" b="0" i="0">
                <a:solidFill>
                  <a:srgbClr val="1A2330"/>
                </a:solidFill>
              </a:rPr>
              <a:t>Open-source LAMP stack — minimal licensing cost; hardware already available</a:t>
            </a:r>
            <a:endParaRPr sz="900" b="0" i="0">
              <a:solidFill>
                <a:srgbClr val="1A2330"/>
              </a:solidFill>
            </a:endParaRPr>
          </a:p>
        </p:txBody>
      </p:sp>
      <p:sp>
        <p:nvSpPr>
          <p:cNvPr id="31" name="Rectangle 30"/>
          <p:cNvSpPr/>
          <p:nvPr/>
        </p:nvSpPr>
        <p:spPr>
          <a:xfrm>
            <a:off x="6400800" y="2423160"/>
            <a:ext cx="1371600" cy="292608"/>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9088" y="2423160"/>
            <a:ext cx="1335024" cy="292608"/>
          </a:xfrm>
          <a:prstGeom prst="rect">
            <a:avLst/>
          </a:prstGeom>
          <a:noFill/>
        </p:spPr>
        <p:txBody>
          <a:bodyPr wrap="square">
            <a:spAutoFit/>
          </a:bodyPr>
          <a:lstStyle/>
          <a:p>
            <a:pPr algn="l"/>
            <a:r>
              <a:rPr sz="900" b="1" i="0">
                <a:solidFill>
                  <a:srgbClr val="FFFFFF"/>
                </a:solidFill>
              </a:rPr>
              <a:t>Operational</a:t>
            </a:r>
            <a:endParaRPr sz="900" b="1" i="0">
              <a:solidFill>
                <a:srgbClr val="FFFFFF"/>
              </a:solidFill>
            </a:endParaRPr>
          </a:p>
        </p:txBody>
      </p:sp>
      <p:sp>
        <p:nvSpPr>
          <p:cNvPr id="33" name="TextBox 32"/>
          <p:cNvSpPr txBox="1"/>
          <p:nvPr/>
        </p:nvSpPr>
        <p:spPr>
          <a:xfrm>
            <a:off x="7818120" y="2459736"/>
            <a:ext cx="3977639" cy="237744"/>
          </a:xfrm>
          <a:prstGeom prst="rect">
            <a:avLst/>
          </a:prstGeom>
          <a:noFill/>
        </p:spPr>
        <p:txBody>
          <a:bodyPr wrap="square">
            <a:spAutoFit/>
          </a:bodyPr>
          <a:lstStyle/>
          <a:p>
            <a:pPr algn="l"/>
            <a:r>
              <a:rPr sz="900" b="0" i="0">
                <a:solidFill>
                  <a:srgbClr val="1A2330"/>
                </a:solidFill>
              </a:rPr>
              <a:t>Staff capable of operating web interfaces; training straightforward</a:t>
            </a:r>
            <a:endParaRPr sz="900" b="0" i="0">
              <a:solidFill>
                <a:srgbClr val="1A2330"/>
              </a:solidFill>
            </a:endParaRPr>
          </a:p>
        </p:txBody>
      </p:sp>
      <p:sp>
        <p:nvSpPr>
          <p:cNvPr id="34" name="Rectangle 33"/>
          <p:cNvSpPr/>
          <p:nvPr/>
        </p:nvSpPr>
        <p:spPr>
          <a:xfrm>
            <a:off x="6400800" y="2788920"/>
            <a:ext cx="1371600" cy="292608"/>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19088" y="2788920"/>
            <a:ext cx="1335024" cy="292608"/>
          </a:xfrm>
          <a:prstGeom prst="rect">
            <a:avLst/>
          </a:prstGeom>
          <a:noFill/>
        </p:spPr>
        <p:txBody>
          <a:bodyPr wrap="square">
            <a:spAutoFit/>
          </a:bodyPr>
          <a:lstStyle/>
          <a:p>
            <a:pPr algn="l"/>
            <a:r>
              <a:rPr sz="900" b="1" i="0">
                <a:solidFill>
                  <a:srgbClr val="FFFFFF"/>
                </a:solidFill>
              </a:rPr>
              <a:t>Legal</a:t>
            </a:r>
            <a:endParaRPr sz="900" b="1" i="0">
              <a:solidFill>
                <a:srgbClr val="FFFFFF"/>
              </a:solidFill>
            </a:endParaRPr>
          </a:p>
        </p:txBody>
      </p:sp>
      <p:sp>
        <p:nvSpPr>
          <p:cNvPr id="36" name="TextBox 35"/>
          <p:cNvSpPr txBox="1"/>
          <p:nvPr/>
        </p:nvSpPr>
        <p:spPr>
          <a:xfrm>
            <a:off x="7818120" y="2825496"/>
            <a:ext cx="3977639" cy="237744"/>
          </a:xfrm>
          <a:prstGeom prst="rect">
            <a:avLst/>
          </a:prstGeom>
          <a:noFill/>
        </p:spPr>
        <p:txBody>
          <a:bodyPr wrap="square">
            <a:spAutoFit/>
          </a:bodyPr>
          <a:lstStyle/>
          <a:p>
            <a:pPr algn="l"/>
            <a:r>
              <a:rPr sz="900" b="0" i="0">
                <a:solidFill>
                  <a:srgbClr val="1A2330"/>
                </a:solidFill>
              </a:rPr>
              <a:t>System does not replace ETR — KRA compliance maintained alongside it</a:t>
            </a:r>
            <a:endParaRPr sz="900" b="0" i="0">
              <a:solidFill>
                <a:srgbClr val="1A2330"/>
              </a:solidFill>
            </a:endParaRPr>
          </a:p>
        </p:txBody>
      </p:sp>
      <p:sp>
        <p:nvSpPr>
          <p:cNvPr id="37" name="Rectangle 36"/>
          <p:cNvSpPr/>
          <p:nvPr/>
        </p:nvSpPr>
        <p:spPr>
          <a:xfrm>
            <a:off x="6400800" y="3154679"/>
            <a:ext cx="1371600" cy="292608"/>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19088" y="3154679"/>
            <a:ext cx="1335024" cy="292608"/>
          </a:xfrm>
          <a:prstGeom prst="rect">
            <a:avLst/>
          </a:prstGeom>
          <a:noFill/>
        </p:spPr>
        <p:txBody>
          <a:bodyPr wrap="square">
            <a:spAutoFit/>
          </a:bodyPr>
          <a:lstStyle/>
          <a:p>
            <a:pPr algn="l"/>
            <a:r>
              <a:rPr sz="900" b="1" i="0">
                <a:solidFill>
                  <a:srgbClr val="FFFFFF"/>
                </a:solidFill>
              </a:rPr>
              <a:t>Schedule</a:t>
            </a:r>
            <a:endParaRPr sz="900" b="1" i="0">
              <a:solidFill>
                <a:srgbClr val="FFFFFF"/>
              </a:solidFill>
            </a:endParaRPr>
          </a:p>
        </p:txBody>
      </p:sp>
      <p:sp>
        <p:nvSpPr>
          <p:cNvPr id="39" name="TextBox 38"/>
          <p:cNvSpPr txBox="1"/>
          <p:nvPr/>
        </p:nvSpPr>
        <p:spPr>
          <a:xfrm>
            <a:off x="7818120" y="3191256"/>
            <a:ext cx="3977639" cy="237744"/>
          </a:xfrm>
          <a:prstGeom prst="rect">
            <a:avLst/>
          </a:prstGeom>
          <a:noFill/>
        </p:spPr>
        <p:txBody>
          <a:bodyPr wrap="square">
            <a:spAutoFit/>
          </a:bodyPr>
          <a:lstStyle/>
          <a:p>
            <a:pPr algn="l"/>
            <a:r>
              <a:rPr sz="900" b="0" i="0">
                <a:solidFill>
                  <a:srgbClr val="1A2330"/>
                </a:solidFill>
              </a:rPr>
              <a:t>Phased implementation within academic project timeline is achievable</a:t>
            </a:r>
            <a:endParaRPr sz="900" b="0" i="0">
              <a:solidFill>
                <a:srgbClr val="1A2330"/>
              </a:solidFill>
            </a:endParaRPr>
          </a:p>
        </p:txBody>
      </p:sp>
      <p:sp>
        <p:nvSpPr>
          <p:cNvPr id="40" name="Rectangle 39"/>
          <p:cNvSpPr/>
          <p:nvPr/>
        </p:nvSpPr>
        <p:spPr>
          <a:xfrm>
            <a:off x="347472" y="3657600"/>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3666744"/>
            <a:ext cx="10972800" cy="301752"/>
          </a:xfrm>
          <a:prstGeom prst="rect">
            <a:avLst/>
          </a:prstGeom>
          <a:noFill/>
        </p:spPr>
        <p:txBody>
          <a:bodyPr wrap="square">
            <a:spAutoFit/>
          </a:bodyPr>
          <a:lstStyle/>
          <a:p>
            <a:pPr algn="l"/>
            <a:r>
              <a:rPr sz="1200" b="1" i="0">
                <a:solidFill>
                  <a:srgbClr val="007A4A"/>
                </a:solidFill>
              </a:rPr>
              <a:t>§4.5 Process Logic — Analysis Diagrams</a:t>
            </a:r>
            <a:endParaRPr sz="1200" b="1" i="0">
              <a:solidFill>
                <a:srgbClr val="007A4A"/>
              </a:solidFill>
            </a:endParaRPr>
          </a:p>
        </p:txBody>
      </p:sp>
      <p:sp>
        <p:nvSpPr>
          <p:cNvPr id="42" name="TextBox 41"/>
          <p:cNvSpPr txBox="1"/>
          <p:nvPr/>
        </p:nvSpPr>
        <p:spPr>
          <a:xfrm>
            <a:off x="6400800" y="4005072"/>
            <a:ext cx="5376672" cy="914400"/>
          </a:xfrm>
          <a:prstGeom prst="rect">
            <a:avLst/>
          </a:prstGeom>
          <a:noFill/>
        </p:spPr>
        <p:txBody>
          <a:bodyPr wrap="square">
            <a:spAutoFit/>
          </a:bodyPr>
          <a:lstStyle/>
          <a:p>
            <a:pPr>
              <a:spcBef>
                <a:spcPts val="500"/>
              </a:spcBef>
            </a:pPr>
            <a:r>
              <a:rPr sz="1000">
                <a:solidFill>
                  <a:srgbClr val="1A2330"/>
                </a:solidFill>
              </a:rPr>
              <a:t>▸  Process Flowchart: step-by-step current sales transaction (cash + M-Pesa paths)</a:t>
            </a:r>
            <a:endParaRPr sz="1000">
              <a:solidFill>
                <a:srgbClr val="1A2330"/>
              </a:solidFill>
            </a:endParaRPr>
          </a:p>
          <a:p>
            <a:pPr>
              <a:spcBef>
                <a:spcPts val="500"/>
              </a:spcBef>
            </a:pPr>
            <a:r>
              <a:rPr sz="1000">
                <a:solidFill>
                  <a:srgbClr val="1A2330"/>
                </a:solidFill>
              </a:rPr>
              <a:t>▸  Context Diagram: boundary of current system; ETR modelled as external entity</a:t>
            </a:r>
            <a:endParaRPr sz="1000">
              <a:solidFill>
                <a:srgbClr val="1A2330"/>
              </a:solidFill>
            </a:endParaRPr>
          </a:p>
          <a:p>
            <a:pPr>
              <a:spcBef>
                <a:spcPts val="500"/>
              </a:spcBef>
            </a:pPr>
            <a:r>
              <a:rPr sz="1000">
                <a:solidFill>
                  <a:srgbClr val="1A2330"/>
                </a:solidFill>
              </a:rPr>
              <a:t>▸  Level 1 DFD — 5 processes:</a:t>
            </a:r>
            <a:endParaRPr sz="1000">
              <a:solidFill>
                <a:srgbClr val="1A2330"/>
              </a:solidFill>
            </a:endParaRPr>
          </a:p>
        </p:txBody>
      </p:sp>
      <p:sp>
        <p:nvSpPr>
          <p:cNvPr id="43" name="Rectangle 42"/>
          <p:cNvSpPr/>
          <p:nvPr/>
        </p:nvSpPr>
        <p:spPr>
          <a:xfrm>
            <a:off x="6537960" y="4956048"/>
            <a:ext cx="137160" cy="25603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48272" y="4956048"/>
            <a:ext cx="5029200" cy="256032"/>
          </a:xfrm>
          <a:prstGeom prst="rect">
            <a:avLst/>
          </a:prstGeom>
          <a:noFill/>
        </p:spPr>
        <p:txBody>
          <a:bodyPr wrap="square">
            <a:spAutoFit/>
          </a:bodyPr>
          <a:lstStyle/>
          <a:p>
            <a:pPr algn="l"/>
            <a:r>
              <a:rPr sz="950" b="0" i="0">
                <a:solidFill>
                  <a:srgbClr val="1A2330"/>
                </a:solidFill>
              </a:rPr>
              <a:t>P1 — Receive Customer</a:t>
            </a:r>
            <a:endParaRPr sz="950" b="0" i="0">
              <a:solidFill>
                <a:srgbClr val="1A2330"/>
              </a:solidFill>
            </a:endParaRPr>
          </a:p>
        </p:txBody>
      </p:sp>
      <p:sp>
        <p:nvSpPr>
          <p:cNvPr id="45" name="Rectangle 44"/>
          <p:cNvSpPr/>
          <p:nvPr/>
        </p:nvSpPr>
        <p:spPr>
          <a:xfrm>
            <a:off x="6537960" y="5248656"/>
            <a:ext cx="137160" cy="25603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48272" y="5248656"/>
            <a:ext cx="5029200" cy="256032"/>
          </a:xfrm>
          <a:prstGeom prst="rect">
            <a:avLst/>
          </a:prstGeom>
          <a:noFill/>
        </p:spPr>
        <p:txBody>
          <a:bodyPr wrap="square">
            <a:spAutoFit/>
          </a:bodyPr>
          <a:lstStyle/>
          <a:p>
            <a:pPr algn="l"/>
            <a:r>
              <a:rPr sz="950" b="0" i="0">
                <a:solidFill>
                  <a:srgbClr val="1A2330"/>
                </a:solidFill>
              </a:rPr>
              <a:t>P2 — Calculate Sale Total</a:t>
            </a:r>
            <a:endParaRPr sz="950" b="0" i="0">
              <a:solidFill>
                <a:srgbClr val="1A2330"/>
              </a:solidFill>
            </a:endParaRPr>
          </a:p>
        </p:txBody>
      </p:sp>
      <p:sp>
        <p:nvSpPr>
          <p:cNvPr id="47" name="Rectangle 46"/>
          <p:cNvSpPr/>
          <p:nvPr/>
        </p:nvSpPr>
        <p:spPr>
          <a:xfrm>
            <a:off x="6537960" y="5541264"/>
            <a:ext cx="137160" cy="25603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48272" y="5541264"/>
            <a:ext cx="5029200" cy="256032"/>
          </a:xfrm>
          <a:prstGeom prst="rect">
            <a:avLst/>
          </a:prstGeom>
          <a:noFill/>
        </p:spPr>
        <p:txBody>
          <a:bodyPr wrap="square">
            <a:spAutoFit/>
          </a:bodyPr>
          <a:lstStyle/>
          <a:p>
            <a:pPr algn="l"/>
            <a:r>
              <a:rPr sz="950" b="0" i="0">
                <a:solidFill>
                  <a:srgbClr val="1A2330"/>
                </a:solidFill>
              </a:rPr>
              <a:t>P3 — Process Payment (cash / M-Pesa)</a:t>
            </a:r>
            <a:endParaRPr sz="950" b="0" i="0">
              <a:solidFill>
                <a:srgbClr val="1A2330"/>
              </a:solidFill>
            </a:endParaRPr>
          </a:p>
        </p:txBody>
      </p:sp>
      <p:sp>
        <p:nvSpPr>
          <p:cNvPr id="49" name="Rectangle 48"/>
          <p:cNvSpPr/>
          <p:nvPr/>
        </p:nvSpPr>
        <p:spPr>
          <a:xfrm>
            <a:off x="6537960" y="5833872"/>
            <a:ext cx="137160" cy="25603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48272" y="5833872"/>
            <a:ext cx="5029200" cy="256032"/>
          </a:xfrm>
          <a:prstGeom prst="rect">
            <a:avLst/>
          </a:prstGeom>
          <a:noFill/>
        </p:spPr>
        <p:txBody>
          <a:bodyPr wrap="square">
            <a:spAutoFit/>
          </a:bodyPr>
          <a:lstStyle/>
          <a:p>
            <a:pPr algn="l"/>
            <a:r>
              <a:rPr sz="950" b="0" i="0">
                <a:solidFill>
                  <a:srgbClr val="1A2330"/>
                </a:solidFill>
              </a:rPr>
              <a:t>P4 — Record Sale in Sales Book</a:t>
            </a:r>
            <a:endParaRPr sz="950" b="0" i="0">
              <a:solidFill>
                <a:srgbClr val="1A2330"/>
              </a:solidFill>
            </a:endParaRPr>
          </a:p>
        </p:txBody>
      </p:sp>
      <p:sp>
        <p:nvSpPr>
          <p:cNvPr id="51" name="Rectangle 50"/>
          <p:cNvSpPr/>
          <p:nvPr/>
        </p:nvSpPr>
        <p:spPr>
          <a:xfrm>
            <a:off x="6537960" y="6126480"/>
            <a:ext cx="137160" cy="25603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48272" y="6126480"/>
            <a:ext cx="5029200" cy="256032"/>
          </a:xfrm>
          <a:prstGeom prst="rect">
            <a:avLst/>
          </a:prstGeom>
          <a:noFill/>
        </p:spPr>
        <p:txBody>
          <a:bodyPr wrap="square">
            <a:spAutoFit/>
          </a:bodyPr>
          <a:lstStyle/>
          <a:p>
            <a:pPr algn="l"/>
            <a:r>
              <a:rPr sz="950" b="0" i="0">
                <a:solidFill>
                  <a:srgbClr val="1A2330"/>
                </a:solidFill>
              </a:rPr>
              <a:t>P5 — Manage Inventory (manual ledger)</a:t>
            </a:r>
            <a:endParaRPr sz="950" b="0" i="0">
              <a:solidFill>
                <a:srgbClr val="1A233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Chapter 5: System Design — Proposed System</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§5.2 Description  |  §5.3 Requirements  |  §5.4 Conceptual Architecture</a:t>
            </a:r>
            <a:endParaRPr sz="1100" b="0" i="1">
              <a:solidFill>
                <a:srgbClr val="00C278"/>
              </a:solidFill>
            </a:endParaRPr>
          </a:p>
        </p:txBody>
      </p:sp>
      <p:sp>
        <p:nvSpPr>
          <p:cNvPr id="6" name="Rectangle 5"/>
          <p:cNvSpPr/>
          <p:nvPr/>
        </p:nvSpPr>
        <p:spPr>
          <a:xfrm>
            <a:off x="9445752" y="0"/>
            <a:ext cx="274320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5: System Design</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12 / 16</a:t>
            </a:r>
            <a:endParaRPr sz="850" b="1" i="0">
              <a:solidFill>
                <a:srgbClr val="FFFFFF"/>
              </a:solidFill>
            </a:endParaRPr>
          </a:p>
        </p:txBody>
      </p:sp>
      <p:sp>
        <p:nvSpPr>
          <p:cNvPr id="11" name="Rectangle 10"/>
          <p:cNvSpPr/>
          <p:nvPr/>
        </p:nvSpPr>
        <p:spPr>
          <a:xfrm>
            <a:off x="320040" y="1261872"/>
            <a:ext cx="11548872" cy="32918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261872"/>
            <a:ext cx="11338560" cy="329184"/>
          </a:xfrm>
          <a:prstGeom prst="rect">
            <a:avLst/>
          </a:prstGeom>
          <a:noFill/>
        </p:spPr>
        <p:txBody>
          <a:bodyPr wrap="square">
            <a:spAutoFit/>
          </a:bodyPr>
          <a:lstStyle/>
          <a:p>
            <a:pPr algn="ctr"/>
            <a:r>
              <a:rPr sz="1050" b="1" i="0">
                <a:solidFill>
                  <a:srgbClr val="FFFFFF"/>
                </a:solidFill>
              </a:rPr>
              <a:t>4 Integrated Modules: Inventory Management  ·  Point of Sale  ·  User Management  ·  Reporting</a:t>
            </a:r>
            <a:endParaRPr sz="1050" b="1" i="0">
              <a:solidFill>
                <a:srgbClr val="FFFFFF"/>
              </a:solidFill>
            </a:endParaRPr>
          </a:p>
        </p:txBody>
      </p:sp>
      <p:sp>
        <p:nvSpPr>
          <p:cNvPr id="13" name="Rectangle 12"/>
          <p:cNvSpPr/>
          <p:nvPr/>
        </p:nvSpPr>
        <p:spPr>
          <a:xfrm>
            <a:off x="320040" y="1664208"/>
            <a:ext cx="3639312" cy="384048"/>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1664208"/>
            <a:ext cx="3639312" cy="384048"/>
          </a:xfrm>
          <a:prstGeom prst="rect">
            <a:avLst/>
          </a:prstGeom>
          <a:noFill/>
        </p:spPr>
        <p:txBody>
          <a:bodyPr wrap="square">
            <a:spAutoFit/>
          </a:bodyPr>
          <a:lstStyle/>
          <a:p>
            <a:pPr algn="ctr"/>
            <a:r>
              <a:rPr sz="1100" b="1" i="0">
                <a:solidFill>
                  <a:srgbClr val="FFFFFF"/>
                </a:solidFill>
              </a:rPr>
              <a:t>Presentation Layer</a:t>
            </a:r>
            <a:endParaRPr sz="1100" b="1" i="0">
              <a:solidFill>
                <a:srgbClr val="FFFFFF"/>
              </a:solidFill>
            </a:endParaRPr>
          </a:p>
        </p:txBody>
      </p:sp>
      <p:sp>
        <p:nvSpPr>
          <p:cNvPr id="15" name="Rectangle 14"/>
          <p:cNvSpPr/>
          <p:nvPr/>
        </p:nvSpPr>
        <p:spPr>
          <a:xfrm>
            <a:off x="320040" y="2048256"/>
            <a:ext cx="3639312"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 y="2066543"/>
            <a:ext cx="3529584" cy="310896"/>
          </a:xfrm>
          <a:prstGeom prst="rect">
            <a:avLst/>
          </a:prstGeom>
          <a:noFill/>
        </p:spPr>
        <p:txBody>
          <a:bodyPr wrap="square">
            <a:spAutoFit/>
          </a:bodyPr>
          <a:lstStyle/>
          <a:p>
            <a:pPr algn="ctr"/>
            <a:r>
              <a:rPr sz="1000" b="1" i="0">
                <a:solidFill>
                  <a:srgbClr val="00995E"/>
                </a:solidFill>
              </a:rPr>
              <a:t>HTML5  ·  Vanilla JS  ·  CSS3</a:t>
            </a:r>
            <a:endParaRPr sz="1000" b="1" i="0">
              <a:solidFill>
                <a:srgbClr val="00995E"/>
              </a:solidFill>
            </a:endParaRPr>
          </a:p>
        </p:txBody>
      </p:sp>
      <p:sp>
        <p:nvSpPr>
          <p:cNvPr id="17" name="Rectangle 16"/>
          <p:cNvSpPr/>
          <p:nvPr/>
        </p:nvSpPr>
        <p:spPr>
          <a:xfrm>
            <a:off x="320040" y="2395728"/>
            <a:ext cx="363931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79" y="2432304"/>
            <a:ext cx="3456432" cy="768096"/>
          </a:xfrm>
          <a:prstGeom prst="rect">
            <a:avLst/>
          </a:prstGeom>
          <a:noFill/>
        </p:spPr>
        <p:txBody>
          <a:bodyPr wrap="square">
            <a:spAutoFit/>
          </a:bodyPr>
          <a:lstStyle/>
          <a:p>
            <a:pPr algn="l"/>
            <a:r>
              <a:rPr sz="1000" b="0" i="0">
                <a:solidFill>
                  <a:srgbClr val="1A2330"/>
                </a:solidFill>
              </a:rPr>
              <a:t>Responsive UI
Role-aware navigation
Real-time feedback</a:t>
            </a:r>
            <a:endParaRPr sz="1000" b="0" i="0">
              <a:solidFill>
                <a:srgbClr val="1A2330"/>
              </a:solidFill>
            </a:endParaRPr>
          </a:p>
        </p:txBody>
      </p:sp>
      <p:sp>
        <p:nvSpPr>
          <p:cNvPr id="19" name="TextBox 18"/>
          <p:cNvSpPr txBox="1"/>
          <p:nvPr/>
        </p:nvSpPr>
        <p:spPr>
          <a:xfrm>
            <a:off x="4023359" y="1828800"/>
            <a:ext cx="228600" cy="713232"/>
          </a:xfrm>
          <a:prstGeom prst="rect">
            <a:avLst/>
          </a:prstGeom>
          <a:noFill/>
        </p:spPr>
        <p:txBody>
          <a:bodyPr wrap="square">
            <a:spAutoFit/>
          </a:bodyPr>
          <a:lstStyle/>
          <a:p>
            <a:pPr algn="l"/>
            <a:r>
              <a:rPr sz="1600" b="0" i="0">
                <a:solidFill>
                  <a:srgbClr val="00995E"/>
                </a:solidFill>
              </a:rPr>
              <a:t>⬇</a:t>
            </a:r>
            <a:endParaRPr sz="1600" b="0" i="0">
              <a:solidFill>
                <a:srgbClr val="00995E"/>
              </a:solidFill>
            </a:endParaRPr>
          </a:p>
        </p:txBody>
      </p:sp>
      <p:sp>
        <p:nvSpPr>
          <p:cNvPr id="20" name="Rectangle 19"/>
          <p:cNvSpPr/>
          <p:nvPr/>
        </p:nvSpPr>
        <p:spPr>
          <a:xfrm>
            <a:off x="4279392" y="1664208"/>
            <a:ext cx="3639312" cy="384048"/>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79392" y="1664208"/>
            <a:ext cx="3639312" cy="384048"/>
          </a:xfrm>
          <a:prstGeom prst="rect">
            <a:avLst/>
          </a:prstGeom>
          <a:noFill/>
        </p:spPr>
        <p:txBody>
          <a:bodyPr wrap="square">
            <a:spAutoFit/>
          </a:bodyPr>
          <a:lstStyle/>
          <a:p>
            <a:pPr algn="ctr"/>
            <a:r>
              <a:rPr sz="1100" b="1" i="0">
                <a:solidFill>
                  <a:srgbClr val="FFFFFF"/>
                </a:solidFill>
              </a:rPr>
              <a:t>Application Logic Layer</a:t>
            </a:r>
            <a:endParaRPr sz="1100" b="1" i="0">
              <a:solidFill>
                <a:srgbClr val="FFFFFF"/>
              </a:solidFill>
            </a:endParaRPr>
          </a:p>
        </p:txBody>
      </p:sp>
      <p:sp>
        <p:nvSpPr>
          <p:cNvPr id="22" name="Rectangle 21"/>
          <p:cNvSpPr/>
          <p:nvPr/>
        </p:nvSpPr>
        <p:spPr>
          <a:xfrm>
            <a:off x="4279392" y="2048256"/>
            <a:ext cx="3639312"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34255" y="2066543"/>
            <a:ext cx="3529584" cy="310896"/>
          </a:xfrm>
          <a:prstGeom prst="rect">
            <a:avLst/>
          </a:prstGeom>
          <a:noFill/>
        </p:spPr>
        <p:txBody>
          <a:bodyPr wrap="square">
            <a:spAutoFit/>
          </a:bodyPr>
          <a:lstStyle/>
          <a:p>
            <a:pPr algn="ctr"/>
            <a:r>
              <a:rPr sz="1000" b="1" i="0">
                <a:solidFill>
                  <a:srgbClr val="007A4A"/>
                </a:solidFill>
              </a:rPr>
              <a:t>PHP 8.2  ·  Apache  ·  XAMPP</a:t>
            </a:r>
            <a:endParaRPr sz="1000" b="1" i="0">
              <a:solidFill>
                <a:srgbClr val="007A4A"/>
              </a:solidFill>
            </a:endParaRPr>
          </a:p>
        </p:txBody>
      </p:sp>
      <p:sp>
        <p:nvSpPr>
          <p:cNvPr id="24" name="Rectangle 23"/>
          <p:cNvSpPr/>
          <p:nvPr/>
        </p:nvSpPr>
        <p:spPr>
          <a:xfrm>
            <a:off x="4279392" y="2395728"/>
            <a:ext cx="363931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0831" y="2432304"/>
            <a:ext cx="3456432" cy="768096"/>
          </a:xfrm>
          <a:prstGeom prst="rect">
            <a:avLst/>
          </a:prstGeom>
          <a:noFill/>
        </p:spPr>
        <p:txBody>
          <a:bodyPr wrap="square">
            <a:spAutoFit/>
          </a:bodyPr>
          <a:lstStyle/>
          <a:p>
            <a:pPr algn="l"/>
            <a:r>
              <a:rPr sz="1000" b="0" i="0">
                <a:solidFill>
                  <a:srgbClr val="1A2330"/>
                </a:solidFill>
              </a:rPr>
              <a:t>Business rules &amp; routing
M-Pesa Daraja API calls
Session-based RBAC</a:t>
            </a:r>
            <a:endParaRPr sz="1000" b="0" i="0">
              <a:solidFill>
                <a:srgbClr val="1A2330"/>
              </a:solidFill>
            </a:endParaRPr>
          </a:p>
        </p:txBody>
      </p:sp>
      <p:sp>
        <p:nvSpPr>
          <p:cNvPr id="26" name="TextBox 25"/>
          <p:cNvSpPr txBox="1"/>
          <p:nvPr/>
        </p:nvSpPr>
        <p:spPr>
          <a:xfrm>
            <a:off x="7982712" y="1828800"/>
            <a:ext cx="228600" cy="713232"/>
          </a:xfrm>
          <a:prstGeom prst="rect">
            <a:avLst/>
          </a:prstGeom>
          <a:noFill/>
        </p:spPr>
        <p:txBody>
          <a:bodyPr wrap="square">
            <a:spAutoFit/>
          </a:bodyPr>
          <a:lstStyle/>
          <a:p>
            <a:pPr algn="l"/>
            <a:r>
              <a:rPr sz="1600" b="0" i="0">
                <a:solidFill>
                  <a:srgbClr val="00995E"/>
                </a:solidFill>
              </a:rPr>
              <a:t>⬇</a:t>
            </a:r>
            <a:endParaRPr sz="1600" b="0" i="0">
              <a:solidFill>
                <a:srgbClr val="00995E"/>
              </a:solidFill>
            </a:endParaRPr>
          </a:p>
        </p:txBody>
      </p:sp>
      <p:sp>
        <p:nvSpPr>
          <p:cNvPr id="27" name="Rectangle 26"/>
          <p:cNvSpPr/>
          <p:nvPr/>
        </p:nvSpPr>
        <p:spPr>
          <a:xfrm>
            <a:off x="8238744" y="1664208"/>
            <a:ext cx="3639312" cy="3840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1664208"/>
            <a:ext cx="3639312" cy="384048"/>
          </a:xfrm>
          <a:prstGeom prst="rect">
            <a:avLst/>
          </a:prstGeom>
          <a:noFill/>
        </p:spPr>
        <p:txBody>
          <a:bodyPr wrap="square">
            <a:spAutoFit/>
          </a:bodyPr>
          <a:lstStyle/>
          <a:p>
            <a:pPr algn="ctr"/>
            <a:r>
              <a:rPr sz="1100" b="1" i="0">
                <a:solidFill>
                  <a:srgbClr val="FFFFFF"/>
                </a:solidFill>
              </a:rPr>
              <a:t>Data Layer</a:t>
            </a:r>
            <a:endParaRPr sz="1100" b="1" i="0">
              <a:solidFill>
                <a:srgbClr val="FFFFFF"/>
              </a:solidFill>
            </a:endParaRPr>
          </a:p>
        </p:txBody>
      </p:sp>
      <p:sp>
        <p:nvSpPr>
          <p:cNvPr id="29" name="Rectangle 28"/>
          <p:cNvSpPr/>
          <p:nvPr/>
        </p:nvSpPr>
        <p:spPr>
          <a:xfrm>
            <a:off x="8238744" y="2048256"/>
            <a:ext cx="3639312"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2066543"/>
            <a:ext cx="3529584" cy="310896"/>
          </a:xfrm>
          <a:prstGeom prst="rect">
            <a:avLst/>
          </a:prstGeom>
          <a:noFill/>
        </p:spPr>
        <p:txBody>
          <a:bodyPr wrap="square">
            <a:spAutoFit/>
          </a:bodyPr>
          <a:lstStyle/>
          <a:p>
            <a:pPr algn="ctr"/>
            <a:r>
              <a:rPr sz="1000" b="1" i="0">
                <a:solidFill>
                  <a:srgbClr val="2563EB"/>
                </a:solidFill>
              </a:rPr>
              <a:t>MySQL 8.0  ·  PDO  ·  InnoDB</a:t>
            </a:r>
            <a:endParaRPr sz="1000" b="1" i="0">
              <a:solidFill>
                <a:srgbClr val="2563EB"/>
              </a:solidFill>
            </a:endParaRPr>
          </a:p>
        </p:txBody>
      </p:sp>
      <p:sp>
        <p:nvSpPr>
          <p:cNvPr id="31" name="Rectangle 30"/>
          <p:cNvSpPr/>
          <p:nvPr/>
        </p:nvSpPr>
        <p:spPr>
          <a:xfrm>
            <a:off x="8238744" y="2395728"/>
            <a:ext cx="363931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30183" y="2432304"/>
            <a:ext cx="3456432" cy="768096"/>
          </a:xfrm>
          <a:prstGeom prst="rect">
            <a:avLst/>
          </a:prstGeom>
          <a:noFill/>
        </p:spPr>
        <p:txBody>
          <a:bodyPr wrap="square">
            <a:spAutoFit/>
          </a:bodyPr>
          <a:lstStyle/>
          <a:p>
            <a:pPr algn="l"/>
            <a:r>
              <a:rPr sz="1000" b="0" i="0">
                <a:solidFill>
                  <a:srgbClr val="1A2330"/>
                </a:solidFill>
              </a:rPr>
              <a:t>15+ normalised tables
ACID-compliant transactions
Audit log persistence</a:t>
            </a:r>
            <a:endParaRPr sz="1000" b="0" i="0">
              <a:solidFill>
                <a:srgbClr val="1A2330"/>
              </a:solidFill>
            </a:endParaRPr>
          </a:p>
        </p:txBody>
      </p:sp>
      <p:sp>
        <p:nvSpPr>
          <p:cNvPr id="33" name="Rectangle 32"/>
          <p:cNvSpPr/>
          <p:nvPr/>
        </p:nvSpPr>
        <p:spPr>
          <a:xfrm>
            <a:off x="347472" y="3337560"/>
            <a:ext cx="82296"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3346703"/>
            <a:ext cx="10972800" cy="301752"/>
          </a:xfrm>
          <a:prstGeom prst="rect">
            <a:avLst/>
          </a:prstGeom>
          <a:noFill/>
        </p:spPr>
        <p:txBody>
          <a:bodyPr wrap="square">
            <a:spAutoFit/>
          </a:bodyPr>
          <a:lstStyle/>
          <a:p>
            <a:pPr algn="l"/>
            <a:r>
              <a:rPr sz="1200" b="1" i="0">
                <a:solidFill>
                  <a:srgbClr val="7C3AED"/>
                </a:solidFill>
              </a:rPr>
              <a:t>§5.4 Conceptual Architecture Diagrams</a:t>
            </a:r>
            <a:endParaRPr sz="1200" b="1" i="0">
              <a:solidFill>
                <a:srgbClr val="7C3AED"/>
              </a:solidFill>
            </a:endParaRPr>
          </a:p>
        </p:txBody>
      </p:sp>
      <p:sp>
        <p:nvSpPr>
          <p:cNvPr id="35" name="Rectangle 34"/>
          <p:cNvSpPr/>
          <p:nvPr/>
        </p:nvSpPr>
        <p:spPr>
          <a:xfrm>
            <a:off x="320040" y="3703320"/>
            <a:ext cx="2011680"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8328" y="3703320"/>
            <a:ext cx="1975104" cy="292608"/>
          </a:xfrm>
          <a:prstGeom prst="rect">
            <a:avLst/>
          </a:prstGeom>
          <a:noFill/>
        </p:spPr>
        <p:txBody>
          <a:bodyPr wrap="square">
            <a:spAutoFit/>
          </a:bodyPr>
          <a:lstStyle/>
          <a:p>
            <a:pPr algn="l"/>
            <a:r>
              <a:rPr sz="850" b="1" i="0">
                <a:solidFill>
                  <a:srgbClr val="FFFFFF"/>
                </a:solidFill>
              </a:rPr>
              <a:t>Use Case Diagram</a:t>
            </a:r>
            <a:endParaRPr sz="850" b="1" i="0">
              <a:solidFill>
                <a:srgbClr val="FFFFFF"/>
              </a:solidFill>
            </a:endParaRPr>
          </a:p>
        </p:txBody>
      </p:sp>
      <p:sp>
        <p:nvSpPr>
          <p:cNvPr id="37" name="TextBox 36"/>
          <p:cNvSpPr txBox="1"/>
          <p:nvPr/>
        </p:nvSpPr>
        <p:spPr>
          <a:xfrm>
            <a:off x="2377440" y="3739896"/>
            <a:ext cx="9646920" cy="237744"/>
          </a:xfrm>
          <a:prstGeom prst="rect">
            <a:avLst/>
          </a:prstGeom>
          <a:noFill/>
        </p:spPr>
        <p:txBody>
          <a:bodyPr wrap="square">
            <a:spAutoFit/>
          </a:bodyPr>
          <a:lstStyle/>
          <a:p>
            <a:pPr algn="l"/>
            <a:r>
              <a:rPr sz="900" b="0" i="0">
                <a:solidFill>
                  <a:srgbClr val="1A2330"/>
                </a:solidFill>
              </a:rPr>
              <a:t>8 use cases, 4 human actors (Admin, Manager, Cashier, Warehouse), 2 external (M-Pesa, Customer)</a:t>
            </a:r>
            <a:endParaRPr sz="900" b="0" i="0">
              <a:solidFill>
                <a:srgbClr val="1A2330"/>
              </a:solidFill>
            </a:endParaRPr>
          </a:p>
        </p:txBody>
      </p:sp>
      <p:sp>
        <p:nvSpPr>
          <p:cNvPr id="38" name="Rectangle 37"/>
          <p:cNvSpPr/>
          <p:nvPr/>
        </p:nvSpPr>
        <p:spPr>
          <a:xfrm>
            <a:off x="320040" y="4050791"/>
            <a:ext cx="2011680"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8328" y="4050791"/>
            <a:ext cx="1975104" cy="292608"/>
          </a:xfrm>
          <a:prstGeom prst="rect">
            <a:avLst/>
          </a:prstGeom>
          <a:noFill/>
        </p:spPr>
        <p:txBody>
          <a:bodyPr wrap="square">
            <a:spAutoFit/>
          </a:bodyPr>
          <a:lstStyle/>
          <a:p>
            <a:pPr algn="l"/>
            <a:r>
              <a:rPr sz="850" b="1" i="0">
                <a:solidFill>
                  <a:srgbClr val="FFFFFF"/>
                </a:solidFill>
              </a:rPr>
              <a:t>Activity Diagram</a:t>
            </a:r>
            <a:endParaRPr sz="850" b="1" i="0">
              <a:solidFill>
                <a:srgbClr val="FFFFFF"/>
              </a:solidFill>
            </a:endParaRPr>
          </a:p>
        </p:txBody>
      </p:sp>
      <p:sp>
        <p:nvSpPr>
          <p:cNvPr id="40" name="TextBox 39"/>
          <p:cNvSpPr txBox="1"/>
          <p:nvPr/>
        </p:nvSpPr>
        <p:spPr>
          <a:xfrm>
            <a:off x="2377440" y="4087368"/>
            <a:ext cx="9646920" cy="237744"/>
          </a:xfrm>
          <a:prstGeom prst="rect">
            <a:avLst/>
          </a:prstGeom>
          <a:noFill/>
        </p:spPr>
        <p:txBody>
          <a:bodyPr wrap="square">
            <a:spAutoFit/>
          </a:bodyPr>
          <a:lstStyle/>
          <a:p>
            <a:pPr algn="l"/>
            <a:r>
              <a:rPr sz="900" b="0" i="0">
                <a:solidFill>
                  <a:srgbClr val="1A2330"/>
                </a:solidFill>
              </a:rPr>
              <a:t>M-Pesa payment flow: 4 swimlanes — Cashier, PHP Backend, Daraja API, Customer</a:t>
            </a:r>
            <a:endParaRPr sz="900" b="0" i="0">
              <a:solidFill>
                <a:srgbClr val="1A2330"/>
              </a:solidFill>
            </a:endParaRPr>
          </a:p>
        </p:txBody>
      </p:sp>
      <p:sp>
        <p:nvSpPr>
          <p:cNvPr id="41" name="Rectangle 40"/>
          <p:cNvSpPr/>
          <p:nvPr/>
        </p:nvSpPr>
        <p:spPr>
          <a:xfrm>
            <a:off x="320040" y="4398264"/>
            <a:ext cx="2011680"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8328" y="4398264"/>
            <a:ext cx="1975104" cy="292608"/>
          </a:xfrm>
          <a:prstGeom prst="rect">
            <a:avLst/>
          </a:prstGeom>
          <a:noFill/>
        </p:spPr>
        <p:txBody>
          <a:bodyPr wrap="square">
            <a:spAutoFit/>
          </a:bodyPr>
          <a:lstStyle/>
          <a:p>
            <a:pPr algn="l"/>
            <a:r>
              <a:rPr sz="850" b="1" i="0">
                <a:solidFill>
                  <a:srgbClr val="FFFFFF"/>
                </a:solidFill>
              </a:rPr>
              <a:t>Class Diagram</a:t>
            </a:r>
            <a:endParaRPr sz="850" b="1" i="0">
              <a:solidFill>
                <a:srgbClr val="FFFFFF"/>
              </a:solidFill>
            </a:endParaRPr>
          </a:p>
        </p:txBody>
      </p:sp>
      <p:sp>
        <p:nvSpPr>
          <p:cNvPr id="43" name="TextBox 42"/>
          <p:cNvSpPr txBox="1"/>
          <p:nvPr/>
        </p:nvSpPr>
        <p:spPr>
          <a:xfrm>
            <a:off x="2377440" y="4434840"/>
            <a:ext cx="9646920" cy="237744"/>
          </a:xfrm>
          <a:prstGeom prst="rect">
            <a:avLst/>
          </a:prstGeom>
          <a:noFill/>
        </p:spPr>
        <p:txBody>
          <a:bodyPr wrap="square">
            <a:spAutoFit/>
          </a:bodyPr>
          <a:lstStyle/>
          <a:p>
            <a:pPr algn="l"/>
            <a:r>
              <a:rPr sz="900" b="0" i="0">
                <a:solidFill>
                  <a:srgbClr val="1A2330"/>
                </a:solidFill>
              </a:rPr>
              <a:t>6 application classes with attributes, methods, and relationships</a:t>
            </a:r>
            <a:endParaRPr sz="900" b="0" i="0">
              <a:solidFill>
                <a:srgbClr val="1A2330"/>
              </a:solidFill>
            </a:endParaRPr>
          </a:p>
        </p:txBody>
      </p:sp>
      <p:sp>
        <p:nvSpPr>
          <p:cNvPr id="44" name="Rectangle 43"/>
          <p:cNvSpPr/>
          <p:nvPr/>
        </p:nvSpPr>
        <p:spPr>
          <a:xfrm>
            <a:off x="320040" y="4745736"/>
            <a:ext cx="2011680"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8328" y="4745736"/>
            <a:ext cx="1975104" cy="292608"/>
          </a:xfrm>
          <a:prstGeom prst="rect">
            <a:avLst/>
          </a:prstGeom>
          <a:noFill/>
        </p:spPr>
        <p:txBody>
          <a:bodyPr wrap="square">
            <a:spAutoFit/>
          </a:bodyPr>
          <a:lstStyle/>
          <a:p>
            <a:pPr algn="l"/>
            <a:r>
              <a:rPr sz="850" b="1" i="0">
                <a:solidFill>
                  <a:srgbClr val="FFFFFF"/>
                </a:solidFill>
              </a:rPr>
              <a:t>Sequence Diagram</a:t>
            </a:r>
            <a:endParaRPr sz="850" b="1" i="0">
              <a:solidFill>
                <a:srgbClr val="FFFFFF"/>
              </a:solidFill>
            </a:endParaRPr>
          </a:p>
        </p:txBody>
      </p:sp>
      <p:sp>
        <p:nvSpPr>
          <p:cNvPr id="46" name="TextBox 45"/>
          <p:cNvSpPr txBox="1"/>
          <p:nvPr/>
        </p:nvSpPr>
        <p:spPr>
          <a:xfrm>
            <a:off x="2377440" y="4782312"/>
            <a:ext cx="9646920" cy="237744"/>
          </a:xfrm>
          <a:prstGeom prst="rect">
            <a:avLst/>
          </a:prstGeom>
          <a:noFill/>
        </p:spPr>
        <p:txBody>
          <a:bodyPr wrap="square">
            <a:spAutoFit/>
          </a:bodyPr>
          <a:lstStyle/>
          <a:p>
            <a:pPr algn="l"/>
            <a:r>
              <a:rPr sz="900" b="0" i="0">
                <a:solidFill>
                  <a:srgbClr val="1A2330"/>
                </a:solidFill>
              </a:rPr>
              <a:t>Time-ordered interactions: POS → PHP → Daraja API → callback → stock deduction</a:t>
            </a:r>
            <a:endParaRPr sz="900" b="0" i="0">
              <a:solidFill>
                <a:srgbClr val="1A2330"/>
              </a:solidFill>
            </a:endParaRPr>
          </a:p>
        </p:txBody>
      </p:sp>
      <p:sp>
        <p:nvSpPr>
          <p:cNvPr id="47" name="Rectangle 46"/>
          <p:cNvSpPr/>
          <p:nvPr/>
        </p:nvSpPr>
        <p:spPr>
          <a:xfrm>
            <a:off x="320040" y="5093207"/>
            <a:ext cx="2011680"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8328" y="5093207"/>
            <a:ext cx="1975104" cy="292608"/>
          </a:xfrm>
          <a:prstGeom prst="rect">
            <a:avLst/>
          </a:prstGeom>
          <a:noFill/>
        </p:spPr>
        <p:txBody>
          <a:bodyPr wrap="square">
            <a:spAutoFit/>
          </a:bodyPr>
          <a:lstStyle/>
          <a:p>
            <a:pPr algn="l"/>
            <a:r>
              <a:rPr sz="850" b="1" i="0">
                <a:solidFill>
                  <a:srgbClr val="FFFFFF"/>
                </a:solidFill>
              </a:rPr>
              <a:t>Context Diagram</a:t>
            </a:r>
            <a:endParaRPr sz="850" b="1" i="0">
              <a:solidFill>
                <a:srgbClr val="FFFFFF"/>
              </a:solidFill>
            </a:endParaRPr>
          </a:p>
        </p:txBody>
      </p:sp>
      <p:sp>
        <p:nvSpPr>
          <p:cNvPr id="49" name="TextBox 48"/>
          <p:cNvSpPr txBox="1"/>
          <p:nvPr/>
        </p:nvSpPr>
        <p:spPr>
          <a:xfrm>
            <a:off x="2377440" y="5129783"/>
            <a:ext cx="9646920" cy="237744"/>
          </a:xfrm>
          <a:prstGeom prst="rect">
            <a:avLst/>
          </a:prstGeom>
          <a:noFill/>
        </p:spPr>
        <p:txBody>
          <a:bodyPr wrap="square">
            <a:spAutoFit/>
          </a:bodyPr>
          <a:lstStyle/>
          <a:p>
            <a:pPr algn="l"/>
            <a:r>
              <a:rPr sz="900" b="0" i="0">
                <a:solidFill>
                  <a:srgbClr val="1A2330"/>
                </a:solidFill>
              </a:rPr>
              <a:t>System boundary: 5 external entities interact with the proposed TSMS</a:t>
            </a:r>
            <a:endParaRPr sz="900" b="0" i="0">
              <a:solidFill>
                <a:srgbClr val="1A2330"/>
              </a:solidFill>
            </a:endParaRPr>
          </a:p>
        </p:txBody>
      </p:sp>
      <p:sp>
        <p:nvSpPr>
          <p:cNvPr id="50" name="Rectangle 49"/>
          <p:cNvSpPr/>
          <p:nvPr/>
        </p:nvSpPr>
        <p:spPr>
          <a:xfrm>
            <a:off x="320040" y="5440679"/>
            <a:ext cx="2011680"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8328" y="5440679"/>
            <a:ext cx="1975104" cy="292608"/>
          </a:xfrm>
          <a:prstGeom prst="rect">
            <a:avLst/>
          </a:prstGeom>
          <a:noFill/>
        </p:spPr>
        <p:txBody>
          <a:bodyPr wrap="square">
            <a:spAutoFit/>
          </a:bodyPr>
          <a:lstStyle/>
          <a:p>
            <a:pPr algn="l"/>
            <a:r>
              <a:rPr sz="850" b="1" i="0">
                <a:solidFill>
                  <a:srgbClr val="FFFFFF"/>
                </a:solidFill>
              </a:rPr>
              <a:t>Level 1 DFD</a:t>
            </a:r>
            <a:endParaRPr sz="850" b="1" i="0">
              <a:solidFill>
                <a:srgbClr val="FFFFFF"/>
              </a:solidFill>
            </a:endParaRPr>
          </a:p>
        </p:txBody>
      </p:sp>
      <p:sp>
        <p:nvSpPr>
          <p:cNvPr id="52" name="TextBox 51"/>
          <p:cNvSpPr txBox="1"/>
          <p:nvPr/>
        </p:nvSpPr>
        <p:spPr>
          <a:xfrm>
            <a:off x="2377440" y="5477255"/>
            <a:ext cx="9646920" cy="237744"/>
          </a:xfrm>
          <a:prstGeom prst="rect">
            <a:avLst/>
          </a:prstGeom>
          <a:noFill/>
        </p:spPr>
        <p:txBody>
          <a:bodyPr wrap="square">
            <a:spAutoFit/>
          </a:bodyPr>
          <a:lstStyle/>
          <a:p>
            <a:pPr algn="l"/>
            <a:r>
              <a:rPr sz="900" b="0" i="0">
                <a:solidFill>
                  <a:srgbClr val="1A2330"/>
                </a:solidFill>
              </a:rPr>
              <a:t>5 automated processes: P1 Authenticate, P2 Process Sale, P3 Manage Inventory, P4 Manage Prices, P5 Generate Reports</a:t>
            </a:r>
            <a:endParaRPr sz="900" b="0" i="0">
              <a:solidFill>
                <a:srgbClr val="1A2330"/>
              </a:solidFill>
            </a:endParaRPr>
          </a:p>
        </p:txBody>
      </p:sp>
      <p:sp>
        <p:nvSpPr>
          <p:cNvPr id="53" name="Rectangle 52"/>
          <p:cNvSpPr/>
          <p:nvPr/>
        </p:nvSpPr>
        <p:spPr>
          <a:xfrm>
            <a:off x="320040" y="5788151"/>
            <a:ext cx="2011680"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8328" y="5788151"/>
            <a:ext cx="1975104" cy="292608"/>
          </a:xfrm>
          <a:prstGeom prst="rect">
            <a:avLst/>
          </a:prstGeom>
          <a:noFill/>
        </p:spPr>
        <p:txBody>
          <a:bodyPr wrap="square">
            <a:spAutoFit/>
          </a:bodyPr>
          <a:lstStyle/>
          <a:p>
            <a:pPr algn="l"/>
            <a:r>
              <a:rPr sz="850" b="1" i="0">
                <a:solidFill>
                  <a:srgbClr val="FFFFFF"/>
                </a:solidFill>
              </a:rPr>
              <a:t>Process Flowchart</a:t>
            </a:r>
            <a:endParaRPr sz="850" b="1" i="0">
              <a:solidFill>
                <a:srgbClr val="FFFFFF"/>
              </a:solidFill>
            </a:endParaRPr>
          </a:p>
        </p:txBody>
      </p:sp>
      <p:sp>
        <p:nvSpPr>
          <p:cNvPr id="55" name="TextBox 54"/>
          <p:cNvSpPr txBox="1"/>
          <p:nvPr/>
        </p:nvSpPr>
        <p:spPr>
          <a:xfrm>
            <a:off x="2377440" y="5824727"/>
            <a:ext cx="9646920" cy="237744"/>
          </a:xfrm>
          <a:prstGeom prst="rect">
            <a:avLst/>
          </a:prstGeom>
          <a:noFill/>
        </p:spPr>
        <p:txBody>
          <a:bodyPr wrap="square">
            <a:spAutoFit/>
          </a:bodyPr>
          <a:lstStyle/>
          <a:p>
            <a:pPr algn="l"/>
            <a:r>
              <a:rPr sz="900" b="0" i="0">
                <a:solidFill>
                  <a:srgbClr val="1A2330"/>
                </a:solidFill>
              </a:rPr>
              <a:t>Proposed sales workflow from login through receipt generation — replaces current manual flowchart</a:t>
            </a:r>
            <a:endParaRPr sz="900" b="0" i="0">
              <a:solidFill>
                <a:srgbClr val="1A233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Chapter 5: System Design — Database &amp; I/O Design</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§5.5 Database Design (ERD, Normalisation, Data Dictionary)  |  §5.6 I/O Design</a:t>
            </a:r>
            <a:endParaRPr sz="1100" b="0" i="1">
              <a:solidFill>
                <a:srgbClr val="00C278"/>
              </a:solidFill>
            </a:endParaRPr>
          </a:p>
        </p:txBody>
      </p:sp>
      <p:sp>
        <p:nvSpPr>
          <p:cNvPr id="6" name="Rectangle 5"/>
          <p:cNvSpPr/>
          <p:nvPr/>
        </p:nvSpPr>
        <p:spPr>
          <a:xfrm>
            <a:off x="9445752" y="0"/>
            <a:ext cx="274320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5: System Design</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13 / 16</a:t>
            </a:r>
            <a:endParaRPr sz="850" b="1" i="0">
              <a:solidFill>
                <a:srgbClr val="FFFFFF"/>
              </a:solidFill>
            </a:endParaRPr>
          </a:p>
        </p:txBody>
      </p:sp>
      <p:sp>
        <p:nvSpPr>
          <p:cNvPr id="11" name="Rectangle 10"/>
          <p:cNvSpPr/>
          <p:nvPr/>
        </p:nvSpPr>
        <p:spPr>
          <a:xfrm>
            <a:off x="320040" y="1261872"/>
            <a:ext cx="557784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 y="1325880"/>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35024"/>
            <a:ext cx="10972800" cy="301752"/>
          </a:xfrm>
          <a:prstGeom prst="rect">
            <a:avLst/>
          </a:prstGeom>
          <a:noFill/>
        </p:spPr>
        <p:txBody>
          <a:bodyPr wrap="square">
            <a:spAutoFit/>
          </a:bodyPr>
          <a:lstStyle/>
          <a:p>
            <a:pPr algn="l"/>
            <a:r>
              <a:rPr sz="1200" b="1" i="0">
                <a:solidFill>
                  <a:srgbClr val="00995E"/>
                </a:solidFill>
              </a:rPr>
              <a:t>§5.5.1 Entity-Relationship Model — 7 Core Entities</a:t>
            </a:r>
            <a:endParaRPr sz="1200" b="1" i="0">
              <a:solidFill>
                <a:srgbClr val="00995E"/>
              </a:solidFill>
            </a:endParaRPr>
          </a:p>
        </p:txBody>
      </p:sp>
      <p:sp>
        <p:nvSpPr>
          <p:cNvPr id="14" name="Rectangle 13"/>
          <p:cNvSpPr/>
          <p:nvPr/>
        </p:nvSpPr>
        <p:spPr>
          <a:xfrm>
            <a:off x="438912" y="1691640"/>
            <a:ext cx="1508760" cy="31089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691640"/>
            <a:ext cx="1472184" cy="310896"/>
          </a:xfrm>
          <a:prstGeom prst="rect">
            <a:avLst/>
          </a:prstGeom>
          <a:noFill/>
        </p:spPr>
        <p:txBody>
          <a:bodyPr wrap="square">
            <a:spAutoFit/>
          </a:bodyPr>
          <a:lstStyle/>
          <a:p>
            <a:pPr algn="l"/>
            <a:r>
              <a:rPr sz="900" b="1" i="0">
                <a:solidFill>
                  <a:srgbClr val="FFFFFF"/>
                </a:solidFill>
              </a:rPr>
              <a:t>User</a:t>
            </a:r>
            <a:endParaRPr sz="900" b="1" i="0">
              <a:solidFill>
                <a:srgbClr val="FFFFFF"/>
              </a:solidFill>
            </a:endParaRPr>
          </a:p>
        </p:txBody>
      </p:sp>
      <p:sp>
        <p:nvSpPr>
          <p:cNvPr id="16" name="TextBox 15"/>
          <p:cNvSpPr txBox="1"/>
          <p:nvPr/>
        </p:nvSpPr>
        <p:spPr>
          <a:xfrm>
            <a:off x="1984248" y="1728216"/>
            <a:ext cx="3840480" cy="256032"/>
          </a:xfrm>
          <a:prstGeom prst="rect">
            <a:avLst/>
          </a:prstGeom>
          <a:noFill/>
        </p:spPr>
        <p:txBody>
          <a:bodyPr wrap="square">
            <a:spAutoFit/>
          </a:bodyPr>
          <a:lstStyle/>
          <a:p>
            <a:pPr algn="l"/>
            <a:r>
              <a:rPr sz="850" b="0" i="0">
                <a:solidFill>
                  <a:srgbClr val="6B7685"/>
                </a:solidFill>
              </a:rPr>
              <a:t>id, name, username, email, role_id, created_at</a:t>
            </a:r>
            <a:endParaRPr sz="850" b="0" i="0">
              <a:solidFill>
                <a:srgbClr val="6B7685"/>
              </a:solidFill>
            </a:endParaRPr>
          </a:p>
        </p:txBody>
      </p:sp>
      <p:sp>
        <p:nvSpPr>
          <p:cNvPr id="17" name="Rectangle 16"/>
          <p:cNvSpPr/>
          <p:nvPr/>
        </p:nvSpPr>
        <p:spPr>
          <a:xfrm>
            <a:off x="438912" y="2048256"/>
            <a:ext cx="1508760" cy="31089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048256"/>
            <a:ext cx="1472184" cy="310896"/>
          </a:xfrm>
          <a:prstGeom prst="rect">
            <a:avLst/>
          </a:prstGeom>
          <a:noFill/>
        </p:spPr>
        <p:txBody>
          <a:bodyPr wrap="square">
            <a:spAutoFit/>
          </a:bodyPr>
          <a:lstStyle/>
          <a:p>
            <a:pPr algn="l"/>
            <a:r>
              <a:rPr sz="900" b="1" i="0">
                <a:solidFill>
                  <a:srgbClr val="FFFFFF"/>
                </a:solidFill>
              </a:rPr>
              <a:t>Branch</a:t>
            </a:r>
            <a:endParaRPr sz="900" b="1" i="0">
              <a:solidFill>
                <a:srgbClr val="FFFFFF"/>
              </a:solidFill>
            </a:endParaRPr>
          </a:p>
        </p:txBody>
      </p:sp>
      <p:sp>
        <p:nvSpPr>
          <p:cNvPr id="19" name="TextBox 18"/>
          <p:cNvSpPr txBox="1"/>
          <p:nvPr/>
        </p:nvSpPr>
        <p:spPr>
          <a:xfrm>
            <a:off x="1984248" y="2084832"/>
            <a:ext cx="3840480" cy="256032"/>
          </a:xfrm>
          <a:prstGeom prst="rect">
            <a:avLst/>
          </a:prstGeom>
          <a:noFill/>
        </p:spPr>
        <p:txBody>
          <a:bodyPr wrap="square">
            <a:spAutoFit/>
          </a:bodyPr>
          <a:lstStyle/>
          <a:p>
            <a:pPr algn="l"/>
            <a:r>
              <a:rPr sz="850" b="0" i="0">
                <a:solidFill>
                  <a:srgbClr val="6B7685"/>
                </a:solidFill>
              </a:rPr>
              <a:t>id, name, location, manager_id</a:t>
            </a:r>
            <a:endParaRPr sz="850" b="0" i="0">
              <a:solidFill>
                <a:srgbClr val="6B7685"/>
              </a:solidFill>
            </a:endParaRPr>
          </a:p>
        </p:txBody>
      </p:sp>
      <p:sp>
        <p:nvSpPr>
          <p:cNvPr id="20" name="Rectangle 19"/>
          <p:cNvSpPr/>
          <p:nvPr/>
        </p:nvSpPr>
        <p:spPr>
          <a:xfrm>
            <a:off x="438912" y="2404872"/>
            <a:ext cx="1508760" cy="31089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404872"/>
            <a:ext cx="1472184" cy="310896"/>
          </a:xfrm>
          <a:prstGeom prst="rect">
            <a:avLst/>
          </a:prstGeom>
          <a:noFill/>
        </p:spPr>
        <p:txBody>
          <a:bodyPr wrap="square">
            <a:spAutoFit/>
          </a:bodyPr>
          <a:lstStyle/>
          <a:p>
            <a:pPr algn="l"/>
            <a:r>
              <a:rPr sz="900" b="1" i="0">
                <a:solidFill>
                  <a:srgbClr val="FFFFFF"/>
                </a:solidFill>
              </a:rPr>
              <a:t>Category</a:t>
            </a:r>
            <a:endParaRPr sz="900" b="1" i="0">
              <a:solidFill>
                <a:srgbClr val="FFFFFF"/>
              </a:solidFill>
            </a:endParaRPr>
          </a:p>
        </p:txBody>
      </p:sp>
      <p:sp>
        <p:nvSpPr>
          <p:cNvPr id="22" name="TextBox 21"/>
          <p:cNvSpPr txBox="1"/>
          <p:nvPr/>
        </p:nvSpPr>
        <p:spPr>
          <a:xfrm>
            <a:off x="1984248" y="2441448"/>
            <a:ext cx="3840480" cy="256032"/>
          </a:xfrm>
          <a:prstGeom prst="rect">
            <a:avLst/>
          </a:prstGeom>
          <a:noFill/>
        </p:spPr>
        <p:txBody>
          <a:bodyPr wrap="square">
            <a:spAutoFit/>
          </a:bodyPr>
          <a:lstStyle/>
          <a:p>
            <a:pPr algn="l"/>
            <a:r>
              <a:rPr sz="850" b="0" i="0">
                <a:solidFill>
                  <a:srgbClr val="6B7685"/>
                </a:solidFill>
              </a:rPr>
              <a:t>id, name, daily_reduction, is_purchase_excluded</a:t>
            </a:r>
            <a:endParaRPr sz="850" b="0" i="0">
              <a:solidFill>
                <a:srgbClr val="6B7685"/>
              </a:solidFill>
            </a:endParaRPr>
          </a:p>
        </p:txBody>
      </p:sp>
      <p:sp>
        <p:nvSpPr>
          <p:cNvPr id="23" name="Rectangle 22"/>
          <p:cNvSpPr/>
          <p:nvPr/>
        </p:nvSpPr>
        <p:spPr>
          <a:xfrm>
            <a:off x="438912" y="2761488"/>
            <a:ext cx="1508760" cy="31089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2761488"/>
            <a:ext cx="1472184" cy="310896"/>
          </a:xfrm>
          <a:prstGeom prst="rect">
            <a:avLst/>
          </a:prstGeom>
          <a:noFill/>
        </p:spPr>
        <p:txBody>
          <a:bodyPr wrap="square">
            <a:spAutoFit/>
          </a:bodyPr>
          <a:lstStyle/>
          <a:p>
            <a:pPr algn="l"/>
            <a:r>
              <a:rPr sz="900" b="1" i="0">
                <a:solidFill>
                  <a:srgbClr val="FFFFFF"/>
                </a:solidFill>
              </a:rPr>
              <a:t>Item</a:t>
            </a:r>
            <a:endParaRPr sz="900" b="1" i="0">
              <a:solidFill>
                <a:srgbClr val="FFFFFF"/>
              </a:solidFill>
            </a:endParaRPr>
          </a:p>
        </p:txBody>
      </p:sp>
      <p:sp>
        <p:nvSpPr>
          <p:cNvPr id="25" name="TextBox 24"/>
          <p:cNvSpPr txBox="1"/>
          <p:nvPr/>
        </p:nvSpPr>
        <p:spPr>
          <a:xfrm>
            <a:off x="1984248" y="2798064"/>
            <a:ext cx="3840480" cy="256032"/>
          </a:xfrm>
          <a:prstGeom prst="rect">
            <a:avLst/>
          </a:prstGeom>
          <a:noFill/>
        </p:spPr>
        <p:txBody>
          <a:bodyPr wrap="square">
            <a:spAutoFit/>
          </a:bodyPr>
          <a:lstStyle/>
          <a:p>
            <a:pPr algn="l"/>
            <a:r>
              <a:rPr sz="850" b="0" i="0">
                <a:solidFill>
                  <a:srgbClr val="6B7685"/>
                </a:solidFill>
              </a:rPr>
              <a:t>id, sku_code, item_name, barcode, buying_price, selling_price, min_stock, status</a:t>
            </a:r>
            <a:endParaRPr sz="850" b="0" i="0">
              <a:solidFill>
                <a:srgbClr val="6B7685"/>
              </a:solidFill>
            </a:endParaRPr>
          </a:p>
        </p:txBody>
      </p:sp>
      <p:sp>
        <p:nvSpPr>
          <p:cNvPr id="26" name="Rectangle 25"/>
          <p:cNvSpPr/>
          <p:nvPr/>
        </p:nvSpPr>
        <p:spPr>
          <a:xfrm>
            <a:off x="438912" y="3118104"/>
            <a:ext cx="1508760" cy="31089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118104"/>
            <a:ext cx="1472184" cy="310896"/>
          </a:xfrm>
          <a:prstGeom prst="rect">
            <a:avLst/>
          </a:prstGeom>
          <a:noFill/>
        </p:spPr>
        <p:txBody>
          <a:bodyPr wrap="square">
            <a:spAutoFit/>
          </a:bodyPr>
          <a:lstStyle/>
          <a:p>
            <a:pPr algn="l"/>
            <a:r>
              <a:rPr sz="900" b="1" i="0">
                <a:solidFill>
                  <a:srgbClr val="FFFFFF"/>
                </a:solidFill>
              </a:rPr>
              <a:t>Transaction</a:t>
            </a:r>
            <a:endParaRPr sz="900" b="1" i="0">
              <a:solidFill>
                <a:srgbClr val="FFFFFF"/>
              </a:solidFill>
            </a:endParaRPr>
          </a:p>
        </p:txBody>
      </p:sp>
      <p:sp>
        <p:nvSpPr>
          <p:cNvPr id="28" name="TextBox 27"/>
          <p:cNvSpPr txBox="1"/>
          <p:nvPr/>
        </p:nvSpPr>
        <p:spPr>
          <a:xfrm>
            <a:off x="1984248" y="3154680"/>
            <a:ext cx="3840480" cy="256032"/>
          </a:xfrm>
          <a:prstGeom prst="rect">
            <a:avLst/>
          </a:prstGeom>
          <a:noFill/>
        </p:spPr>
        <p:txBody>
          <a:bodyPr wrap="square">
            <a:spAutoFit/>
          </a:bodyPr>
          <a:lstStyle/>
          <a:p>
            <a:pPr algn="l"/>
            <a:r>
              <a:rPr sz="850" b="0" i="0">
                <a:solidFill>
                  <a:srgbClr val="6B7685"/>
                </a:solidFill>
              </a:rPr>
              <a:t>id, cashier_id, total_amount, payment_method, created_at</a:t>
            </a:r>
            <a:endParaRPr sz="850" b="0" i="0">
              <a:solidFill>
                <a:srgbClr val="6B7685"/>
              </a:solidFill>
            </a:endParaRPr>
          </a:p>
        </p:txBody>
      </p:sp>
      <p:sp>
        <p:nvSpPr>
          <p:cNvPr id="29" name="Rectangle 28"/>
          <p:cNvSpPr/>
          <p:nvPr/>
        </p:nvSpPr>
        <p:spPr>
          <a:xfrm>
            <a:off x="438912" y="3474720"/>
            <a:ext cx="1508760" cy="31089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3474720"/>
            <a:ext cx="1472184" cy="310896"/>
          </a:xfrm>
          <a:prstGeom prst="rect">
            <a:avLst/>
          </a:prstGeom>
          <a:noFill/>
        </p:spPr>
        <p:txBody>
          <a:bodyPr wrap="square">
            <a:spAutoFit/>
          </a:bodyPr>
          <a:lstStyle/>
          <a:p>
            <a:pPr algn="l"/>
            <a:r>
              <a:rPr sz="900" b="1" i="0">
                <a:solidFill>
                  <a:srgbClr val="FFFFFF"/>
                </a:solidFill>
              </a:rPr>
              <a:t>TransactionItem</a:t>
            </a:r>
            <a:endParaRPr sz="900" b="1" i="0">
              <a:solidFill>
                <a:srgbClr val="FFFFFF"/>
              </a:solidFill>
            </a:endParaRPr>
          </a:p>
        </p:txBody>
      </p:sp>
      <p:sp>
        <p:nvSpPr>
          <p:cNvPr id="31" name="TextBox 30"/>
          <p:cNvSpPr txBox="1"/>
          <p:nvPr/>
        </p:nvSpPr>
        <p:spPr>
          <a:xfrm>
            <a:off x="1984248" y="3511296"/>
            <a:ext cx="3840480" cy="256032"/>
          </a:xfrm>
          <a:prstGeom prst="rect">
            <a:avLst/>
          </a:prstGeom>
          <a:noFill/>
        </p:spPr>
        <p:txBody>
          <a:bodyPr wrap="square">
            <a:spAutoFit/>
          </a:bodyPr>
          <a:lstStyle/>
          <a:p>
            <a:pPr algn="l"/>
            <a:r>
              <a:rPr sz="850" b="0" i="0">
                <a:solidFill>
                  <a:srgbClr val="6B7685"/>
                </a:solidFill>
              </a:rPr>
              <a:t>id, transaction_id, item_id, quantity, unit_price</a:t>
            </a:r>
            <a:endParaRPr sz="850" b="0" i="0">
              <a:solidFill>
                <a:srgbClr val="6B7685"/>
              </a:solidFill>
            </a:endParaRPr>
          </a:p>
        </p:txBody>
      </p:sp>
      <p:sp>
        <p:nvSpPr>
          <p:cNvPr id="32" name="Rectangle 31"/>
          <p:cNvSpPr/>
          <p:nvPr/>
        </p:nvSpPr>
        <p:spPr>
          <a:xfrm>
            <a:off x="438912" y="3831336"/>
            <a:ext cx="1508760" cy="31089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831336"/>
            <a:ext cx="1472184" cy="310896"/>
          </a:xfrm>
          <a:prstGeom prst="rect">
            <a:avLst/>
          </a:prstGeom>
          <a:noFill/>
        </p:spPr>
        <p:txBody>
          <a:bodyPr wrap="square">
            <a:spAutoFit/>
          </a:bodyPr>
          <a:lstStyle/>
          <a:p>
            <a:pPr algn="l"/>
            <a:r>
              <a:rPr sz="900" b="1" i="0">
                <a:solidFill>
                  <a:srgbClr val="FFFFFF"/>
                </a:solidFill>
              </a:rPr>
              <a:t>AuditLog</a:t>
            </a:r>
            <a:endParaRPr sz="900" b="1" i="0">
              <a:solidFill>
                <a:srgbClr val="FFFFFF"/>
              </a:solidFill>
            </a:endParaRPr>
          </a:p>
        </p:txBody>
      </p:sp>
      <p:sp>
        <p:nvSpPr>
          <p:cNvPr id="34" name="TextBox 33"/>
          <p:cNvSpPr txBox="1"/>
          <p:nvPr/>
        </p:nvSpPr>
        <p:spPr>
          <a:xfrm>
            <a:off x="1984248" y="3867912"/>
            <a:ext cx="3840480" cy="256032"/>
          </a:xfrm>
          <a:prstGeom prst="rect">
            <a:avLst/>
          </a:prstGeom>
          <a:noFill/>
        </p:spPr>
        <p:txBody>
          <a:bodyPr wrap="square">
            <a:spAutoFit/>
          </a:bodyPr>
          <a:lstStyle/>
          <a:p>
            <a:pPr algn="l"/>
            <a:r>
              <a:rPr sz="850" b="0" i="0">
                <a:solidFill>
                  <a:srgbClr val="6B7685"/>
                </a:solidFill>
              </a:rPr>
              <a:t>id, user_id, action, table_name, record_id, old_value, new_value, timestamp</a:t>
            </a:r>
            <a:endParaRPr sz="850" b="0" i="0">
              <a:solidFill>
                <a:srgbClr val="6B7685"/>
              </a:solidFill>
            </a:endParaRPr>
          </a:p>
        </p:txBody>
      </p:sp>
      <p:sp>
        <p:nvSpPr>
          <p:cNvPr id="35" name="Rectangle 34"/>
          <p:cNvSpPr/>
          <p:nvPr/>
        </p:nvSpPr>
        <p:spPr>
          <a:xfrm>
            <a:off x="347472" y="4315968"/>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4325112"/>
            <a:ext cx="10972800" cy="301752"/>
          </a:xfrm>
          <a:prstGeom prst="rect">
            <a:avLst/>
          </a:prstGeom>
          <a:noFill/>
        </p:spPr>
        <p:txBody>
          <a:bodyPr wrap="square">
            <a:spAutoFit/>
          </a:bodyPr>
          <a:lstStyle/>
          <a:p>
            <a:pPr algn="l"/>
            <a:r>
              <a:rPr sz="1200" b="1" i="0">
                <a:solidFill>
                  <a:srgbClr val="007A4A"/>
                </a:solidFill>
              </a:rPr>
              <a:t>§5.5.2 Normalisation (3NF)</a:t>
            </a:r>
            <a:endParaRPr sz="1200" b="1" i="0">
              <a:solidFill>
                <a:srgbClr val="007A4A"/>
              </a:solidFill>
            </a:endParaRPr>
          </a:p>
        </p:txBody>
      </p:sp>
      <p:sp>
        <p:nvSpPr>
          <p:cNvPr id="37" name="TextBox 36"/>
          <p:cNvSpPr txBox="1"/>
          <p:nvPr/>
        </p:nvSpPr>
        <p:spPr>
          <a:xfrm>
            <a:off x="438912" y="4663440"/>
            <a:ext cx="5394960" cy="804672"/>
          </a:xfrm>
          <a:prstGeom prst="rect">
            <a:avLst/>
          </a:prstGeom>
          <a:noFill/>
        </p:spPr>
        <p:txBody>
          <a:bodyPr wrap="square">
            <a:spAutoFit/>
          </a:bodyPr>
          <a:lstStyle/>
          <a:p>
            <a:pPr>
              <a:spcBef>
                <a:spcPts val="500"/>
              </a:spcBef>
            </a:pPr>
            <a:r>
              <a:rPr sz="1000">
                <a:solidFill>
                  <a:srgbClr val="1A2330"/>
                </a:solidFill>
              </a:rPr>
              <a:t>▸  1NF: all attributes atomic; no repeating groups</a:t>
            </a:r>
            <a:endParaRPr sz="1000">
              <a:solidFill>
                <a:srgbClr val="1A2330"/>
              </a:solidFill>
            </a:endParaRPr>
          </a:p>
          <a:p>
            <a:pPr>
              <a:spcBef>
                <a:spcPts val="500"/>
              </a:spcBef>
            </a:pPr>
            <a:r>
              <a:rPr sz="1000">
                <a:solidFill>
                  <a:srgbClr val="1A2330"/>
                </a:solidFill>
              </a:rPr>
              <a:t>▸  2NF: all non-key attributes fully dependent on primary key</a:t>
            </a:r>
            <a:endParaRPr sz="1000">
              <a:solidFill>
                <a:srgbClr val="1A2330"/>
              </a:solidFill>
            </a:endParaRPr>
          </a:p>
          <a:p>
            <a:pPr>
              <a:spcBef>
                <a:spcPts val="500"/>
              </a:spcBef>
            </a:pPr>
            <a:r>
              <a:rPr sz="1000">
                <a:solidFill>
                  <a:srgbClr val="1A2330"/>
                </a:solidFill>
              </a:rPr>
              <a:t>▸  3NF: no transitive dependencies — each table represents one entity only</a:t>
            </a:r>
            <a:endParaRPr sz="1000">
              <a:solidFill>
                <a:srgbClr val="1A2330"/>
              </a:solidFill>
            </a:endParaRPr>
          </a:p>
        </p:txBody>
      </p:sp>
      <p:sp>
        <p:nvSpPr>
          <p:cNvPr id="38" name="Rectangle 37"/>
          <p:cNvSpPr/>
          <p:nvPr/>
        </p:nvSpPr>
        <p:spPr>
          <a:xfrm>
            <a:off x="347472" y="5541264"/>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5550407"/>
            <a:ext cx="10972800" cy="301752"/>
          </a:xfrm>
          <a:prstGeom prst="rect">
            <a:avLst/>
          </a:prstGeom>
          <a:noFill/>
        </p:spPr>
        <p:txBody>
          <a:bodyPr wrap="square">
            <a:spAutoFit/>
          </a:bodyPr>
          <a:lstStyle/>
          <a:p>
            <a:pPr algn="l"/>
            <a:r>
              <a:rPr sz="1200" b="1" i="0">
                <a:solidFill>
                  <a:srgbClr val="00995E"/>
                </a:solidFill>
              </a:rPr>
              <a:t>§5.5.3 Data Dictionary — AuditLog (FR-12)</a:t>
            </a:r>
            <a:endParaRPr sz="1200" b="1" i="0">
              <a:solidFill>
                <a:srgbClr val="00995E"/>
              </a:solidFill>
            </a:endParaRPr>
          </a:p>
        </p:txBody>
      </p:sp>
      <p:sp>
        <p:nvSpPr>
          <p:cNvPr id="40" name="TextBox 39"/>
          <p:cNvSpPr txBox="1"/>
          <p:nvPr/>
        </p:nvSpPr>
        <p:spPr>
          <a:xfrm>
            <a:off x="438912" y="5879592"/>
            <a:ext cx="5394960" cy="292608"/>
          </a:xfrm>
          <a:prstGeom prst="rect">
            <a:avLst/>
          </a:prstGeom>
          <a:noFill/>
        </p:spPr>
        <p:txBody>
          <a:bodyPr wrap="square">
            <a:spAutoFit/>
          </a:bodyPr>
          <a:lstStyle/>
          <a:p>
            <a:pPr algn="l"/>
            <a:r>
              <a:rPr sz="950" b="0" i="1">
                <a:solidFill>
                  <a:srgbClr val="1A2330"/>
                </a:solidFill>
              </a:rPr>
              <a:t>AuditLog records every critical event: logins, stock receipts, price changes, sales — the accountability mechanism absent from the current manual system.</a:t>
            </a:r>
            <a:endParaRPr sz="950" b="0" i="1">
              <a:solidFill>
                <a:srgbClr val="1A2330"/>
              </a:solidFill>
            </a:endParaRPr>
          </a:p>
        </p:txBody>
      </p:sp>
      <p:sp>
        <p:nvSpPr>
          <p:cNvPr id="41" name="Rectangle 40"/>
          <p:cNvSpPr/>
          <p:nvPr/>
        </p:nvSpPr>
        <p:spPr>
          <a:xfrm>
            <a:off x="6291072" y="1261872"/>
            <a:ext cx="557784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47472" y="1325880"/>
            <a:ext cx="82296" cy="32004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1335024"/>
            <a:ext cx="10972800" cy="301752"/>
          </a:xfrm>
          <a:prstGeom prst="rect">
            <a:avLst/>
          </a:prstGeom>
          <a:noFill/>
        </p:spPr>
        <p:txBody>
          <a:bodyPr wrap="square">
            <a:spAutoFit/>
          </a:bodyPr>
          <a:lstStyle/>
          <a:p>
            <a:pPr algn="l"/>
            <a:r>
              <a:rPr sz="1200" b="1" i="0">
                <a:solidFill>
                  <a:srgbClr val="E07B00"/>
                </a:solidFill>
              </a:rPr>
              <a:t>§5.6 I/O Design — 4 Primary System Screens</a:t>
            </a:r>
            <a:endParaRPr sz="1200" b="1" i="0">
              <a:solidFill>
                <a:srgbClr val="E07B00"/>
              </a:solidFill>
            </a:endParaRPr>
          </a:p>
        </p:txBody>
      </p:sp>
      <p:sp>
        <p:nvSpPr>
          <p:cNvPr id="44" name="Rectangle 43"/>
          <p:cNvSpPr/>
          <p:nvPr/>
        </p:nvSpPr>
        <p:spPr>
          <a:xfrm>
            <a:off x="6400800" y="1691640"/>
            <a:ext cx="5394960" cy="292608"/>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19088" y="1691640"/>
            <a:ext cx="5358384" cy="292608"/>
          </a:xfrm>
          <a:prstGeom prst="rect">
            <a:avLst/>
          </a:prstGeom>
          <a:noFill/>
        </p:spPr>
        <p:txBody>
          <a:bodyPr wrap="square">
            <a:spAutoFit/>
          </a:bodyPr>
          <a:lstStyle/>
          <a:p>
            <a:pPr algn="l"/>
            <a:r>
              <a:rPr sz="1000" b="1" i="0">
                <a:solidFill>
                  <a:srgbClr val="FFFFFF"/>
                </a:solidFill>
              </a:rPr>
              <a:t>Login Page</a:t>
            </a:r>
            <a:endParaRPr sz="1000" b="1" i="0">
              <a:solidFill>
                <a:srgbClr val="FFFFFF"/>
              </a:solidFill>
            </a:endParaRPr>
          </a:p>
        </p:txBody>
      </p:sp>
      <p:sp>
        <p:nvSpPr>
          <p:cNvPr id="46" name="Rectangle 45"/>
          <p:cNvSpPr/>
          <p:nvPr/>
        </p:nvSpPr>
        <p:spPr>
          <a:xfrm>
            <a:off x="6400800" y="1984248"/>
            <a:ext cx="5394960" cy="8229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92240" y="2020824"/>
            <a:ext cx="5212080" cy="749808"/>
          </a:xfrm>
          <a:prstGeom prst="rect">
            <a:avLst/>
          </a:prstGeom>
          <a:noFill/>
        </p:spPr>
        <p:txBody>
          <a:bodyPr wrap="square">
            <a:spAutoFit/>
          </a:bodyPr>
          <a:lstStyle/>
          <a:p>
            <a:pPr algn="l"/>
            <a:r>
              <a:rPr sz="900" b="0" i="0">
                <a:solidFill>
                  <a:srgbClr val="1A2330"/>
                </a:solidFill>
              </a:rPr>
              <a:t>Input: username, password  |  Output: session token, role-based redirect  |  Error: invalid credentials alert</a:t>
            </a:r>
            <a:endParaRPr sz="900" b="0" i="0">
              <a:solidFill>
                <a:srgbClr val="1A2330"/>
              </a:solidFill>
            </a:endParaRPr>
          </a:p>
        </p:txBody>
      </p:sp>
      <p:sp>
        <p:nvSpPr>
          <p:cNvPr id="48" name="Rectangle 47"/>
          <p:cNvSpPr/>
          <p:nvPr/>
        </p:nvSpPr>
        <p:spPr>
          <a:xfrm>
            <a:off x="6400800" y="2926080"/>
            <a:ext cx="5394960" cy="292608"/>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19088" y="2926080"/>
            <a:ext cx="5358384" cy="292608"/>
          </a:xfrm>
          <a:prstGeom prst="rect">
            <a:avLst/>
          </a:prstGeom>
          <a:noFill/>
        </p:spPr>
        <p:txBody>
          <a:bodyPr wrap="square">
            <a:spAutoFit/>
          </a:bodyPr>
          <a:lstStyle/>
          <a:p>
            <a:pPr algn="l"/>
            <a:r>
              <a:rPr sz="1000" b="1" i="0">
                <a:solidFill>
                  <a:srgbClr val="FFFFFF"/>
                </a:solidFill>
              </a:rPr>
              <a:t>Point of Sale Interface</a:t>
            </a:r>
            <a:endParaRPr sz="1000" b="1" i="0">
              <a:solidFill>
                <a:srgbClr val="FFFFFF"/>
              </a:solidFill>
            </a:endParaRPr>
          </a:p>
        </p:txBody>
      </p:sp>
      <p:sp>
        <p:nvSpPr>
          <p:cNvPr id="50" name="Rectangle 49"/>
          <p:cNvSpPr/>
          <p:nvPr/>
        </p:nvSpPr>
        <p:spPr>
          <a:xfrm>
            <a:off x="6400800" y="3218688"/>
            <a:ext cx="5394960" cy="8229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92240" y="3255264"/>
            <a:ext cx="5212080" cy="749808"/>
          </a:xfrm>
          <a:prstGeom prst="rect">
            <a:avLst/>
          </a:prstGeom>
          <a:noFill/>
        </p:spPr>
        <p:txBody>
          <a:bodyPr wrap="square">
            <a:spAutoFit/>
          </a:bodyPr>
          <a:lstStyle/>
          <a:p>
            <a:pPr algn="l"/>
            <a:r>
              <a:rPr sz="900" b="0" i="0">
                <a:solidFill>
                  <a:srgbClr val="1A2330"/>
                </a:solidFill>
              </a:rPr>
              <a:t>Input: barcode scan / item search, M-Pesa phone number  |  Output: cart, STK Push triggered, receipt printed, inventory deducted</a:t>
            </a:r>
            <a:endParaRPr sz="900" b="0" i="0">
              <a:solidFill>
                <a:srgbClr val="1A2330"/>
              </a:solidFill>
            </a:endParaRPr>
          </a:p>
        </p:txBody>
      </p:sp>
      <p:sp>
        <p:nvSpPr>
          <p:cNvPr id="52" name="Rectangle 51"/>
          <p:cNvSpPr/>
          <p:nvPr/>
        </p:nvSpPr>
        <p:spPr>
          <a:xfrm>
            <a:off x="6400800" y="4160520"/>
            <a:ext cx="5394960" cy="292608"/>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19088" y="4160520"/>
            <a:ext cx="5358384" cy="292608"/>
          </a:xfrm>
          <a:prstGeom prst="rect">
            <a:avLst/>
          </a:prstGeom>
          <a:noFill/>
        </p:spPr>
        <p:txBody>
          <a:bodyPr wrap="square">
            <a:spAutoFit/>
          </a:bodyPr>
          <a:lstStyle/>
          <a:p>
            <a:pPr algn="l"/>
            <a:r>
              <a:rPr sz="1000" b="1" i="0">
                <a:solidFill>
                  <a:srgbClr val="FFFFFF"/>
                </a:solidFill>
              </a:rPr>
              <a:t>Inventory Console</a:t>
            </a:r>
            <a:endParaRPr sz="1000" b="1" i="0">
              <a:solidFill>
                <a:srgbClr val="FFFFFF"/>
              </a:solidFill>
            </a:endParaRPr>
          </a:p>
        </p:txBody>
      </p:sp>
      <p:sp>
        <p:nvSpPr>
          <p:cNvPr id="54" name="Rectangle 53"/>
          <p:cNvSpPr/>
          <p:nvPr/>
        </p:nvSpPr>
        <p:spPr>
          <a:xfrm>
            <a:off x="6400800" y="4453128"/>
            <a:ext cx="5394960" cy="8229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92240" y="4489704"/>
            <a:ext cx="5212080" cy="749808"/>
          </a:xfrm>
          <a:prstGeom prst="rect">
            <a:avLst/>
          </a:prstGeom>
          <a:noFill/>
        </p:spPr>
        <p:txBody>
          <a:bodyPr wrap="square">
            <a:spAutoFit/>
          </a:bodyPr>
          <a:lstStyle/>
          <a:p>
            <a:pPr algn="l"/>
            <a:r>
              <a:rPr sz="900" b="0" i="0">
                <a:solidFill>
                  <a:srgbClr val="1A2330"/>
                </a:solidFill>
              </a:rPr>
              <a:t>Input: item details, stock movements (IN/OUT/ADJUSTMENT)  |  Output: real-time stock levels, low-stock alerts, movement history</a:t>
            </a:r>
            <a:endParaRPr sz="900" b="0" i="0">
              <a:solidFill>
                <a:srgbClr val="1A2330"/>
              </a:solidFill>
            </a:endParaRPr>
          </a:p>
        </p:txBody>
      </p:sp>
      <p:sp>
        <p:nvSpPr>
          <p:cNvPr id="56" name="Rectangle 55"/>
          <p:cNvSpPr/>
          <p:nvPr/>
        </p:nvSpPr>
        <p:spPr>
          <a:xfrm>
            <a:off x="6400800" y="5394960"/>
            <a:ext cx="5394960" cy="292608"/>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19088" y="5394960"/>
            <a:ext cx="5358384" cy="292608"/>
          </a:xfrm>
          <a:prstGeom prst="rect">
            <a:avLst/>
          </a:prstGeom>
          <a:noFill/>
        </p:spPr>
        <p:txBody>
          <a:bodyPr wrap="square">
            <a:spAutoFit/>
          </a:bodyPr>
          <a:lstStyle/>
          <a:p>
            <a:pPr algn="l"/>
            <a:r>
              <a:rPr sz="1000" b="1" i="0">
                <a:solidFill>
                  <a:srgbClr val="FFFFFF"/>
                </a:solidFill>
              </a:rPr>
              <a:t>Price Cycle Management Panel</a:t>
            </a:r>
            <a:endParaRPr sz="1000" b="1" i="0">
              <a:solidFill>
                <a:srgbClr val="FFFFFF"/>
              </a:solidFill>
            </a:endParaRPr>
          </a:p>
        </p:txBody>
      </p:sp>
      <p:sp>
        <p:nvSpPr>
          <p:cNvPr id="58" name="Rectangle 57"/>
          <p:cNvSpPr/>
          <p:nvPr/>
        </p:nvSpPr>
        <p:spPr>
          <a:xfrm>
            <a:off x="6400800" y="5687568"/>
            <a:ext cx="5394960" cy="8229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92240" y="5724144"/>
            <a:ext cx="5212080" cy="749808"/>
          </a:xfrm>
          <a:prstGeom prst="rect">
            <a:avLst/>
          </a:prstGeom>
          <a:noFill/>
        </p:spPr>
        <p:txBody>
          <a:bodyPr wrap="square">
            <a:spAutoFit/>
          </a:bodyPr>
          <a:lstStyle/>
          <a:p>
            <a:pPr algn="l"/>
            <a:r>
              <a:rPr sz="900" b="0" i="0">
                <a:solidFill>
                  <a:srgbClr val="1A2330"/>
                </a:solidFill>
              </a:rPr>
              <a:t>Input: item selection, base_price, daily_reduction, cycle_days, cycle_start  |  Output: auto-computed current_price shown in POS and reports</a:t>
            </a:r>
            <a:endParaRPr sz="900" b="0" i="0">
              <a:solidFill>
                <a:srgbClr val="1A2330"/>
              </a:solidFill>
            </a:endParaRPr>
          </a:p>
        </p:txBody>
      </p:sp>
      <p:sp>
        <p:nvSpPr>
          <p:cNvPr id="60" name="Rectangle 59"/>
          <p:cNvSpPr/>
          <p:nvPr/>
        </p:nvSpPr>
        <p:spPr>
          <a:xfrm>
            <a:off x="347472" y="5550408"/>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5559552"/>
            <a:ext cx="10972800" cy="301752"/>
          </a:xfrm>
          <a:prstGeom prst="rect">
            <a:avLst/>
          </a:prstGeom>
          <a:noFill/>
        </p:spPr>
        <p:txBody>
          <a:bodyPr wrap="square">
            <a:spAutoFit/>
          </a:bodyPr>
          <a:lstStyle/>
          <a:p>
            <a:pPr algn="l"/>
            <a:r>
              <a:rPr sz="1200" b="1" i="0">
                <a:solidFill>
                  <a:srgbClr val="007A4A"/>
                </a:solidFill>
              </a:rPr>
              <a:t>Prototype Iterations</a:t>
            </a:r>
            <a:endParaRPr sz="1200" b="1" i="0">
              <a:solidFill>
                <a:srgbClr val="007A4A"/>
              </a:solidFill>
            </a:endParaRPr>
          </a:p>
        </p:txBody>
      </p:sp>
      <p:sp>
        <p:nvSpPr>
          <p:cNvPr id="62" name="TextBox 61"/>
          <p:cNvSpPr txBox="1"/>
          <p:nvPr/>
        </p:nvSpPr>
        <p:spPr>
          <a:xfrm>
            <a:off x="6400800" y="5888736"/>
            <a:ext cx="5394960" cy="292608"/>
          </a:xfrm>
          <a:prstGeom prst="rect">
            <a:avLst/>
          </a:prstGeom>
          <a:noFill/>
        </p:spPr>
        <p:txBody>
          <a:bodyPr wrap="square">
            <a:spAutoFit/>
          </a:bodyPr>
          <a:lstStyle/>
          <a:p>
            <a:pPr algn="l"/>
            <a:r>
              <a:rPr sz="950" b="0" i="1">
                <a:solidFill>
                  <a:srgbClr val="1A2330"/>
                </a:solidFill>
              </a:rPr>
              <a:t>3 prototype iterations conducted: Initial concept → Refined POS → Final production UI. Feedback from cashiers and warehouse staff incorporated at each iteration.</a:t>
            </a:r>
            <a:endParaRPr sz="950" b="0" i="1">
              <a:solidFill>
                <a:srgbClr val="1A233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Chapter 6: Implementation &amp; Testing</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§6.2 System Screenshots  |  §6.3 Testing Plan  |  §6.4 Evaluation Plan</a:t>
            </a:r>
            <a:endParaRPr sz="1100" b="0" i="1">
              <a:solidFill>
                <a:srgbClr val="00C278"/>
              </a:solidFill>
            </a:endParaRPr>
          </a:p>
        </p:txBody>
      </p:sp>
      <p:sp>
        <p:nvSpPr>
          <p:cNvPr id="6" name="Rectangle 5"/>
          <p:cNvSpPr/>
          <p:nvPr/>
        </p:nvSpPr>
        <p:spPr>
          <a:xfrm>
            <a:off x="9445752" y="0"/>
            <a:ext cx="2743200"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9144"/>
            <a:ext cx="2706624" cy="329184"/>
          </a:xfrm>
          <a:prstGeom prst="rect">
            <a:avLst/>
          </a:prstGeom>
          <a:noFill/>
        </p:spPr>
        <p:txBody>
          <a:bodyPr wrap="square">
            <a:spAutoFit/>
          </a:bodyPr>
          <a:lstStyle/>
          <a:p>
            <a:pPr algn="ctr"/>
            <a:r>
              <a:rPr sz="800" b="1" i="0">
                <a:solidFill>
                  <a:srgbClr val="FFFFFF"/>
                </a:solidFill>
              </a:rPr>
              <a:t>Chapter 6: Implementation &amp; Testing</a:t>
            </a:r>
            <a:endParaRPr sz="800" b="1" i="0">
              <a:solidFill>
                <a:srgbClr val="FFFFFF"/>
              </a:solidFill>
            </a:endParaRPr>
          </a:p>
        </p:txBody>
      </p:sp>
      <p:sp>
        <p:nvSpPr>
          <p:cNvPr id="8" name="Rectangle 7"/>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10" name="TextBox 9"/>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14 / 16</a:t>
            </a:r>
            <a:endParaRPr sz="850" b="1" i="0">
              <a:solidFill>
                <a:srgbClr val="FFFFFF"/>
              </a:solidFill>
            </a:endParaRPr>
          </a:p>
        </p:txBody>
      </p:sp>
      <p:sp>
        <p:nvSpPr>
          <p:cNvPr id="11" name="Rectangle 10"/>
          <p:cNvSpPr/>
          <p:nvPr/>
        </p:nvSpPr>
        <p:spPr>
          <a:xfrm>
            <a:off x="347472" y="1261872"/>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71016"/>
            <a:ext cx="10972800" cy="301752"/>
          </a:xfrm>
          <a:prstGeom prst="rect">
            <a:avLst/>
          </a:prstGeom>
          <a:noFill/>
        </p:spPr>
        <p:txBody>
          <a:bodyPr wrap="square">
            <a:spAutoFit/>
          </a:bodyPr>
          <a:lstStyle/>
          <a:p>
            <a:pPr algn="l"/>
            <a:r>
              <a:rPr sz="1200" b="1" i="0">
                <a:solidFill>
                  <a:srgbClr val="00995E"/>
                </a:solidFill>
              </a:rPr>
              <a:t>§6.2 Implemented System — Key Modules</a:t>
            </a:r>
            <a:endParaRPr sz="1200" b="1" i="0">
              <a:solidFill>
                <a:srgbClr val="00995E"/>
              </a:solidFill>
            </a:endParaRPr>
          </a:p>
        </p:txBody>
      </p:sp>
      <p:sp>
        <p:nvSpPr>
          <p:cNvPr id="13" name="Rectangle 12"/>
          <p:cNvSpPr/>
          <p:nvPr/>
        </p:nvSpPr>
        <p:spPr>
          <a:xfrm>
            <a:off x="320040" y="1664208"/>
            <a:ext cx="3767328" cy="36576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664208"/>
            <a:ext cx="3584448" cy="365760"/>
          </a:xfrm>
          <a:prstGeom prst="rect">
            <a:avLst/>
          </a:prstGeom>
          <a:noFill/>
        </p:spPr>
        <p:txBody>
          <a:bodyPr wrap="square">
            <a:spAutoFit/>
          </a:bodyPr>
          <a:lstStyle/>
          <a:p>
            <a:pPr algn="l"/>
            <a:r>
              <a:rPr sz="1100" b="1" i="0">
                <a:solidFill>
                  <a:srgbClr val="FFFFFF"/>
                </a:solidFill>
              </a:rPr>
              <a:t>Dashboard</a:t>
            </a:r>
            <a:endParaRPr sz="1100" b="1" i="0">
              <a:solidFill>
                <a:srgbClr val="FFFFFF"/>
              </a:solidFill>
            </a:endParaRPr>
          </a:p>
        </p:txBody>
      </p:sp>
      <p:sp>
        <p:nvSpPr>
          <p:cNvPr id="15" name="Rectangle 14"/>
          <p:cNvSpPr/>
          <p:nvPr/>
        </p:nvSpPr>
        <p:spPr>
          <a:xfrm>
            <a:off x="320040" y="2029968"/>
            <a:ext cx="3767328"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2084832"/>
            <a:ext cx="3584448" cy="566928"/>
          </a:xfrm>
          <a:prstGeom prst="rect">
            <a:avLst/>
          </a:prstGeom>
          <a:noFill/>
        </p:spPr>
        <p:txBody>
          <a:bodyPr wrap="square">
            <a:spAutoFit/>
          </a:bodyPr>
          <a:lstStyle/>
          <a:p>
            <a:pPr algn="l"/>
            <a:r>
              <a:rPr sz="950" b="0" i="0">
                <a:solidFill>
                  <a:srgbClr val="1A2330"/>
                </a:solidFill>
              </a:rPr>
              <a:t>Live KPI cards: revenue, low-stock alerts, active price cycles, recent transactions</a:t>
            </a:r>
            <a:endParaRPr sz="950" b="0" i="0">
              <a:solidFill>
                <a:srgbClr val="1A2330"/>
              </a:solidFill>
            </a:endParaRPr>
          </a:p>
        </p:txBody>
      </p:sp>
      <p:sp>
        <p:nvSpPr>
          <p:cNvPr id="17" name="Rectangle 16"/>
          <p:cNvSpPr/>
          <p:nvPr/>
        </p:nvSpPr>
        <p:spPr>
          <a:xfrm>
            <a:off x="4425696" y="1664208"/>
            <a:ext cx="3767328" cy="36576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17136" y="1664208"/>
            <a:ext cx="3584448" cy="365760"/>
          </a:xfrm>
          <a:prstGeom prst="rect">
            <a:avLst/>
          </a:prstGeom>
          <a:noFill/>
        </p:spPr>
        <p:txBody>
          <a:bodyPr wrap="square">
            <a:spAutoFit/>
          </a:bodyPr>
          <a:lstStyle/>
          <a:p>
            <a:pPr algn="l"/>
            <a:r>
              <a:rPr sz="1100" b="1" i="0">
                <a:solidFill>
                  <a:srgbClr val="FFFFFF"/>
                </a:solidFill>
              </a:rPr>
              <a:t>Point of Sale</a:t>
            </a:r>
            <a:endParaRPr sz="1100" b="1" i="0">
              <a:solidFill>
                <a:srgbClr val="FFFFFF"/>
              </a:solidFill>
            </a:endParaRPr>
          </a:p>
        </p:txBody>
      </p:sp>
      <p:sp>
        <p:nvSpPr>
          <p:cNvPr id="19" name="Rectangle 18"/>
          <p:cNvSpPr/>
          <p:nvPr/>
        </p:nvSpPr>
        <p:spPr>
          <a:xfrm>
            <a:off x="4425696" y="2029968"/>
            <a:ext cx="3767328"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17136" y="2084832"/>
            <a:ext cx="3584448" cy="566928"/>
          </a:xfrm>
          <a:prstGeom prst="rect">
            <a:avLst/>
          </a:prstGeom>
          <a:noFill/>
        </p:spPr>
        <p:txBody>
          <a:bodyPr wrap="square">
            <a:spAutoFit/>
          </a:bodyPr>
          <a:lstStyle/>
          <a:p>
            <a:pPr algn="l"/>
            <a:r>
              <a:rPr sz="950" b="0" i="0">
                <a:solidFill>
                  <a:srgbClr val="1A2330"/>
                </a:solidFill>
              </a:rPr>
              <a:t>Barcode / search checkout, M-Pesa STK Push, hold-transaction, real-time inventory deduction</a:t>
            </a:r>
            <a:endParaRPr sz="950" b="0" i="0">
              <a:solidFill>
                <a:srgbClr val="1A2330"/>
              </a:solidFill>
            </a:endParaRPr>
          </a:p>
        </p:txBody>
      </p:sp>
      <p:sp>
        <p:nvSpPr>
          <p:cNvPr id="21" name="Rectangle 20"/>
          <p:cNvSpPr/>
          <p:nvPr/>
        </p:nvSpPr>
        <p:spPr>
          <a:xfrm>
            <a:off x="8531352" y="1664208"/>
            <a:ext cx="3767328" cy="36576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1664208"/>
            <a:ext cx="3584448" cy="365760"/>
          </a:xfrm>
          <a:prstGeom prst="rect">
            <a:avLst/>
          </a:prstGeom>
          <a:noFill/>
        </p:spPr>
        <p:txBody>
          <a:bodyPr wrap="square">
            <a:spAutoFit/>
          </a:bodyPr>
          <a:lstStyle/>
          <a:p>
            <a:pPr algn="l"/>
            <a:r>
              <a:rPr sz="1100" b="1" i="0">
                <a:solidFill>
                  <a:srgbClr val="FFFFFF"/>
                </a:solidFill>
              </a:rPr>
              <a:t>Price Cycle Engine</a:t>
            </a:r>
            <a:endParaRPr sz="1100" b="1" i="0">
              <a:solidFill>
                <a:srgbClr val="FFFFFF"/>
              </a:solidFill>
            </a:endParaRPr>
          </a:p>
        </p:txBody>
      </p:sp>
      <p:sp>
        <p:nvSpPr>
          <p:cNvPr id="23" name="Rectangle 22"/>
          <p:cNvSpPr/>
          <p:nvPr/>
        </p:nvSpPr>
        <p:spPr>
          <a:xfrm>
            <a:off x="8531352" y="2029968"/>
            <a:ext cx="3767328"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22792" y="2084832"/>
            <a:ext cx="3584448" cy="566928"/>
          </a:xfrm>
          <a:prstGeom prst="rect">
            <a:avLst/>
          </a:prstGeom>
          <a:noFill/>
        </p:spPr>
        <p:txBody>
          <a:bodyPr wrap="square">
            <a:spAutoFit/>
          </a:bodyPr>
          <a:lstStyle/>
          <a:p>
            <a:pPr algn="l"/>
            <a:r>
              <a:rPr sz="950" b="0" i="0">
                <a:solidFill>
                  <a:srgbClr val="1A2330"/>
                </a:solidFill>
              </a:rPr>
              <a:t>Auto-computes: current_price = base_price − (DATEDIFF(NOW(), cycle_start) × daily_reduction)</a:t>
            </a:r>
            <a:endParaRPr sz="950" b="0" i="0">
              <a:solidFill>
                <a:srgbClr val="1A2330"/>
              </a:solidFill>
            </a:endParaRPr>
          </a:p>
        </p:txBody>
      </p:sp>
      <p:sp>
        <p:nvSpPr>
          <p:cNvPr id="25" name="Rectangle 24"/>
          <p:cNvSpPr/>
          <p:nvPr/>
        </p:nvSpPr>
        <p:spPr>
          <a:xfrm>
            <a:off x="320040" y="3931920"/>
            <a:ext cx="3767328"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931920"/>
            <a:ext cx="3584448" cy="365760"/>
          </a:xfrm>
          <a:prstGeom prst="rect">
            <a:avLst/>
          </a:prstGeom>
          <a:noFill/>
        </p:spPr>
        <p:txBody>
          <a:bodyPr wrap="square">
            <a:spAutoFit/>
          </a:bodyPr>
          <a:lstStyle/>
          <a:p>
            <a:pPr algn="l"/>
            <a:r>
              <a:rPr sz="1100" b="1" i="0">
                <a:solidFill>
                  <a:srgbClr val="FFFFFF"/>
                </a:solidFill>
              </a:rPr>
              <a:t>Procurement Module</a:t>
            </a:r>
            <a:endParaRPr sz="1100" b="1" i="0">
              <a:solidFill>
                <a:srgbClr val="FFFFFF"/>
              </a:solidFill>
            </a:endParaRPr>
          </a:p>
        </p:txBody>
      </p:sp>
      <p:sp>
        <p:nvSpPr>
          <p:cNvPr id="27" name="Rectangle 26"/>
          <p:cNvSpPr/>
          <p:nvPr/>
        </p:nvSpPr>
        <p:spPr>
          <a:xfrm>
            <a:off x="320040" y="4297680"/>
            <a:ext cx="3767328"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79" y="4352544"/>
            <a:ext cx="3584448" cy="566928"/>
          </a:xfrm>
          <a:prstGeom prst="rect">
            <a:avLst/>
          </a:prstGeom>
          <a:noFill/>
        </p:spPr>
        <p:txBody>
          <a:bodyPr wrap="square">
            <a:spAutoFit/>
          </a:bodyPr>
          <a:lstStyle/>
          <a:p>
            <a:pPr algn="l"/>
            <a:r>
              <a:rPr sz="950" b="0" i="0">
                <a:solidFill>
                  <a:srgbClr val="1A2330"/>
                </a:solidFill>
              </a:rPr>
              <a:t>Requisition → supplier selection → approval → GRN recorded — full audit trail</a:t>
            </a:r>
            <a:endParaRPr sz="950" b="0" i="0">
              <a:solidFill>
                <a:srgbClr val="1A2330"/>
              </a:solidFill>
            </a:endParaRPr>
          </a:p>
        </p:txBody>
      </p:sp>
      <p:sp>
        <p:nvSpPr>
          <p:cNvPr id="29" name="Rectangle 28"/>
          <p:cNvSpPr/>
          <p:nvPr/>
        </p:nvSpPr>
        <p:spPr>
          <a:xfrm>
            <a:off x="4425696" y="3931920"/>
            <a:ext cx="3767328" cy="365760"/>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17136" y="3931920"/>
            <a:ext cx="3584448" cy="365760"/>
          </a:xfrm>
          <a:prstGeom prst="rect">
            <a:avLst/>
          </a:prstGeom>
          <a:noFill/>
        </p:spPr>
        <p:txBody>
          <a:bodyPr wrap="square">
            <a:spAutoFit/>
          </a:bodyPr>
          <a:lstStyle/>
          <a:p>
            <a:pPr algn="l"/>
            <a:r>
              <a:rPr sz="1100" b="1" i="0">
                <a:solidFill>
                  <a:srgbClr val="FFFFFF"/>
                </a:solidFill>
              </a:rPr>
              <a:t>Inventory Console</a:t>
            </a:r>
            <a:endParaRPr sz="1100" b="1" i="0">
              <a:solidFill>
                <a:srgbClr val="FFFFFF"/>
              </a:solidFill>
            </a:endParaRPr>
          </a:p>
        </p:txBody>
      </p:sp>
      <p:sp>
        <p:nvSpPr>
          <p:cNvPr id="31" name="Rectangle 30"/>
          <p:cNvSpPr/>
          <p:nvPr/>
        </p:nvSpPr>
        <p:spPr>
          <a:xfrm>
            <a:off x="4425696" y="4297680"/>
            <a:ext cx="3767328"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7136" y="4352544"/>
            <a:ext cx="3584448" cy="566928"/>
          </a:xfrm>
          <a:prstGeom prst="rect">
            <a:avLst/>
          </a:prstGeom>
          <a:noFill/>
        </p:spPr>
        <p:txBody>
          <a:bodyPr wrap="square">
            <a:spAutoFit/>
          </a:bodyPr>
          <a:lstStyle/>
          <a:p>
            <a:pPr algn="l"/>
            <a:r>
              <a:rPr sz="950" b="0" i="0">
                <a:solidFill>
                  <a:srgbClr val="1A2330"/>
                </a:solidFill>
              </a:rPr>
              <a:t>Perpetual stock via movement log: every POS sale triggers an automated OUT movement</a:t>
            </a:r>
            <a:endParaRPr sz="950" b="0" i="0">
              <a:solidFill>
                <a:srgbClr val="1A2330"/>
              </a:solidFill>
            </a:endParaRPr>
          </a:p>
        </p:txBody>
      </p:sp>
      <p:sp>
        <p:nvSpPr>
          <p:cNvPr id="33" name="Rectangle 32"/>
          <p:cNvSpPr/>
          <p:nvPr/>
        </p:nvSpPr>
        <p:spPr>
          <a:xfrm>
            <a:off x="8531352" y="3931920"/>
            <a:ext cx="3767328"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22792" y="3931920"/>
            <a:ext cx="3584448" cy="365760"/>
          </a:xfrm>
          <a:prstGeom prst="rect">
            <a:avLst/>
          </a:prstGeom>
          <a:noFill/>
        </p:spPr>
        <p:txBody>
          <a:bodyPr wrap="square">
            <a:spAutoFit/>
          </a:bodyPr>
          <a:lstStyle/>
          <a:p>
            <a:pPr algn="l"/>
            <a:r>
              <a:rPr sz="1100" b="1" i="0">
                <a:solidFill>
                  <a:srgbClr val="FFFFFF"/>
                </a:solidFill>
              </a:rPr>
              <a:t>Reports (10 types)</a:t>
            </a:r>
            <a:endParaRPr sz="1100" b="1" i="0">
              <a:solidFill>
                <a:srgbClr val="FFFFFF"/>
              </a:solidFill>
            </a:endParaRPr>
          </a:p>
        </p:txBody>
      </p:sp>
      <p:sp>
        <p:nvSpPr>
          <p:cNvPr id="35" name="Rectangle 34"/>
          <p:cNvSpPr/>
          <p:nvPr/>
        </p:nvSpPr>
        <p:spPr>
          <a:xfrm>
            <a:off x="8531352" y="4297680"/>
            <a:ext cx="3767328"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22792" y="4352544"/>
            <a:ext cx="3584448" cy="566928"/>
          </a:xfrm>
          <a:prstGeom prst="rect">
            <a:avLst/>
          </a:prstGeom>
          <a:noFill/>
        </p:spPr>
        <p:txBody>
          <a:bodyPr wrap="square">
            <a:spAutoFit/>
          </a:bodyPr>
          <a:lstStyle/>
          <a:p>
            <a:pPr algn="l"/>
            <a:r>
              <a:rPr sz="950" b="0" i="0">
                <a:solidFill>
                  <a:srgbClr val="1A2330"/>
                </a:solidFill>
              </a:rPr>
              <a:t>Sales, GRN, Requisitions, Stock Movements, Price Cycles, Suppliers, Users, Items…</a:t>
            </a:r>
            <a:endParaRPr sz="950" b="0" i="0">
              <a:solidFill>
                <a:srgbClr val="1A2330"/>
              </a:solidFill>
            </a:endParaRPr>
          </a:p>
        </p:txBody>
      </p:sp>
      <p:sp>
        <p:nvSpPr>
          <p:cNvPr id="37" name="Rectangle 36"/>
          <p:cNvSpPr/>
          <p:nvPr/>
        </p:nvSpPr>
        <p:spPr>
          <a:xfrm>
            <a:off x="347472" y="5138928"/>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5148072"/>
            <a:ext cx="10972800" cy="301752"/>
          </a:xfrm>
          <a:prstGeom prst="rect">
            <a:avLst/>
          </a:prstGeom>
          <a:noFill/>
        </p:spPr>
        <p:txBody>
          <a:bodyPr wrap="square">
            <a:spAutoFit/>
          </a:bodyPr>
          <a:lstStyle/>
          <a:p>
            <a:pPr algn="l"/>
            <a:r>
              <a:rPr sz="1200" b="1" i="0">
                <a:solidFill>
                  <a:srgbClr val="007A4A"/>
                </a:solidFill>
              </a:rPr>
              <a:t>§6.3 Testing Results  —  §6.4 Evaluation Plan</a:t>
            </a:r>
            <a:endParaRPr sz="1200" b="1" i="0">
              <a:solidFill>
                <a:srgbClr val="007A4A"/>
              </a:solidFill>
            </a:endParaRPr>
          </a:p>
        </p:txBody>
      </p:sp>
      <p:sp>
        <p:nvSpPr>
          <p:cNvPr id="39" name="Rectangle 38"/>
          <p:cNvSpPr/>
          <p:nvPr/>
        </p:nvSpPr>
        <p:spPr>
          <a:xfrm>
            <a:off x="320040" y="5486400"/>
            <a:ext cx="3703320" cy="292608"/>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3192" y="5486400"/>
            <a:ext cx="3566160" cy="292608"/>
          </a:xfrm>
          <a:prstGeom prst="rect">
            <a:avLst/>
          </a:prstGeom>
          <a:noFill/>
        </p:spPr>
        <p:txBody>
          <a:bodyPr wrap="square">
            <a:spAutoFit/>
          </a:bodyPr>
          <a:lstStyle/>
          <a:p>
            <a:pPr algn="l"/>
            <a:r>
              <a:rPr sz="900" b="1" i="0">
                <a:solidFill>
                  <a:srgbClr val="FFFFFF"/>
                </a:solidFill>
              </a:rPr>
              <a:t>Testing Outcome</a:t>
            </a:r>
            <a:endParaRPr sz="900" b="1" i="0">
              <a:solidFill>
                <a:srgbClr val="FFFFFF"/>
              </a:solidFill>
            </a:endParaRPr>
          </a:p>
        </p:txBody>
      </p:sp>
      <p:sp>
        <p:nvSpPr>
          <p:cNvPr id="41" name="Rectangle 40"/>
          <p:cNvSpPr/>
          <p:nvPr/>
        </p:nvSpPr>
        <p:spPr>
          <a:xfrm>
            <a:off x="320040" y="5779008"/>
            <a:ext cx="3703320"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79" y="5797296"/>
            <a:ext cx="3520440" cy="621792"/>
          </a:xfrm>
          <a:prstGeom prst="rect">
            <a:avLst/>
          </a:prstGeom>
          <a:noFill/>
        </p:spPr>
        <p:txBody>
          <a:bodyPr wrap="square">
            <a:spAutoFit/>
          </a:bodyPr>
          <a:lstStyle/>
          <a:p>
            <a:pPr algn="l"/>
            <a:r>
              <a:rPr sz="850" b="0" i="0">
                <a:solidFill>
                  <a:srgbClr val="1A2330"/>
                </a:solidFill>
              </a:rPr>
              <a:t>Unit ✓  Integration ✓  System ✓  UAT ✓  Security ✓
All 5 testing levels passed. All 4 specific objectives validated.</a:t>
            </a:r>
            <a:endParaRPr sz="850" b="0" i="0">
              <a:solidFill>
                <a:srgbClr val="1A2330"/>
              </a:solidFill>
            </a:endParaRPr>
          </a:p>
        </p:txBody>
      </p:sp>
      <p:sp>
        <p:nvSpPr>
          <p:cNvPr id="43" name="Rectangle 42"/>
          <p:cNvSpPr/>
          <p:nvPr/>
        </p:nvSpPr>
        <p:spPr>
          <a:xfrm>
            <a:off x="4343400" y="5486400"/>
            <a:ext cx="3703320" cy="292608"/>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16552" y="5486400"/>
            <a:ext cx="3566160" cy="292608"/>
          </a:xfrm>
          <a:prstGeom prst="rect">
            <a:avLst/>
          </a:prstGeom>
          <a:noFill/>
        </p:spPr>
        <p:txBody>
          <a:bodyPr wrap="square">
            <a:spAutoFit/>
          </a:bodyPr>
          <a:lstStyle/>
          <a:p>
            <a:pPr algn="l"/>
            <a:r>
              <a:rPr sz="900" b="1" i="0">
                <a:solidFill>
                  <a:srgbClr val="FFFFFF"/>
                </a:solidFill>
              </a:rPr>
              <a:t>Evaluation: Quantitative</a:t>
            </a:r>
            <a:endParaRPr sz="900" b="1" i="0">
              <a:solidFill>
                <a:srgbClr val="FFFFFF"/>
              </a:solidFill>
            </a:endParaRPr>
          </a:p>
        </p:txBody>
      </p:sp>
      <p:sp>
        <p:nvSpPr>
          <p:cNvPr id="45" name="Rectangle 44"/>
          <p:cNvSpPr/>
          <p:nvPr/>
        </p:nvSpPr>
        <p:spPr>
          <a:xfrm>
            <a:off x="4343400" y="5779008"/>
            <a:ext cx="3703320"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34840" y="5797296"/>
            <a:ext cx="3520440" cy="621792"/>
          </a:xfrm>
          <a:prstGeom prst="rect">
            <a:avLst/>
          </a:prstGeom>
          <a:noFill/>
        </p:spPr>
        <p:txBody>
          <a:bodyPr wrap="square">
            <a:spAutoFit/>
          </a:bodyPr>
          <a:lstStyle/>
          <a:p>
            <a:pPr algn="l"/>
            <a:r>
              <a:rPr sz="850" b="0" i="0">
                <a:solidFill>
                  <a:srgbClr val="1A2330"/>
                </a:solidFill>
              </a:rPr>
              <a:t>Stock deduction accuracy: 100% across 50 test transactions
M-Pesa callback matching: 100% for successful payments
Transaction time: significantly reduced vs. manual baseline</a:t>
            </a:r>
            <a:endParaRPr sz="850" b="0" i="0">
              <a:solidFill>
                <a:srgbClr val="1A2330"/>
              </a:solidFill>
            </a:endParaRPr>
          </a:p>
        </p:txBody>
      </p:sp>
      <p:sp>
        <p:nvSpPr>
          <p:cNvPr id="47" name="Rectangle 46"/>
          <p:cNvSpPr/>
          <p:nvPr/>
        </p:nvSpPr>
        <p:spPr>
          <a:xfrm>
            <a:off x="8229600" y="5486400"/>
            <a:ext cx="3657600" cy="292608"/>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02752" y="5486400"/>
            <a:ext cx="3566160" cy="292608"/>
          </a:xfrm>
          <a:prstGeom prst="rect">
            <a:avLst/>
          </a:prstGeom>
          <a:noFill/>
        </p:spPr>
        <p:txBody>
          <a:bodyPr wrap="square">
            <a:spAutoFit/>
          </a:bodyPr>
          <a:lstStyle/>
          <a:p>
            <a:pPr algn="l"/>
            <a:r>
              <a:rPr sz="900" b="1" i="0">
                <a:solidFill>
                  <a:srgbClr val="FFFFFF"/>
                </a:solidFill>
              </a:rPr>
              <a:t>Evaluation: Qualitative</a:t>
            </a:r>
            <a:endParaRPr sz="900" b="1" i="0">
              <a:solidFill>
                <a:srgbClr val="FFFFFF"/>
              </a:solidFill>
            </a:endParaRPr>
          </a:p>
        </p:txBody>
      </p:sp>
      <p:sp>
        <p:nvSpPr>
          <p:cNvPr id="49" name="Rectangle 48"/>
          <p:cNvSpPr/>
          <p:nvPr/>
        </p:nvSpPr>
        <p:spPr>
          <a:xfrm>
            <a:off x="8229600" y="5779008"/>
            <a:ext cx="3657600"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21040" y="5797296"/>
            <a:ext cx="3520440" cy="621792"/>
          </a:xfrm>
          <a:prstGeom prst="rect">
            <a:avLst/>
          </a:prstGeom>
          <a:noFill/>
        </p:spPr>
        <p:txBody>
          <a:bodyPr wrap="square">
            <a:spAutoFit/>
          </a:bodyPr>
          <a:lstStyle/>
          <a:p>
            <a:pPr algn="l"/>
            <a:r>
              <a:rPr sz="850" b="0" i="0">
                <a:solidFill>
                  <a:srgbClr val="1A2330"/>
                </a:solidFill>
              </a:rPr>
              <a:t>UAT questionnaire (2 cashiers + 1 manager):
• Ease of use: rated Satisfactory–Excellent by all participants
• Colour-coded stock alerts: all found 'clear and immediately actionable'</a:t>
            </a:r>
            <a:endParaRPr sz="850" b="0" i="0">
              <a:solidFill>
                <a:srgbClr val="1A233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70432"/>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54864"/>
            <a:ext cx="9144000" cy="685800"/>
          </a:xfrm>
          <a:prstGeom prst="rect">
            <a:avLst/>
          </a:prstGeom>
          <a:noFill/>
        </p:spPr>
        <p:txBody>
          <a:bodyPr wrap="square">
            <a:spAutoFit/>
          </a:bodyPr>
          <a:lstStyle/>
          <a:p>
            <a:pPr algn="l"/>
            <a:r>
              <a:rPr sz="2400" b="1" i="0">
                <a:solidFill>
                  <a:srgbClr val="FFFFFF"/>
                </a:solidFill>
              </a:rPr>
              <a:t>Conclusion &amp; Recommendations</a:t>
            </a:r>
            <a:endParaRPr sz="2400" b="1" i="0">
              <a:solidFill>
                <a:srgbClr val="FFFFFF"/>
              </a:solidFill>
            </a:endParaRPr>
          </a:p>
        </p:txBody>
      </p:sp>
      <p:sp>
        <p:nvSpPr>
          <p:cNvPr id="5" name="TextBox 4"/>
          <p:cNvSpPr txBox="1"/>
          <p:nvPr/>
        </p:nvSpPr>
        <p:spPr>
          <a:xfrm>
            <a:off x="347472" y="713232"/>
            <a:ext cx="9144000" cy="384048"/>
          </a:xfrm>
          <a:prstGeom prst="rect">
            <a:avLst/>
          </a:prstGeom>
          <a:noFill/>
        </p:spPr>
        <p:txBody>
          <a:bodyPr wrap="square">
            <a:spAutoFit/>
          </a:bodyPr>
          <a:lstStyle/>
          <a:p>
            <a:pPr algn="l"/>
            <a:r>
              <a:rPr sz="1100" b="0" i="1">
                <a:solidFill>
                  <a:srgbClr val="00C278"/>
                </a:solidFill>
              </a:rPr>
              <a:t>Objectives met  |  Limitations acknowledged  |  Future work proposed</a:t>
            </a:r>
            <a:endParaRPr sz="1100" b="0" i="1">
              <a:solidFill>
                <a:srgbClr val="00C278"/>
              </a:solidFill>
            </a:endParaRPr>
          </a:p>
        </p:txBody>
      </p:sp>
      <p:sp>
        <p:nvSpPr>
          <p:cNvPr id="6" name="Rectangle 5"/>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28816"/>
            <a:ext cx="10515600" cy="274320"/>
          </a:xfrm>
          <a:prstGeom prst="rect">
            <a:avLst/>
          </a:prstGeom>
          <a:noFill/>
        </p:spPr>
        <p:txBody>
          <a:bodyPr wrap="square">
            <a:spAutoFit/>
          </a:bodyPr>
          <a:lstStyle/>
          <a:p>
            <a:pPr algn="l"/>
            <a:r>
              <a:rPr sz="850" b="0" i="0">
                <a:solidFill>
                  <a:srgbClr val="FFFFFF"/>
                </a:solidFill>
              </a:rPr>
              <a:t>April 2026  |  Multimedia University of Kenya  |  Department of Information Technology</a:t>
            </a:r>
            <a:endParaRPr sz="850" b="0" i="0">
              <a:solidFill>
                <a:srgbClr val="FFFFFF"/>
              </a:solidFill>
            </a:endParaRPr>
          </a:p>
        </p:txBody>
      </p:sp>
      <p:sp>
        <p:nvSpPr>
          <p:cNvPr id="8" name="TextBox 7"/>
          <p:cNvSpPr txBox="1"/>
          <p:nvPr/>
        </p:nvSpPr>
        <p:spPr>
          <a:xfrm>
            <a:off x="10972800" y="6528816"/>
            <a:ext cx="1005840" cy="274320"/>
          </a:xfrm>
          <a:prstGeom prst="rect">
            <a:avLst/>
          </a:prstGeom>
          <a:noFill/>
        </p:spPr>
        <p:txBody>
          <a:bodyPr wrap="square">
            <a:spAutoFit/>
          </a:bodyPr>
          <a:lstStyle/>
          <a:p>
            <a:pPr algn="r"/>
            <a:r>
              <a:rPr sz="850" b="1" i="0">
                <a:solidFill>
                  <a:srgbClr val="FFFFFF"/>
                </a:solidFill>
              </a:rPr>
              <a:t>15 / 16</a:t>
            </a:r>
            <a:endParaRPr sz="850" b="1" i="0">
              <a:solidFill>
                <a:srgbClr val="FFFFFF"/>
              </a:solidFill>
            </a:endParaRPr>
          </a:p>
        </p:txBody>
      </p:sp>
      <p:sp>
        <p:nvSpPr>
          <p:cNvPr id="9" name="Rectangle 8"/>
          <p:cNvSpPr/>
          <p:nvPr/>
        </p:nvSpPr>
        <p:spPr>
          <a:xfrm>
            <a:off x="320040" y="1261872"/>
            <a:ext cx="5577840" cy="4160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 y="1325880"/>
            <a:ext cx="82296" cy="32004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335024"/>
            <a:ext cx="10972800" cy="301752"/>
          </a:xfrm>
          <a:prstGeom prst="rect">
            <a:avLst/>
          </a:prstGeom>
          <a:noFill/>
        </p:spPr>
        <p:txBody>
          <a:bodyPr wrap="square">
            <a:spAutoFit/>
          </a:bodyPr>
          <a:lstStyle/>
          <a:p>
            <a:pPr algn="l"/>
            <a:r>
              <a:rPr sz="1200" b="1" i="0">
                <a:solidFill>
                  <a:srgbClr val="00995E"/>
                </a:solidFill>
              </a:rPr>
              <a:t>Achievements — All 4 Objectives Met</a:t>
            </a:r>
            <a:endParaRPr sz="1200" b="1" i="0">
              <a:solidFill>
                <a:srgbClr val="00995E"/>
              </a:solidFill>
            </a:endParaRPr>
          </a:p>
        </p:txBody>
      </p:sp>
      <p:sp>
        <p:nvSpPr>
          <p:cNvPr id="12" name="TextBox 11"/>
          <p:cNvSpPr txBox="1"/>
          <p:nvPr/>
        </p:nvSpPr>
        <p:spPr>
          <a:xfrm>
            <a:off x="438912" y="1691640"/>
            <a:ext cx="5394960" cy="2468880"/>
          </a:xfrm>
          <a:prstGeom prst="rect">
            <a:avLst/>
          </a:prstGeom>
          <a:noFill/>
        </p:spPr>
        <p:txBody>
          <a:bodyPr wrap="square">
            <a:spAutoFit/>
          </a:bodyPr>
          <a:lstStyle/>
          <a:p>
            <a:pPr>
              <a:spcBef>
                <a:spcPts val="500"/>
              </a:spcBef>
            </a:pPr>
            <a:r>
              <a:rPr sz="1050">
                <a:solidFill>
                  <a:srgbClr val="1A2330"/>
                </a:solidFill>
              </a:rPr>
              <a:t>▸  SO1 ✓ Procurement module live — requisitions, supplier mgmt, GRN with audit trail</a:t>
            </a:r>
            <a:endParaRPr sz="1050">
              <a:solidFill>
                <a:srgbClr val="1A2330"/>
              </a:solidFill>
            </a:endParaRPr>
          </a:p>
          <a:p>
            <a:pPr>
              <a:spcBef>
                <a:spcPts val="500"/>
              </a:spcBef>
            </a:pPr>
            <a:r>
              <a:rPr sz="1050">
                <a:solidFill>
                  <a:srgbClr val="1A2330"/>
                </a:solidFill>
              </a:rPr>
              <a:t>▸  SO2 ✓ Price cycle engine live — daily reduction computed at query time, zero manual re-tagging</a:t>
            </a:r>
            <a:endParaRPr sz="1050">
              <a:solidFill>
                <a:srgbClr val="1A2330"/>
              </a:solidFill>
            </a:endParaRPr>
          </a:p>
          <a:p>
            <a:pPr>
              <a:spcBef>
                <a:spcPts val="500"/>
              </a:spcBef>
            </a:pPr>
            <a:r>
              <a:rPr sz="1050">
                <a:solidFill>
                  <a:srgbClr val="1A2330"/>
                </a:solidFill>
              </a:rPr>
              <a:t>▸  SO3 ✓ POS live — real-time inventory deduction on every transaction via OUT stock movement</a:t>
            </a:r>
            <a:endParaRPr sz="1050">
              <a:solidFill>
                <a:srgbClr val="1A2330"/>
              </a:solidFill>
            </a:endParaRPr>
          </a:p>
          <a:p>
            <a:pPr>
              <a:spcBef>
                <a:spcPts val="500"/>
              </a:spcBef>
            </a:pPr>
            <a:r>
              <a:rPr sz="1050">
                <a:solidFill>
                  <a:srgbClr val="1A2330"/>
                </a:solidFill>
              </a:rPr>
              <a:t>▸  SO4 ✓ M-Pesa Daraja C2B integrated — STK Push, callback matching, reconciliation automated</a:t>
            </a:r>
            <a:endParaRPr sz="1050">
              <a:solidFill>
                <a:srgbClr val="1A2330"/>
              </a:solidFill>
            </a:endParaRPr>
          </a:p>
          <a:p>
            <a:pPr>
              <a:spcBef>
                <a:spcPts val="500"/>
              </a:spcBef>
            </a:pPr>
            <a:r>
              <a:rPr sz="1050">
                <a:solidFill>
                  <a:srgbClr val="1A2330"/>
                </a:solidFill>
              </a:rPr>
              <a:t>▸  10 report types covering all operational areas — printable, filterable, role-protected</a:t>
            </a:r>
            <a:endParaRPr sz="1050">
              <a:solidFill>
                <a:srgbClr val="1A2330"/>
              </a:solidFill>
            </a:endParaRPr>
          </a:p>
          <a:p>
            <a:pPr>
              <a:spcBef>
                <a:spcPts val="500"/>
              </a:spcBef>
            </a:pPr>
            <a:r>
              <a:rPr sz="1050">
                <a:solidFill>
                  <a:srgbClr val="1A2330"/>
                </a:solidFill>
              </a:rPr>
              <a:t>▸  Full RBAC with AuditLog — accountability gap from current system resolved</a:t>
            </a:r>
            <a:endParaRPr sz="1050">
              <a:solidFill>
                <a:srgbClr val="1A2330"/>
              </a:solidFill>
            </a:endParaRPr>
          </a:p>
        </p:txBody>
      </p:sp>
      <p:sp>
        <p:nvSpPr>
          <p:cNvPr id="13" name="Rectangle 12"/>
          <p:cNvSpPr/>
          <p:nvPr/>
        </p:nvSpPr>
        <p:spPr>
          <a:xfrm>
            <a:off x="347472" y="4206240"/>
            <a:ext cx="82296" cy="320040"/>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215383"/>
            <a:ext cx="10972800" cy="301752"/>
          </a:xfrm>
          <a:prstGeom prst="rect">
            <a:avLst/>
          </a:prstGeom>
          <a:noFill/>
        </p:spPr>
        <p:txBody>
          <a:bodyPr wrap="square">
            <a:spAutoFit/>
          </a:bodyPr>
          <a:lstStyle/>
          <a:p>
            <a:pPr algn="l"/>
            <a:r>
              <a:rPr sz="1200" b="1" i="0">
                <a:solidFill>
                  <a:srgbClr val="D93025"/>
                </a:solidFill>
              </a:rPr>
              <a:t>Acknowledged Limitations</a:t>
            </a:r>
            <a:endParaRPr sz="1200" b="1" i="0">
              <a:solidFill>
                <a:srgbClr val="D93025"/>
              </a:solidFill>
            </a:endParaRPr>
          </a:p>
        </p:txBody>
      </p:sp>
      <p:sp>
        <p:nvSpPr>
          <p:cNvPr id="15" name="TextBox 14"/>
          <p:cNvSpPr txBox="1"/>
          <p:nvPr/>
        </p:nvSpPr>
        <p:spPr>
          <a:xfrm>
            <a:off x="438912" y="4544568"/>
            <a:ext cx="5394960" cy="868680"/>
          </a:xfrm>
          <a:prstGeom prst="rect">
            <a:avLst/>
          </a:prstGeom>
          <a:noFill/>
        </p:spPr>
        <p:txBody>
          <a:bodyPr wrap="square">
            <a:spAutoFit/>
          </a:bodyPr>
          <a:lstStyle/>
          <a:p>
            <a:pPr>
              <a:spcBef>
                <a:spcPts val="500"/>
              </a:spcBef>
            </a:pPr>
            <a:r>
              <a:rPr sz="1050">
                <a:solidFill>
                  <a:srgbClr val="AA2200"/>
                </a:solidFill>
              </a:rPr>
              <a:t>▸  Prototype validated at single branch — multi-branch scale testing not yet conducted</a:t>
            </a:r>
            <a:endParaRPr sz="1050">
              <a:solidFill>
                <a:srgbClr val="AA2200"/>
              </a:solidFill>
            </a:endParaRPr>
          </a:p>
          <a:p>
            <a:pPr>
              <a:spcBef>
                <a:spcPts val="500"/>
              </a:spcBef>
            </a:pPr>
            <a:r>
              <a:rPr sz="1050">
                <a:solidFill>
                  <a:srgbClr val="AA2200"/>
                </a:solidFill>
              </a:rPr>
              <a:t>▸  M-Pesa STK Push requires active internet — offline fallback is cash-only</a:t>
            </a:r>
            <a:endParaRPr sz="1050">
              <a:solidFill>
                <a:srgbClr val="AA2200"/>
              </a:solidFill>
            </a:endParaRPr>
          </a:p>
          <a:p>
            <a:pPr>
              <a:spcBef>
                <a:spcPts val="500"/>
              </a:spcBef>
            </a:pPr>
            <a:r>
              <a:rPr sz="1050">
                <a:solidFill>
                  <a:srgbClr val="AA2200"/>
                </a:solidFill>
              </a:rPr>
              <a:t>▸  No native mobile app — browser-based access on smartphones has UX constraints</a:t>
            </a:r>
            <a:endParaRPr sz="1050">
              <a:solidFill>
                <a:srgbClr val="AA2200"/>
              </a:solidFill>
            </a:endParaRPr>
          </a:p>
        </p:txBody>
      </p:sp>
      <p:sp>
        <p:nvSpPr>
          <p:cNvPr id="16" name="Rectangle 15"/>
          <p:cNvSpPr/>
          <p:nvPr/>
        </p:nvSpPr>
        <p:spPr>
          <a:xfrm>
            <a:off x="6291072" y="1261872"/>
            <a:ext cx="5577840" cy="4160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1325880"/>
            <a:ext cx="82296" cy="320040"/>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1335024"/>
            <a:ext cx="10972800" cy="301752"/>
          </a:xfrm>
          <a:prstGeom prst="rect">
            <a:avLst/>
          </a:prstGeom>
          <a:noFill/>
        </p:spPr>
        <p:txBody>
          <a:bodyPr wrap="square">
            <a:spAutoFit/>
          </a:bodyPr>
          <a:lstStyle/>
          <a:p>
            <a:pPr algn="l"/>
            <a:r>
              <a:rPr sz="1200" b="1" i="0">
                <a:solidFill>
                  <a:srgbClr val="007A4A"/>
                </a:solidFill>
              </a:rPr>
              <a:t>Recommendations for Future Work</a:t>
            </a:r>
            <a:endParaRPr sz="1200" b="1" i="0">
              <a:solidFill>
                <a:srgbClr val="007A4A"/>
              </a:solidFill>
            </a:endParaRPr>
          </a:p>
        </p:txBody>
      </p:sp>
      <p:sp>
        <p:nvSpPr>
          <p:cNvPr id="19" name="TextBox 18"/>
          <p:cNvSpPr txBox="1"/>
          <p:nvPr/>
        </p:nvSpPr>
        <p:spPr>
          <a:xfrm>
            <a:off x="6400800" y="1691640"/>
            <a:ext cx="5394960" cy="2926080"/>
          </a:xfrm>
          <a:prstGeom prst="rect">
            <a:avLst/>
          </a:prstGeom>
          <a:noFill/>
        </p:spPr>
        <p:txBody>
          <a:bodyPr wrap="square">
            <a:spAutoFit/>
          </a:bodyPr>
          <a:lstStyle/>
          <a:p>
            <a:pPr>
              <a:spcBef>
                <a:spcPts val="500"/>
              </a:spcBef>
            </a:pPr>
            <a:r>
              <a:rPr sz="1050">
                <a:solidFill>
                  <a:srgbClr val="1A2330"/>
                </a:solidFill>
              </a:rPr>
              <a:t>▸  Deploy centralised MySQL server — scale to all 30+ branches via VPN</a:t>
            </a:r>
            <a:endParaRPr sz="1050">
              <a:solidFill>
                <a:srgbClr val="1A2330"/>
              </a:solidFill>
            </a:endParaRPr>
          </a:p>
          <a:p>
            <a:pPr>
              <a:spcBef>
                <a:spcPts val="500"/>
              </a:spcBef>
            </a:pPr>
            <a:r>
              <a:rPr sz="1050">
                <a:solidFill>
                  <a:srgbClr val="1A2330"/>
                </a:solidFill>
              </a:rPr>
              <a:t>▸  Build native Android app for cashier stations on mobile devices</a:t>
            </a:r>
            <a:endParaRPr sz="1050">
              <a:solidFill>
                <a:srgbClr val="1A2330"/>
              </a:solidFill>
            </a:endParaRPr>
          </a:p>
          <a:p>
            <a:pPr>
              <a:spcBef>
                <a:spcPts val="500"/>
              </a:spcBef>
            </a:pPr>
            <a:r>
              <a:rPr sz="1050">
                <a:solidFill>
                  <a:srgbClr val="1A2330"/>
                </a:solidFill>
              </a:rPr>
              <a:t>▸  Integrate KRA eTIMS API — replace ETR with electronic tax receipts</a:t>
            </a:r>
            <a:endParaRPr sz="1050">
              <a:solidFill>
                <a:srgbClr val="1A2330"/>
              </a:solidFill>
            </a:endParaRPr>
          </a:p>
          <a:p>
            <a:pPr>
              <a:spcBef>
                <a:spcPts val="500"/>
              </a:spcBef>
            </a:pPr>
            <a:r>
              <a:rPr sz="1050">
                <a:solidFill>
                  <a:srgbClr val="1A2330"/>
                </a:solidFill>
              </a:rPr>
              <a:t>▸  Add predictive restocking using ML on historical sales data</a:t>
            </a:r>
            <a:endParaRPr sz="1050">
              <a:solidFill>
                <a:srgbClr val="1A2330"/>
              </a:solidFill>
            </a:endParaRPr>
          </a:p>
          <a:p>
            <a:pPr>
              <a:spcBef>
                <a:spcPts val="500"/>
              </a:spcBef>
            </a:pPr>
            <a:r>
              <a:rPr sz="1050">
                <a:solidFill>
                  <a:srgbClr val="1A2330"/>
                </a:solidFill>
              </a:rPr>
              <a:t>▸  Implement customer loyalty and membership tracking module</a:t>
            </a:r>
            <a:endParaRPr sz="1050">
              <a:solidFill>
                <a:srgbClr val="1A2330"/>
              </a:solidFill>
            </a:endParaRPr>
          </a:p>
          <a:p>
            <a:pPr>
              <a:spcBef>
                <a:spcPts val="500"/>
              </a:spcBef>
            </a:pPr>
            <a:r>
              <a:rPr sz="1050">
                <a:solidFill>
                  <a:srgbClr val="1A2330"/>
                </a:solidFill>
              </a:rPr>
              <a:t>▸  Develop supplier self-service portal for e-requisition submission</a:t>
            </a:r>
            <a:endParaRPr sz="1050">
              <a:solidFill>
                <a:srgbClr val="1A2330"/>
              </a:solidFill>
            </a:endParaRPr>
          </a:p>
          <a:p>
            <a:pPr>
              <a:spcBef>
                <a:spcPts val="500"/>
              </a:spcBef>
            </a:pPr>
            <a:r>
              <a:rPr sz="1050">
                <a:solidFill>
                  <a:srgbClr val="1A2330"/>
                </a:solidFill>
              </a:rPr>
              <a:t>▸  Add offline-first PWA mode — sync sales when internet restored</a:t>
            </a:r>
            <a:endParaRPr sz="1050">
              <a:solidFill>
                <a:srgbClr val="1A2330"/>
              </a:solidFill>
            </a:endParaRPr>
          </a:p>
        </p:txBody>
      </p:sp>
      <p:sp>
        <p:nvSpPr>
          <p:cNvPr id="20" name="Rectangle 19"/>
          <p:cNvSpPr/>
          <p:nvPr/>
        </p:nvSpPr>
        <p:spPr>
          <a:xfrm>
            <a:off x="320040" y="5559552"/>
            <a:ext cx="11548872" cy="512064"/>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596128"/>
            <a:ext cx="11247120" cy="438912"/>
          </a:xfrm>
          <a:prstGeom prst="rect">
            <a:avLst/>
          </a:prstGeom>
          <a:noFill/>
        </p:spPr>
        <p:txBody>
          <a:bodyPr wrap="square">
            <a:spAutoFit/>
          </a:bodyPr>
          <a:lstStyle/>
          <a:p>
            <a:pPr algn="ctr"/>
            <a:r>
              <a:rPr sz="1100" b="1" i="1">
                <a:solidFill>
                  <a:srgbClr val="FFFFFF"/>
                </a:solidFill>
              </a:rPr>
              <a:t>This system transforms Think Twice Stores from manual operations to a fully digital, data-driven retail management platform — establishing a sustainable competitive advantage in Kenya's rapidly growing mitumba retail sector.</a:t>
            </a:r>
            <a:endParaRPr sz="1100" b="1" i="1">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645920"/>
            <a:ext cx="9445752"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645920"/>
            <a:ext cx="137160" cy="3749039"/>
          </a:xfrm>
          <a:prstGeom prst="rect">
            <a:avLst/>
          </a:prstGeom>
          <a:solidFill>
            <a:srgbClr val="00C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0"/>
            <a:ext cx="9052560" cy="914400"/>
          </a:xfrm>
          <a:prstGeom prst="rect">
            <a:avLst/>
          </a:prstGeom>
          <a:noFill/>
        </p:spPr>
        <p:txBody>
          <a:bodyPr wrap="square">
            <a:spAutoFit/>
          </a:bodyPr>
          <a:lstStyle/>
          <a:p>
            <a:pPr algn="ctr"/>
            <a:r>
              <a:rPr sz="4200" b="1" i="0">
                <a:solidFill>
                  <a:srgbClr val="00995E"/>
                </a:solidFill>
              </a:rPr>
              <a:t>Thank You</a:t>
            </a:r>
            <a:endParaRPr sz="4200" b="1" i="0">
              <a:solidFill>
                <a:srgbClr val="00995E"/>
              </a:solidFill>
            </a:endParaRPr>
          </a:p>
        </p:txBody>
      </p:sp>
      <p:sp>
        <p:nvSpPr>
          <p:cNvPr id="6" name="Rectangle 5"/>
          <p:cNvSpPr/>
          <p:nvPr/>
        </p:nvSpPr>
        <p:spPr>
          <a:xfrm>
            <a:off x="3200400" y="2834640"/>
            <a:ext cx="5788152" cy="45720"/>
          </a:xfrm>
          <a:prstGeom prst="rect">
            <a:avLst/>
          </a:prstGeom>
          <a:solidFill>
            <a:srgbClr val="009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944368"/>
            <a:ext cx="9052560" cy="502920"/>
          </a:xfrm>
          <a:prstGeom prst="rect">
            <a:avLst/>
          </a:prstGeom>
          <a:noFill/>
        </p:spPr>
        <p:txBody>
          <a:bodyPr wrap="square">
            <a:spAutoFit/>
          </a:bodyPr>
          <a:lstStyle/>
          <a:p>
            <a:pPr algn="ctr"/>
            <a:r>
              <a:rPr sz="2000" b="0" i="1">
                <a:solidFill>
                  <a:srgbClr val="1A2330"/>
                </a:solidFill>
              </a:rPr>
              <a:t>Questions Welcome</a:t>
            </a:r>
            <a:endParaRPr sz="2000" b="0" i="1">
              <a:solidFill>
                <a:srgbClr val="1A2330"/>
              </a:solidFill>
            </a:endParaRPr>
          </a:p>
        </p:txBody>
      </p:sp>
      <p:sp>
        <p:nvSpPr>
          <p:cNvPr id="8" name="TextBox 7"/>
          <p:cNvSpPr txBox="1"/>
          <p:nvPr/>
        </p:nvSpPr>
        <p:spPr>
          <a:xfrm>
            <a:off x="1645920" y="3566160"/>
            <a:ext cx="9052560" cy="384048"/>
          </a:xfrm>
          <a:prstGeom prst="rect">
            <a:avLst/>
          </a:prstGeom>
          <a:noFill/>
        </p:spPr>
        <p:txBody>
          <a:bodyPr wrap="square">
            <a:spAutoFit/>
          </a:bodyPr>
          <a:lstStyle/>
          <a:p>
            <a:pPr algn="ctr"/>
            <a:r>
              <a:rPr sz="1300" b="0" i="0">
                <a:solidFill>
                  <a:srgbClr val="6B7685"/>
                </a:solidFill>
              </a:rPr>
              <a:t>Kamiru John Mwangi  |  CIT-221-108/2022</a:t>
            </a:r>
            <a:endParaRPr sz="1300" b="0" i="0">
              <a:solidFill>
                <a:srgbClr val="6B7685"/>
              </a:solidFill>
            </a:endParaRPr>
          </a:p>
        </p:txBody>
      </p:sp>
      <p:sp>
        <p:nvSpPr>
          <p:cNvPr id="9" name="TextBox 8"/>
          <p:cNvSpPr txBox="1"/>
          <p:nvPr/>
        </p:nvSpPr>
        <p:spPr>
          <a:xfrm>
            <a:off x="1645920" y="3977639"/>
            <a:ext cx="9052560" cy="347472"/>
          </a:xfrm>
          <a:prstGeom prst="rect">
            <a:avLst/>
          </a:prstGeom>
          <a:noFill/>
        </p:spPr>
        <p:txBody>
          <a:bodyPr wrap="square">
            <a:spAutoFit/>
          </a:bodyPr>
          <a:lstStyle/>
          <a:p>
            <a:pPr algn="ctr"/>
            <a:r>
              <a:rPr sz="1100" b="0" i="0">
                <a:solidFill>
                  <a:srgbClr val="6B7685"/>
                </a:solidFill>
              </a:rPr>
              <a:t>Supervisor: Dr. Nicodemus Aketch Ishmael</a:t>
            </a:r>
            <a:endParaRPr sz="1100" b="0" i="0">
              <a:solidFill>
                <a:srgbClr val="6B7685"/>
              </a:solidFill>
            </a:endParaRPr>
          </a:p>
        </p:txBody>
      </p:sp>
      <p:sp>
        <p:nvSpPr>
          <p:cNvPr id="10" name="TextBox 9"/>
          <p:cNvSpPr txBox="1"/>
          <p:nvPr/>
        </p:nvSpPr>
        <p:spPr>
          <a:xfrm>
            <a:off x="1645920" y="4343400"/>
            <a:ext cx="9052560" cy="347472"/>
          </a:xfrm>
          <a:prstGeom prst="rect">
            <a:avLst/>
          </a:prstGeom>
          <a:noFill/>
        </p:spPr>
        <p:txBody>
          <a:bodyPr wrap="square">
            <a:spAutoFit/>
          </a:bodyPr>
          <a:lstStyle/>
          <a:p>
            <a:pPr algn="ctr"/>
            <a:r>
              <a:rPr sz="1100" b="0" i="0">
                <a:solidFill>
                  <a:srgbClr val="6B7685"/>
                </a:solidFill>
              </a:rPr>
              <a:t>Multimedia University of Kenya  |  April 2026</a:t>
            </a:r>
            <a:endParaRPr sz="1100" b="0" i="0">
              <a:solidFill>
                <a:srgbClr val="6B7685"/>
              </a:solidFill>
            </a:endParaRPr>
          </a:p>
        </p:txBody>
      </p:sp>
      <p:sp>
        <p:nvSpPr>
          <p:cNvPr id="11" name="Rectangle 10"/>
          <p:cNvSpPr/>
          <p:nvPr/>
        </p:nvSpPr>
        <p:spPr>
          <a:xfrm>
            <a:off x="0" y="6510528"/>
            <a:ext cx="12188952" cy="347472"/>
          </a:xfrm>
          <a:prstGeom prst="rect">
            <a:avLst/>
          </a:prstGeom>
          <a:solidFill>
            <a:srgbClr val="00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528816"/>
            <a:ext cx="11887200" cy="274320"/>
          </a:xfrm>
          <a:prstGeom prst="rect">
            <a:avLst/>
          </a:prstGeom>
          <a:noFill/>
        </p:spPr>
        <p:txBody>
          <a:bodyPr wrap="square">
            <a:spAutoFit/>
          </a:bodyPr>
          <a:lstStyle/>
          <a:p>
            <a:pPr algn="ctr"/>
            <a:r>
              <a:rPr sz="850" b="0" i="0">
                <a:solidFill>
                  <a:srgbClr val="FFFFFF"/>
                </a:solidFill>
              </a:rPr>
              <a:t>April 2026  |  Multimedia University of Kenya  |  Department of Information Technology</a:t>
            </a:r>
            <a:endParaRPr sz="850" b="0" i="0">
              <a:solidFill>
                <a:srgbClr val="FFFFF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22452</Words>
  <Application>WPS Presentation</Application>
  <PresentationFormat>On-screen Show (4:3)</PresentationFormat>
  <Paragraphs>729</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Arial</vt:lpstr>
      <vt:lpstr>DejaVu Sans</vt:lpstr>
      <vt:lpstr>Calibri</vt:lpstr>
      <vt:lpstr>Microsoft YaHei</vt:lpstr>
      <vt:lpstr>Droid Sans Fallback</vt:lpstr>
      <vt:lpstr>Arial Unicode MS</vt:lpstr>
      <vt:lpstr>Noto Sans Symbols2</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mentor</cp:lastModifiedBy>
  <cp:revision>2</cp:revision>
  <dcterms:created xsi:type="dcterms:W3CDTF">2026-07-20T16:49:12Z</dcterms:created>
  <dcterms:modified xsi:type="dcterms:W3CDTF">2026-07-20T16:49:12Z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